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820"/>
          </a:solidFill>
          <a:ln/>
        </p:spPr>
      </p:sp>
      <p:sp>
        <p:nvSpPr>
          <p:cNvPr id="3" name="Shape 1"/>
          <p:cNvSpPr/>
          <p:nvPr/>
        </p:nvSpPr>
        <p:spPr>
          <a:xfrm>
            <a:off x="713232" y="2066544"/>
            <a:ext cx="1828800" cy="36576"/>
          </a:xfrm>
          <a:prstGeom prst="rect">
            <a:avLst/>
          </a:prstGeom>
          <a:solidFill>
            <a:srgbClr val="EBA98C"/>
          </a:solidFill>
          <a:ln/>
        </p:spPr>
      </p:sp>
      <p:sp>
        <p:nvSpPr>
          <p:cNvPr id="4" name="Text 2"/>
          <p:cNvSpPr/>
          <p:nvPr/>
        </p:nvSpPr>
        <p:spPr>
          <a:xfrm>
            <a:off x="713232" y="2286000"/>
            <a:ext cx="8229600" cy="1371600"/>
          </a:xfrm>
          <a:prstGeom prst="rect">
            <a:avLst/>
          </a:prstGeom>
          <a:noFill/>
          <a:ln/>
        </p:spPr>
        <p:txBody>
          <a:bodyPr wrap="square" rtlCol="0" anchor="ctr"/>
          <a:lstStyle/>
          <a:p>
            <a:pPr indent="0" marL="0">
              <a:buNone/>
            </a:pPr>
            <a:r>
              <a:rPr lang="en-US" sz="8800" b="1" spc="800" kern="0" dirty="0">
                <a:solidFill>
                  <a:srgbClr val="F3EDFB"/>
                </a:solidFill>
                <a:latin typeface="Trebuchet MS" pitchFamily="34" charset="0"/>
                <a:ea typeface="Trebuchet MS" pitchFamily="34" charset="-122"/>
                <a:cs typeface="Trebuchet MS" pitchFamily="34" charset="-120"/>
              </a:rPr>
              <a:t>AUREN</a:t>
            </a:r>
            <a:endParaRPr lang="en-US" sz="8800" dirty="0"/>
          </a:p>
        </p:txBody>
      </p:sp>
      <p:sp>
        <p:nvSpPr>
          <p:cNvPr id="5" name="Text 3"/>
          <p:cNvSpPr/>
          <p:nvPr/>
        </p:nvSpPr>
        <p:spPr>
          <a:xfrm>
            <a:off x="713232" y="3675888"/>
            <a:ext cx="8229600" cy="365760"/>
          </a:xfrm>
          <a:prstGeom prst="rect">
            <a:avLst/>
          </a:prstGeom>
          <a:noFill/>
          <a:ln/>
        </p:spPr>
        <p:txBody>
          <a:bodyPr wrap="square" rtlCol="0" anchor="ctr"/>
          <a:lstStyle/>
          <a:p>
            <a:pPr indent="0" marL="0">
              <a:buNone/>
            </a:pPr>
            <a:r>
              <a:rPr lang="en-US" sz="1400" b="1" spc="600" kern="0" dirty="0">
                <a:solidFill>
                  <a:srgbClr val="EBA98C"/>
                </a:solidFill>
                <a:latin typeface="Trebuchet MS" pitchFamily="34" charset="0"/>
                <a:ea typeface="Trebuchet MS" pitchFamily="34" charset="-122"/>
                <a:cs typeface="Trebuchet MS" pitchFamily="34" charset="-120"/>
              </a:rPr>
              <a:t>A HOLOME SOLUTION</a:t>
            </a:r>
            <a:endParaRPr lang="en-US" sz="1400" dirty="0"/>
          </a:p>
        </p:txBody>
      </p:sp>
      <p:sp>
        <p:nvSpPr>
          <p:cNvPr id="6" name="Text 4"/>
          <p:cNvSpPr/>
          <p:nvPr/>
        </p:nvSpPr>
        <p:spPr>
          <a:xfrm>
            <a:off x="713232" y="4224528"/>
            <a:ext cx="8778240" cy="457200"/>
          </a:xfrm>
          <a:prstGeom prst="rect">
            <a:avLst/>
          </a:prstGeom>
          <a:noFill/>
          <a:ln/>
        </p:spPr>
        <p:txBody>
          <a:bodyPr wrap="square" rtlCol="0" anchor="ctr"/>
          <a:lstStyle/>
          <a:p>
            <a:pPr indent="0" marL="0">
              <a:buNone/>
            </a:pPr>
            <a:r>
              <a:rPr lang="en-US" sz="1900" i="1" dirty="0">
                <a:solidFill>
                  <a:srgbClr val="C7B3F0"/>
                </a:solidFill>
                <a:latin typeface="Georgia" pitchFamily="34" charset="0"/>
                <a:ea typeface="Georgia" pitchFamily="34" charset="-122"/>
                <a:cs typeface="Georgia" pitchFamily="34" charset="-120"/>
              </a:rPr>
              <a:t>Investor readiness, proven under pressure.</a:t>
            </a:r>
            <a:endParaRPr lang="en-US" sz="1900" dirty="0"/>
          </a:p>
        </p:txBody>
      </p:sp>
      <p:sp>
        <p:nvSpPr>
          <p:cNvPr id="7" name="Text 5"/>
          <p:cNvSpPr/>
          <p:nvPr/>
        </p:nvSpPr>
        <p:spPr>
          <a:xfrm>
            <a:off x="713232" y="5806440"/>
            <a:ext cx="9144000" cy="320040"/>
          </a:xfrm>
          <a:prstGeom prst="rect">
            <a:avLst/>
          </a:prstGeom>
          <a:noFill/>
          <a:ln/>
        </p:spPr>
        <p:txBody>
          <a:bodyPr wrap="square" rtlCol="0" anchor="ctr"/>
          <a:lstStyle/>
          <a:p>
            <a:pPr indent="0" marL="0">
              <a:buNone/>
            </a:pPr>
            <a:r>
              <a:rPr lang="en-US" sz="1200" dirty="0">
                <a:solidFill>
                  <a:srgbClr val="A394C8"/>
                </a:solidFill>
                <a:latin typeface="Trebuchet MS" pitchFamily="34" charset="0"/>
                <a:ea typeface="Trebuchet MS" pitchFamily="34" charset="-122"/>
                <a:cs typeface="Trebuchet MS" pitchFamily="34" charset="-120"/>
              </a:rPr>
              <a:t>Presented by BYOND Asia   ·   IOSCO TechSprint 2026   ·   Madrid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33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EBA98C"/>
          </a:solidFill>
          <a:ln/>
        </p:spPr>
      </p:sp>
      <p:sp>
        <p:nvSpPr>
          <p:cNvPr id="3" name="Text 1"/>
          <p:cNvSpPr/>
          <p:nvPr/>
        </p:nvSpPr>
        <p:spPr>
          <a:xfrm>
            <a:off x="1005840" y="2286000"/>
            <a:ext cx="9144000" cy="320040"/>
          </a:xfrm>
          <a:prstGeom prst="rect">
            <a:avLst/>
          </a:prstGeom>
          <a:noFill/>
          <a:ln/>
        </p:spPr>
        <p:txBody>
          <a:bodyPr wrap="square" rtlCol="0" anchor="ctr"/>
          <a:lstStyle/>
          <a:p>
            <a:pPr indent="0" marL="0">
              <a:buNone/>
            </a:pPr>
            <a:r>
              <a:rPr lang="en-US" sz="1200" b="1" spc="400" kern="0" dirty="0">
                <a:solidFill>
                  <a:srgbClr val="EBA98C"/>
                </a:solidFill>
                <a:latin typeface="Trebuchet MS" pitchFamily="34" charset="0"/>
                <a:ea typeface="Trebuchet MS" pitchFamily="34" charset="-122"/>
                <a:cs typeface="Trebuchet MS" pitchFamily="34" charset="-120"/>
              </a:rPr>
              <a:t>SECTION ONE</a:t>
            </a:r>
            <a:endParaRPr lang="en-US" sz="1200" dirty="0"/>
          </a:p>
        </p:txBody>
      </p:sp>
      <p:sp>
        <p:nvSpPr>
          <p:cNvPr id="4" name="Text 2"/>
          <p:cNvSpPr/>
          <p:nvPr/>
        </p:nvSpPr>
        <p:spPr>
          <a:xfrm>
            <a:off x="1005840" y="2651760"/>
            <a:ext cx="9692640" cy="1005840"/>
          </a:xfrm>
          <a:prstGeom prst="rect">
            <a:avLst/>
          </a:prstGeom>
          <a:noFill/>
          <a:ln/>
        </p:spPr>
        <p:txBody>
          <a:bodyPr wrap="square" rtlCol="0" anchor="ctr"/>
          <a:lstStyle/>
          <a:p>
            <a:pPr indent="0" marL="0">
              <a:buNone/>
            </a:pPr>
            <a:r>
              <a:rPr lang="en-US" sz="4000" b="1" dirty="0">
                <a:solidFill>
                  <a:srgbClr val="F3EDFB"/>
                </a:solidFill>
                <a:latin typeface="Trebuchet MS" pitchFamily="34" charset="0"/>
                <a:ea typeface="Trebuchet MS" pitchFamily="34" charset="-122"/>
                <a:cs typeface="Trebuchet MS" pitchFamily="34" charset="-120"/>
              </a:rPr>
              <a:t>Introduction</a:t>
            </a:r>
            <a:endParaRPr lang="en-US" sz="4000" dirty="0"/>
          </a:p>
        </p:txBody>
      </p:sp>
      <p:sp>
        <p:nvSpPr>
          <p:cNvPr id="5" name="Text 3"/>
          <p:cNvSpPr/>
          <p:nvPr/>
        </p:nvSpPr>
        <p:spPr>
          <a:xfrm>
            <a:off x="1005840" y="3703320"/>
            <a:ext cx="8778240" cy="822960"/>
          </a:xfrm>
          <a:prstGeom prst="rect">
            <a:avLst/>
          </a:prstGeom>
          <a:noFill/>
          <a:ln/>
        </p:spPr>
        <p:txBody>
          <a:bodyPr wrap="square" rtlCol="0" anchor="ctr"/>
          <a:lstStyle/>
          <a:p>
            <a:pPr indent="0" marL="0">
              <a:lnSpc>
                <a:spcPts val="2200"/>
              </a:lnSpc>
              <a:buNone/>
            </a:pPr>
            <a:r>
              <a:rPr lang="en-US" sz="1500" dirty="0">
                <a:solidFill>
                  <a:srgbClr val="A394C8"/>
                </a:solidFill>
                <a:latin typeface="Trebuchet MS" pitchFamily="34" charset="0"/>
                <a:ea typeface="Trebuchet MS" pitchFamily="34" charset="-122"/>
                <a:cs typeface="Trebuchet MS" pitchFamily="34" charset="-120"/>
              </a:rPr>
              <a:t>Who is building this, and why the architecture already existed before the problem was picked.</a:t>
            </a:r>
            <a:endParaRPr lang="en-US" sz="1500" dirty="0"/>
          </a:p>
        </p:txBody>
      </p:sp>
      <p:sp>
        <p:nvSpPr>
          <p:cNvPr id="6" name="Text 4"/>
          <p:cNvSpPr/>
          <p:nvPr/>
        </p:nvSpPr>
        <p:spPr>
          <a:xfrm>
            <a:off x="11094415" y="6199632"/>
            <a:ext cx="548640" cy="274320"/>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WHO WE ARE</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An intelligence platform for physical and digital spaces.</a:t>
            </a:r>
            <a:endParaRPr lang="en-US" sz="3400" dirty="0"/>
          </a:p>
        </p:txBody>
      </p:sp>
      <p:sp>
        <p:nvSpPr>
          <p:cNvPr id="7" name="Shape 5"/>
          <p:cNvSpPr/>
          <p:nvPr/>
        </p:nvSpPr>
        <p:spPr>
          <a:xfrm>
            <a:off x="713232" y="1965960"/>
            <a:ext cx="3314090" cy="2286000"/>
          </a:xfrm>
          <a:prstGeom prst="roundRect">
            <a:avLst>
              <a:gd name="adj" fmla="val 2400"/>
            </a:avLst>
          </a:prstGeom>
          <a:solidFill>
            <a:srgbClr val="1A1338"/>
          </a:solidFill>
          <a:ln w="12700">
            <a:solidFill>
              <a:srgbClr val="332758"/>
            </a:solidFill>
            <a:prstDash val="solid"/>
          </a:ln>
        </p:spPr>
      </p:sp>
      <p:sp>
        <p:nvSpPr>
          <p:cNvPr id="8" name="Shape 6"/>
          <p:cNvSpPr/>
          <p:nvPr/>
        </p:nvSpPr>
        <p:spPr>
          <a:xfrm>
            <a:off x="713232" y="1965960"/>
            <a:ext cx="41148" cy="2286000"/>
          </a:xfrm>
          <a:prstGeom prst="rect">
            <a:avLst/>
          </a:prstGeom>
          <a:solidFill>
            <a:srgbClr val="EBA98C"/>
          </a:solidFill>
          <a:ln/>
        </p:spPr>
      </p:sp>
      <p:sp>
        <p:nvSpPr>
          <p:cNvPr id="9" name="Text 7"/>
          <p:cNvSpPr/>
          <p:nvPr/>
        </p:nvSpPr>
        <p:spPr>
          <a:xfrm>
            <a:off x="1024128" y="2194560"/>
            <a:ext cx="2765450" cy="365760"/>
          </a:xfrm>
          <a:prstGeom prst="rect">
            <a:avLst/>
          </a:prstGeom>
          <a:noFill/>
          <a:ln/>
        </p:spPr>
        <p:txBody>
          <a:bodyPr wrap="square" rtlCol="0" anchor="ctr"/>
          <a:lstStyle/>
          <a:p>
            <a:pPr indent="0" marL="0">
              <a:buNone/>
            </a:pPr>
            <a:r>
              <a:rPr lang="en-US" sz="1800" b="1" dirty="0">
                <a:solidFill>
                  <a:srgbClr val="F3EDFB"/>
                </a:solidFill>
                <a:latin typeface="Trebuchet MS" pitchFamily="34" charset="0"/>
                <a:ea typeface="Trebuchet MS" pitchFamily="34" charset="-122"/>
                <a:cs typeface="Trebuchet MS" pitchFamily="34" charset="-120"/>
              </a:rPr>
              <a:t>BYOND Asia</a:t>
            </a:r>
            <a:endParaRPr lang="en-US" sz="1800" dirty="0"/>
          </a:p>
        </p:txBody>
      </p:sp>
      <p:sp>
        <p:nvSpPr>
          <p:cNvPr id="10" name="Text 8"/>
          <p:cNvSpPr/>
          <p:nvPr/>
        </p:nvSpPr>
        <p:spPr>
          <a:xfrm>
            <a:off x="1024128" y="2651760"/>
            <a:ext cx="2765450" cy="1463040"/>
          </a:xfrm>
          <a:prstGeom prst="rect">
            <a:avLst/>
          </a:prstGeom>
          <a:noFill/>
          <a:ln/>
        </p:spPr>
        <p:txBody>
          <a:bodyPr wrap="square" rtlCol="0" anchor="t"/>
          <a:lstStyle/>
          <a:p>
            <a:pPr indent="0" marL="0">
              <a:lnSpc>
                <a:spcPts val="1800"/>
              </a:lnSpc>
              <a:buNone/>
            </a:pPr>
            <a:r>
              <a:rPr lang="en-US" sz="1200" dirty="0">
                <a:solidFill>
                  <a:srgbClr val="A394C8"/>
                </a:solidFill>
                <a:latin typeface="Trebuchet MS" pitchFamily="34" charset="0"/>
                <a:ea typeface="Trebuchet MS" pitchFamily="34" charset="-122"/>
                <a:cs typeface="Trebuchet MS" pitchFamily="34" charset="-120"/>
              </a:rPr>
              <a:t>Builds intelligence for physical spaces. Government, transport, retail and healthcare deployments across Malaysia and the GCC.</a:t>
            </a:r>
            <a:endParaRPr lang="en-US" sz="1200" dirty="0"/>
          </a:p>
        </p:txBody>
      </p:sp>
      <p:sp>
        <p:nvSpPr>
          <p:cNvPr id="11" name="Shape 9"/>
          <p:cNvSpPr/>
          <p:nvPr/>
        </p:nvSpPr>
        <p:spPr>
          <a:xfrm>
            <a:off x="4301642" y="1965960"/>
            <a:ext cx="3314090" cy="2286000"/>
          </a:xfrm>
          <a:prstGeom prst="roundRect">
            <a:avLst>
              <a:gd name="adj" fmla="val 2400"/>
            </a:avLst>
          </a:prstGeom>
          <a:solidFill>
            <a:srgbClr val="1A1338"/>
          </a:solidFill>
          <a:ln w="12700">
            <a:solidFill>
              <a:srgbClr val="332758"/>
            </a:solidFill>
            <a:prstDash val="solid"/>
          </a:ln>
        </p:spPr>
      </p:sp>
      <p:sp>
        <p:nvSpPr>
          <p:cNvPr id="12" name="Shape 10"/>
          <p:cNvSpPr/>
          <p:nvPr/>
        </p:nvSpPr>
        <p:spPr>
          <a:xfrm>
            <a:off x="4301642" y="1965960"/>
            <a:ext cx="41148" cy="2286000"/>
          </a:xfrm>
          <a:prstGeom prst="rect">
            <a:avLst/>
          </a:prstGeom>
          <a:solidFill>
            <a:srgbClr val="C7B3F0"/>
          </a:solidFill>
          <a:ln/>
        </p:spPr>
      </p:sp>
      <p:sp>
        <p:nvSpPr>
          <p:cNvPr id="13" name="Text 11"/>
          <p:cNvSpPr/>
          <p:nvPr/>
        </p:nvSpPr>
        <p:spPr>
          <a:xfrm>
            <a:off x="4612538" y="2194560"/>
            <a:ext cx="2765450" cy="365760"/>
          </a:xfrm>
          <a:prstGeom prst="rect">
            <a:avLst/>
          </a:prstGeom>
          <a:noFill/>
          <a:ln/>
        </p:spPr>
        <p:txBody>
          <a:bodyPr wrap="square" rtlCol="0" anchor="ctr"/>
          <a:lstStyle/>
          <a:p>
            <a:pPr indent="0" marL="0">
              <a:buNone/>
            </a:pPr>
            <a:r>
              <a:rPr lang="en-US" sz="1800" b="1" dirty="0">
                <a:solidFill>
                  <a:srgbClr val="F3EDFB"/>
                </a:solidFill>
                <a:latin typeface="Trebuchet MS" pitchFamily="34" charset="0"/>
                <a:ea typeface="Trebuchet MS" pitchFamily="34" charset="-122"/>
                <a:cs typeface="Trebuchet MS" pitchFamily="34" charset="-120"/>
              </a:rPr>
              <a:t>HoloMe</a:t>
            </a:r>
            <a:endParaRPr lang="en-US" sz="1800" dirty="0"/>
          </a:p>
        </p:txBody>
      </p:sp>
      <p:sp>
        <p:nvSpPr>
          <p:cNvPr id="14" name="Text 12"/>
          <p:cNvSpPr/>
          <p:nvPr/>
        </p:nvSpPr>
        <p:spPr>
          <a:xfrm>
            <a:off x="4612538" y="2651760"/>
            <a:ext cx="2765450" cy="1463040"/>
          </a:xfrm>
          <a:prstGeom prst="rect">
            <a:avLst/>
          </a:prstGeom>
          <a:noFill/>
          <a:ln/>
        </p:spPr>
        <p:txBody>
          <a:bodyPr wrap="square" rtlCol="0" anchor="t"/>
          <a:lstStyle/>
          <a:p>
            <a:pPr indent="0" marL="0">
              <a:lnSpc>
                <a:spcPts val="1800"/>
              </a:lnSpc>
              <a:buNone/>
            </a:pPr>
            <a:r>
              <a:rPr lang="en-US" sz="1200" dirty="0">
                <a:solidFill>
                  <a:srgbClr val="A394C8"/>
                </a:solidFill>
                <a:latin typeface="Trebuchet MS" pitchFamily="34" charset="0"/>
                <a:ea typeface="Trebuchet MS" pitchFamily="34" charset="-122"/>
                <a:cs typeface="Trebuchet MS" pitchFamily="34" charset="-120"/>
              </a:rPr>
              <a:t>The digital human interface layer — face, voice, timing, gaze and expression. Avatar realism with Klleon, our strategic partner in Korea.</a:t>
            </a:r>
            <a:endParaRPr lang="en-US" sz="1200" dirty="0"/>
          </a:p>
        </p:txBody>
      </p:sp>
      <p:sp>
        <p:nvSpPr>
          <p:cNvPr id="15" name="Shape 13"/>
          <p:cNvSpPr/>
          <p:nvPr/>
        </p:nvSpPr>
        <p:spPr>
          <a:xfrm>
            <a:off x="7890053" y="1965960"/>
            <a:ext cx="3314090" cy="2286000"/>
          </a:xfrm>
          <a:prstGeom prst="roundRect">
            <a:avLst>
              <a:gd name="adj" fmla="val 2400"/>
            </a:avLst>
          </a:prstGeom>
          <a:solidFill>
            <a:srgbClr val="1A1338"/>
          </a:solidFill>
          <a:ln w="12700">
            <a:solidFill>
              <a:srgbClr val="332758"/>
            </a:solidFill>
            <a:prstDash val="solid"/>
          </a:ln>
        </p:spPr>
      </p:sp>
      <p:sp>
        <p:nvSpPr>
          <p:cNvPr id="16" name="Shape 14"/>
          <p:cNvSpPr/>
          <p:nvPr/>
        </p:nvSpPr>
        <p:spPr>
          <a:xfrm>
            <a:off x="7890053" y="1965960"/>
            <a:ext cx="41148" cy="2286000"/>
          </a:xfrm>
          <a:prstGeom prst="rect">
            <a:avLst/>
          </a:prstGeom>
          <a:solidFill>
            <a:srgbClr val="8FD3BA"/>
          </a:solidFill>
          <a:ln/>
        </p:spPr>
      </p:sp>
      <p:sp>
        <p:nvSpPr>
          <p:cNvPr id="17" name="Text 15"/>
          <p:cNvSpPr/>
          <p:nvPr/>
        </p:nvSpPr>
        <p:spPr>
          <a:xfrm>
            <a:off x="8200949" y="2194560"/>
            <a:ext cx="2765450" cy="365760"/>
          </a:xfrm>
          <a:prstGeom prst="rect">
            <a:avLst/>
          </a:prstGeom>
          <a:noFill/>
          <a:ln/>
        </p:spPr>
        <p:txBody>
          <a:bodyPr wrap="square" rtlCol="0" anchor="ctr"/>
          <a:lstStyle/>
          <a:p>
            <a:pPr indent="0" marL="0">
              <a:buNone/>
            </a:pPr>
            <a:r>
              <a:rPr lang="en-US" sz="1800" b="1" dirty="0">
                <a:solidFill>
                  <a:srgbClr val="F3EDFB"/>
                </a:solidFill>
                <a:latin typeface="Trebuchet MS" pitchFamily="34" charset="0"/>
                <a:ea typeface="Trebuchet MS" pitchFamily="34" charset="-122"/>
                <a:cs typeface="Trebuchet MS" pitchFamily="34" charset="-120"/>
              </a:rPr>
              <a:t>HoloMe Nexus</a:t>
            </a:r>
            <a:endParaRPr lang="en-US" sz="1800" dirty="0"/>
          </a:p>
        </p:txBody>
      </p:sp>
      <p:sp>
        <p:nvSpPr>
          <p:cNvPr id="18" name="Text 16"/>
          <p:cNvSpPr/>
          <p:nvPr/>
        </p:nvSpPr>
        <p:spPr>
          <a:xfrm>
            <a:off x="8200949" y="2651760"/>
            <a:ext cx="2765450" cy="1463040"/>
          </a:xfrm>
          <a:prstGeom prst="rect">
            <a:avLst/>
          </a:prstGeom>
          <a:noFill/>
          <a:ln/>
        </p:spPr>
        <p:txBody>
          <a:bodyPr wrap="square" rtlCol="0" anchor="t"/>
          <a:lstStyle/>
          <a:p>
            <a:pPr indent="0" marL="0">
              <a:lnSpc>
                <a:spcPts val="1800"/>
              </a:lnSpc>
              <a:buNone/>
            </a:pPr>
            <a:r>
              <a:rPr lang="en-US" sz="1200" dirty="0">
                <a:solidFill>
                  <a:srgbClr val="A394C8"/>
                </a:solidFill>
                <a:latin typeface="Trebuchet MS" pitchFamily="34" charset="0"/>
                <a:ea typeface="Trebuchet MS" pitchFamily="34" charset="-122"/>
                <a:cs typeface="Trebuchet MS" pitchFamily="34" charset="-120"/>
              </a:rPr>
              <a:t>The orchestration and intelligence layer. Governed knowledge in, controlled conversation out, evidence recorded.</a:t>
            </a:r>
            <a:endParaRPr lang="en-US" sz="1200" dirty="0"/>
          </a:p>
        </p:txBody>
      </p:sp>
      <p:sp>
        <p:nvSpPr>
          <p:cNvPr id="19" name="Text 17"/>
          <p:cNvSpPr/>
          <p:nvPr/>
        </p:nvSpPr>
        <p:spPr>
          <a:xfrm>
            <a:off x="713232" y="4663440"/>
            <a:ext cx="9904013" cy="822960"/>
          </a:xfrm>
          <a:prstGeom prst="rect">
            <a:avLst/>
          </a:prstGeom>
          <a:noFill/>
          <a:ln/>
        </p:spPr>
        <p:txBody>
          <a:bodyPr wrap="square" rtlCol="0" anchor="ctr"/>
          <a:lstStyle/>
          <a:p>
            <a:pPr indent="0" marL="0">
              <a:lnSpc>
                <a:spcPts val="2200"/>
              </a:lnSpc>
              <a:buNone/>
            </a:pPr>
            <a:r>
              <a:rPr lang="en-US" sz="1400" dirty="0">
                <a:solidFill>
                  <a:srgbClr val="C7B3F0"/>
                </a:solidFill>
                <a:latin typeface="Trebuchet MS" pitchFamily="34" charset="0"/>
                <a:ea typeface="Trebuchet MS" pitchFamily="34" charset="-122"/>
                <a:cs typeface="Trebuchet MS" pitchFamily="34" charset="-120"/>
              </a:rPr>
              <a:t>AUREN is HoloMe Nexus configured for one vertical: investor protection. The platform is not new. What is new is the first vertical where the outcome can be proved rather than asserted.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33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EBA98C"/>
          </a:solidFill>
          <a:ln/>
        </p:spPr>
      </p:sp>
      <p:sp>
        <p:nvSpPr>
          <p:cNvPr id="3" name="Text 1"/>
          <p:cNvSpPr/>
          <p:nvPr/>
        </p:nvSpPr>
        <p:spPr>
          <a:xfrm>
            <a:off x="1005840" y="2286000"/>
            <a:ext cx="9144000" cy="320040"/>
          </a:xfrm>
          <a:prstGeom prst="rect">
            <a:avLst/>
          </a:prstGeom>
          <a:noFill/>
          <a:ln/>
        </p:spPr>
        <p:txBody>
          <a:bodyPr wrap="square" rtlCol="0" anchor="ctr"/>
          <a:lstStyle/>
          <a:p>
            <a:pPr indent="0" marL="0">
              <a:buNone/>
            </a:pPr>
            <a:r>
              <a:rPr lang="en-US" sz="1200" b="1" spc="400" kern="0" dirty="0">
                <a:solidFill>
                  <a:srgbClr val="EBA98C"/>
                </a:solidFill>
                <a:latin typeface="Trebuchet MS" pitchFamily="34" charset="0"/>
                <a:ea typeface="Trebuchet MS" pitchFamily="34" charset="-122"/>
                <a:cs typeface="Trebuchet MS" pitchFamily="34" charset="-120"/>
              </a:rPr>
              <a:t>SECTION TWO</a:t>
            </a:r>
            <a:endParaRPr lang="en-US" sz="1200" dirty="0"/>
          </a:p>
        </p:txBody>
      </p:sp>
      <p:sp>
        <p:nvSpPr>
          <p:cNvPr id="4" name="Text 2"/>
          <p:cNvSpPr/>
          <p:nvPr/>
        </p:nvSpPr>
        <p:spPr>
          <a:xfrm>
            <a:off x="1005840" y="2651760"/>
            <a:ext cx="9692640" cy="1005840"/>
          </a:xfrm>
          <a:prstGeom prst="rect">
            <a:avLst/>
          </a:prstGeom>
          <a:noFill/>
          <a:ln/>
        </p:spPr>
        <p:txBody>
          <a:bodyPr wrap="square" rtlCol="0" anchor="ctr"/>
          <a:lstStyle/>
          <a:p>
            <a:pPr indent="0" marL="0">
              <a:buNone/>
            </a:pPr>
            <a:r>
              <a:rPr lang="en-US" sz="4000" b="1" dirty="0">
                <a:solidFill>
                  <a:srgbClr val="F3EDFB"/>
                </a:solidFill>
                <a:latin typeface="Trebuchet MS" pitchFamily="34" charset="0"/>
                <a:ea typeface="Trebuchet MS" pitchFamily="34" charset="-122"/>
                <a:cs typeface="Trebuchet MS" pitchFamily="34" charset="-120"/>
              </a:rPr>
              <a:t>Solution summary</a:t>
            </a:r>
            <a:endParaRPr lang="en-US" sz="4000" dirty="0"/>
          </a:p>
        </p:txBody>
      </p:sp>
      <p:sp>
        <p:nvSpPr>
          <p:cNvPr id="5" name="Text 3"/>
          <p:cNvSpPr/>
          <p:nvPr/>
        </p:nvSpPr>
        <p:spPr>
          <a:xfrm>
            <a:off x="1005840" y="3703320"/>
            <a:ext cx="8778240" cy="822960"/>
          </a:xfrm>
          <a:prstGeom prst="rect">
            <a:avLst/>
          </a:prstGeom>
          <a:noFill/>
          <a:ln/>
        </p:spPr>
        <p:txBody>
          <a:bodyPr wrap="square" rtlCol="0" anchor="ctr"/>
          <a:lstStyle/>
          <a:p>
            <a:pPr indent="0" marL="0">
              <a:lnSpc>
                <a:spcPts val="2200"/>
              </a:lnSpc>
              <a:buNone/>
            </a:pPr>
            <a:r>
              <a:rPr lang="en-US" sz="1500" dirty="0">
                <a:solidFill>
                  <a:srgbClr val="A394C8"/>
                </a:solidFill>
                <a:latin typeface="Trebuchet MS" pitchFamily="34" charset="0"/>
                <a:ea typeface="Trebuchet MS" pitchFamily="34" charset="-122"/>
                <a:cs typeface="Trebuchet MS" pitchFamily="34" charset="-120"/>
              </a:rPr>
              <a:t>The problem is not that people do not know. It is that knowing does not survive contact with pressure.</a:t>
            </a:r>
            <a:endParaRPr lang="en-US" sz="1500" dirty="0"/>
          </a:p>
        </p:txBody>
      </p:sp>
      <p:sp>
        <p:nvSpPr>
          <p:cNvPr id="6" name="Text 4"/>
          <p:cNvSpPr/>
          <p:nvPr/>
        </p:nvSpPr>
        <p:spPr>
          <a:xfrm>
            <a:off x="11094415" y="6199632"/>
            <a:ext cx="548640" cy="274320"/>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4</a:t>
            </a:r>
            <a:endParaRPr lang="en-US" sz="900" dirty="0"/>
          </a:p>
        </p:txBody>
      </p:sp>
      <p:sp>
        <p:nvSpPr>
          <p:cNvPr id="5" name="Text 3"/>
          <p:cNvSpPr/>
          <p:nvPr/>
        </p:nvSpPr>
        <p:spPr>
          <a:xfrm>
            <a:off x="713232" y="1828800"/>
            <a:ext cx="9904013" cy="2194560"/>
          </a:xfrm>
          <a:prstGeom prst="rect">
            <a:avLst/>
          </a:prstGeom>
          <a:noFill/>
          <a:ln/>
        </p:spPr>
        <p:txBody>
          <a:bodyPr wrap="square" rtlCol="0" anchor="t"/>
          <a:lstStyle/>
          <a:p>
            <a:pPr indent="0" marL="0">
              <a:lnSpc>
                <a:spcPts val="4600"/>
              </a:lnSpc>
              <a:buNone/>
            </a:pPr>
            <a:r>
              <a:rPr lang="en-US" sz="3600" i="1" dirty="0">
                <a:solidFill>
                  <a:srgbClr val="F3EDFB"/>
                </a:solidFill>
                <a:latin typeface="Georgia" pitchFamily="34" charset="0"/>
                <a:ea typeface="Georgia" pitchFamily="34" charset="-122"/>
                <a:cs typeface="Georgia" pitchFamily="34" charset="-120"/>
              </a:rPr>
              <a:t>Everyone knows the rules. Almost nobody follows them when someone is pushing.</a:t>
            </a:r>
            <a:endParaRPr lang="en-US" sz="3600" dirty="0"/>
          </a:p>
        </p:txBody>
      </p:sp>
      <p:sp>
        <p:nvSpPr>
          <p:cNvPr id="6" name="Text 4"/>
          <p:cNvSpPr/>
          <p:nvPr/>
        </p:nvSpPr>
        <p:spPr>
          <a:xfrm>
            <a:off x="713232" y="4206240"/>
            <a:ext cx="8827490" cy="1280160"/>
          </a:xfrm>
          <a:prstGeom prst="rect">
            <a:avLst/>
          </a:prstGeom>
          <a:noFill/>
          <a:ln/>
        </p:spPr>
        <p:txBody>
          <a:bodyPr wrap="square" rtlCol="0" anchor="ctr"/>
          <a:lstStyle/>
          <a:p>
            <a:pPr indent="0" marL="0">
              <a:lnSpc>
                <a:spcPts val="2400"/>
              </a:lnSpc>
              <a:buNone/>
            </a:pPr>
            <a:r>
              <a:rPr lang="en-US" sz="1500" dirty="0">
                <a:solidFill>
                  <a:srgbClr val="A394C8"/>
                </a:solidFill>
                <a:latin typeface="Trebuchet MS" pitchFamily="34" charset="0"/>
                <a:ea typeface="Trebuchet MS" pitchFamily="34" charset="-122"/>
                <a:cs typeface="Trebuchet MS" pitchFamily="34" charset="-120"/>
              </a:rPr>
              <a:t>Thirty years of investor education has been delivered as information. Information was never the binding constraint — people who can recite every warning sign still transfer the money, because the warning signs were learned in a quiet room and the transfer happens on a deadline, from somebody plausible.</a:t>
            </a:r>
            <a:endParaRPr lang="en-US" sz="1500" dirty="0"/>
          </a:p>
        </p:txBody>
      </p:sp>
      <p:sp>
        <p:nvSpPr>
          <p:cNvPr id="7" name="Shape 5"/>
          <p:cNvSpPr/>
          <p:nvPr/>
        </p:nvSpPr>
        <p:spPr>
          <a:xfrm>
            <a:off x="713232" y="1517904"/>
            <a:ext cx="1371600" cy="32004"/>
          </a:xfrm>
          <a:prstGeom prst="rect">
            <a:avLst/>
          </a:prstGeom>
          <a:solidFill>
            <a:srgbClr val="EBA98C"/>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5</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WHAT AUREN IS</a:t>
            </a:r>
            <a:endParaRPr lang="en-US" sz="1100" dirty="0"/>
          </a:p>
        </p:txBody>
      </p:sp>
      <p:sp>
        <p:nvSpPr>
          <p:cNvPr id="6" name="Text 4"/>
          <p:cNvSpPr/>
          <p:nvPr/>
        </p:nvSpPr>
        <p:spPr>
          <a:xfrm>
            <a:off x="713232" y="786384"/>
            <a:ext cx="10765231" cy="1280160"/>
          </a:xfrm>
          <a:prstGeom prst="rect">
            <a:avLst/>
          </a:prstGeom>
          <a:noFill/>
          <a:ln/>
        </p:spPr>
        <p:txBody>
          <a:bodyPr wrap="square" rtlCol="0" anchor="t"/>
          <a:lstStyle/>
          <a:p>
            <a:pPr indent="0" marL="0">
              <a:buNone/>
            </a:pPr>
            <a:r>
              <a:rPr lang="en-US" sz="3000" b="1" dirty="0">
                <a:solidFill>
                  <a:srgbClr val="F3EDFB"/>
                </a:solidFill>
                <a:latin typeface="Trebuchet MS" pitchFamily="34" charset="0"/>
                <a:ea typeface="Trebuchet MS" pitchFamily="34" charset="-122"/>
                <a:cs typeface="Trebuchet MS" pitchFamily="34" charset="-120"/>
              </a:rPr>
              <a:t>A governed behavioural intelligence platform,</a:t>
            </a:r>
            <a:endParaRPr lang="en-US" sz="3000" dirty="0"/>
          </a:p>
          <a:p>
            <a:pPr indent="0" marL="0">
              <a:buNone/>
            </a:pPr>
            <a:r>
              <a:rPr lang="en-US" sz="3000" b="1" dirty="0">
                <a:solidFill>
                  <a:srgbClr val="F3EDFB"/>
                </a:solidFill>
                <a:latin typeface="Trebuchet MS" pitchFamily="34" charset="0"/>
                <a:ea typeface="Trebuchet MS" pitchFamily="34" charset="-122"/>
                <a:cs typeface="Trebuchet MS" pitchFamily="34" charset="-120"/>
              </a:rPr>
              <a:t>delivered through a hyper-realistic digital human.</a:t>
            </a:r>
            <a:endParaRPr lang="en-US" sz="3000" dirty="0"/>
          </a:p>
        </p:txBody>
      </p:sp>
      <p:sp>
        <p:nvSpPr>
          <p:cNvPr id="7" name="Text 5"/>
          <p:cNvSpPr/>
          <p:nvPr/>
        </p:nvSpPr>
        <p:spPr>
          <a:xfrm>
            <a:off x="713232" y="2359152"/>
            <a:ext cx="9258099" cy="822960"/>
          </a:xfrm>
          <a:prstGeom prst="rect">
            <a:avLst/>
          </a:prstGeom>
          <a:noFill/>
          <a:ln/>
        </p:spPr>
        <p:txBody>
          <a:bodyPr wrap="square" rtlCol="0" anchor="ctr"/>
          <a:lstStyle/>
          <a:p>
            <a:pPr indent="0" marL="0">
              <a:lnSpc>
                <a:spcPts val="2600"/>
              </a:lnSpc>
              <a:buNone/>
            </a:pPr>
            <a:r>
              <a:rPr lang="en-US" sz="1600" dirty="0">
                <a:solidFill>
                  <a:srgbClr val="C7B3F0"/>
                </a:solidFill>
                <a:latin typeface="Trebuchet MS" pitchFamily="34" charset="0"/>
                <a:ea typeface="Trebuchet MS" pitchFamily="34" charset="-122"/>
                <a:cs typeface="Trebuchet MS" pitchFamily="34" charset="-120"/>
              </a:rPr>
              <a:t>It does not tell investors what is safe. It places them under controlled pressure, measures what they actually do, coaches the failure, and retests until the protective behaviour is demonstrated.</a:t>
            </a:r>
            <a:endParaRPr lang="en-US" sz="1600" dirty="0"/>
          </a:p>
        </p:txBody>
      </p:sp>
      <p:sp>
        <p:nvSpPr>
          <p:cNvPr id="8" name="Shape 6"/>
          <p:cNvSpPr/>
          <p:nvPr/>
        </p:nvSpPr>
        <p:spPr>
          <a:xfrm>
            <a:off x="713232" y="3429000"/>
            <a:ext cx="1666189" cy="1691640"/>
          </a:xfrm>
          <a:prstGeom prst="roundRect">
            <a:avLst>
              <a:gd name="adj" fmla="val 3293"/>
            </a:avLst>
          </a:prstGeom>
          <a:solidFill>
            <a:srgbClr val="1A1338"/>
          </a:solidFill>
          <a:ln w="12700">
            <a:solidFill>
              <a:srgbClr val="332758"/>
            </a:solidFill>
            <a:prstDash val="solid"/>
          </a:ln>
        </p:spPr>
      </p:sp>
      <p:sp>
        <p:nvSpPr>
          <p:cNvPr id="9" name="Text 7"/>
          <p:cNvSpPr/>
          <p:nvPr/>
        </p:nvSpPr>
        <p:spPr>
          <a:xfrm>
            <a:off x="896112" y="3584448"/>
            <a:ext cx="365760" cy="256032"/>
          </a:xfrm>
          <a:prstGeom prst="rect">
            <a:avLst/>
          </a:prstGeom>
          <a:noFill/>
          <a:ln/>
        </p:spPr>
        <p:txBody>
          <a:bodyPr wrap="square" rtlCol="0" anchor="ctr"/>
          <a:lstStyle/>
          <a:p>
            <a:pPr indent="0" marL="0">
              <a:buNone/>
            </a:pPr>
            <a:r>
              <a:rPr lang="en-US" sz="1000" dirty="0">
                <a:solidFill>
                  <a:srgbClr val="EBA98C"/>
                </a:solidFill>
                <a:latin typeface="Consolas" pitchFamily="34" charset="0"/>
                <a:ea typeface="Consolas" pitchFamily="34" charset="-122"/>
                <a:cs typeface="Consolas" pitchFamily="34" charset="-120"/>
              </a:rPr>
              <a:t>1</a:t>
            </a:r>
            <a:endParaRPr lang="en-US" sz="1000" dirty="0"/>
          </a:p>
        </p:txBody>
      </p:sp>
      <p:sp>
        <p:nvSpPr>
          <p:cNvPr id="10" name="Text 8"/>
          <p:cNvSpPr/>
          <p:nvPr/>
        </p:nvSpPr>
        <p:spPr>
          <a:xfrm>
            <a:off x="896112" y="3840480"/>
            <a:ext cx="1300429"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Understand</a:t>
            </a:r>
            <a:endParaRPr lang="en-US" sz="1300" dirty="0"/>
          </a:p>
        </p:txBody>
      </p:sp>
      <p:sp>
        <p:nvSpPr>
          <p:cNvPr id="11" name="Text 9"/>
          <p:cNvSpPr/>
          <p:nvPr/>
        </p:nvSpPr>
        <p:spPr>
          <a:xfrm>
            <a:off x="896112" y="4151376"/>
            <a:ext cx="1300429" cy="914400"/>
          </a:xfrm>
          <a:prstGeom prst="rect">
            <a:avLst/>
          </a:prstGeom>
          <a:noFill/>
          <a:ln/>
        </p:spPr>
        <p:txBody>
          <a:bodyPr wrap="square" rtlCol="0" anchor="t"/>
          <a:lstStyle/>
          <a:p>
            <a:pPr indent="0" marL="0">
              <a:lnSpc>
                <a:spcPts val="1400"/>
              </a:lnSpc>
              <a:buNone/>
            </a:pPr>
            <a:r>
              <a:rPr lang="en-US" sz="1000" dirty="0">
                <a:solidFill>
                  <a:srgbClr val="A394C8"/>
                </a:solidFill>
                <a:latin typeface="Trebuchet MS" pitchFamily="34" charset="0"/>
                <a:ea typeface="Trebuchet MS" pitchFamily="34" charset="-122"/>
                <a:cs typeface="Trebuchet MS" pitchFamily="34" charset="-120"/>
              </a:rPr>
              <a:t>They talk. Nothing analytical shows.</a:t>
            </a:r>
            <a:endParaRPr lang="en-US" sz="1000" dirty="0"/>
          </a:p>
        </p:txBody>
      </p:sp>
      <p:sp>
        <p:nvSpPr>
          <p:cNvPr id="12" name="Shape 10"/>
          <p:cNvSpPr/>
          <p:nvPr/>
        </p:nvSpPr>
        <p:spPr>
          <a:xfrm>
            <a:off x="2507437" y="3429000"/>
            <a:ext cx="1666189" cy="1691640"/>
          </a:xfrm>
          <a:prstGeom prst="roundRect">
            <a:avLst>
              <a:gd name="adj" fmla="val 3293"/>
            </a:avLst>
          </a:prstGeom>
          <a:solidFill>
            <a:srgbClr val="1A1338"/>
          </a:solidFill>
          <a:ln w="12700">
            <a:solidFill>
              <a:srgbClr val="332758"/>
            </a:solidFill>
            <a:prstDash val="solid"/>
          </a:ln>
        </p:spPr>
      </p:sp>
      <p:sp>
        <p:nvSpPr>
          <p:cNvPr id="13" name="Text 11"/>
          <p:cNvSpPr/>
          <p:nvPr/>
        </p:nvSpPr>
        <p:spPr>
          <a:xfrm>
            <a:off x="2690317" y="3584448"/>
            <a:ext cx="365760" cy="256032"/>
          </a:xfrm>
          <a:prstGeom prst="rect">
            <a:avLst/>
          </a:prstGeom>
          <a:noFill/>
          <a:ln/>
        </p:spPr>
        <p:txBody>
          <a:bodyPr wrap="square" rtlCol="0" anchor="ctr"/>
          <a:lstStyle/>
          <a:p>
            <a:pPr indent="0" marL="0">
              <a:buNone/>
            </a:pPr>
            <a:r>
              <a:rPr lang="en-US" sz="1000" dirty="0">
                <a:solidFill>
                  <a:srgbClr val="EBA98C"/>
                </a:solidFill>
                <a:latin typeface="Consolas" pitchFamily="34" charset="0"/>
                <a:ea typeface="Consolas" pitchFamily="34" charset="-122"/>
                <a:cs typeface="Consolas" pitchFamily="34" charset="-120"/>
              </a:rPr>
              <a:t>2</a:t>
            </a:r>
            <a:endParaRPr lang="en-US" sz="1000" dirty="0"/>
          </a:p>
        </p:txBody>
      </p:sp>
      <p:sp>
        <p:nvSpPr>
          <p:cNvPr id="14" name="Text 12"/>
          <p:cNvSpPr/>
          <p:nvPr/>
        </p:nvSpPr>
        <p:spPr>
          <a:xfrm>
            <a:off x="2690317" y="3840480"/>
            <a:ext cx="1300429"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Diagnose</a:t>
            </a:r>
            <a:endParaRPr lang="en-US" sz="1300" dirty="0"/>
          </a:p>
        </p:txBody>
      </p:sp>
      <p:sp>
        <p:nvSpPr>
          <p:cNvPr id="15" name="Text 13"/>
          <p:cNvSpPr/>
          <p:nvPr/>
        </p:nvSpPr>
        <p:spPr>
          <a:xfrm>
            <a:off x="2690317" y="4151376"/>
            <a:ext cx="1300429" cy="914400"/>
          </a:xfrm>
          <a:prstGeom prst="rect">
            <a:avLst/>
          </a:prstGeom>
          <a:noFill/>
          <a:ln/>
        </p:spPr>
        <p:txBody>
          <a:bodyPr wrap="square" rtlCol="0" anchor="t"/>
          <a:lstStyle/>
          <a:p>
            <a:pPr indent="0" marL="0">
              <a:lnSpc>
                <a:spcPts val="1400"/>
              </a:lnSpc>
              <a:buNone/>
            </a:pPr>
            <a:r>
              <a:rPr lang="en-US" sz="1000" dirty="0">
                <a:solidFill>
                  <a:srgbClr val="A394C8"/>
                </a:solidFill>
                <a:latin typeface="Trebuchet MS" pitchFamily="34" charset="0"/>
                <a:ea typeface="Trebuchet MS" pitchFamily="34" charset="-122"/>
                <a:cs typeface="Trebuchet MS" pitchFamily="34" charset="-120"/>
              </a:rPr>
              <a:t>Four governed questions, four elements.</a:t>
            </a:r>
            <a:endParaRPr lang="en-US" sz="1000" dirty="0"/>
          </a:p>
        </p:txBody>
      </p:sp>
      <p:sp>
        <p:nvSpPr>
          <p:cNvPr id="16" name="Shape 14"/>
          <p:cNvSpPr/>
          <p:nvPr/>
        </p:nvSpPr>
        <p:spPr>
          <a:xfrm>
            <a:off x="4301642" y="3429000"/>
            <a:ext cx="1666189" cy="1691640"/>
          </a:xfrm>
          <a:prstGeom prst="roundRect">
            <a:avLst>
              <a:gd name="adj" fmla="val 3293"/>
            </a:avLst>
          </a:prstGeom>
          <a:solidFill>
            <a:srgbClr val="2E1A2B"/>
          </a:solidFill>
          <a:ln w="12700">
            <a:solidFill>
              <a:srgbClr val="6B4552"/>
            </a:solidFill>
            <a:prstDash val="solid"/>
          </a:ln>
        </p:spPr>
      </p:sp>
      <p:sp>
        <p:nvSpPr>
          <p:cNvPr id="17" name="Text 15"/>
          <p:cNvSpPr/>
          <p:nvPr/>
        </p:nvSpPr>
        <p:spPr>
          <a:xfrm>
            <a:off x="4484522" y="3584448"/>
            <a:ext cx="365760" cy="256032"/>
          </a:xfrm>
          <a:prstGeom prst="rect">
            <a:avLst/>
          </a:prstGeom>
          <a:noFill/>
          <a:ln/>
        </p:spPr>
        <p:txBody>
          <a:bodyPr wrap="square" rtlCol="0" anchor="ctr"/>
          <a:lstStyle/>
          <a:p>
            <a:pPr indent="0" marL="0">
              <a:buNone/>
            </a:pPr>
            <a:r>
              <a:rPr lang="en-US" sz="1000" dirty="0">
                <a:solidFill>
                  <a:srgbClr val="E88DA0"/>
                </a:solidFill>
                <a:latin typeface="Consolas" pitchFamily="34" charset="0"/>
                <a:ea typeface="Consolas" pitchFamily="34" charset="-122"/>
                <a:cs typeface="Consolas" pitchFamily="34" charset="-120"/>
              </a:rPr>
              <a:t>3</a:t>
            </a:r>
            <a:endParaRPr lang="en-US" sz="1000" dirty="0"/>
          </a:p>
        </p:txBody>
      </p:sp>
      <p:sp>
        <p:nvSpPr>
          <p:cNvPr id="18" name="Text 16"/>
          <p:cNvSpPr/>
          <p:nvPr/>
        </p:nvSpPr>
        <p:spPr>
          <a:xfrm>
            <a:off x="4484522" y="3840480"/>
            <a:ext cx="1300429"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Stress</a:t>
            </a:r>
            <a:endParaRPr lang="en-US" sz="1300" dirty="0"/>
          </a:p>
        </p:txBody>
      </p:sp>
      <p:sp>
        <p:nvSpPr>
          <p:cNvPr id="19" name="Text 17"/>
          <p:cNvSpPr/>
          <p:nvPr/>
        </p:nvSpPr>
        <p:spPr>
          <a:xfrm>
            <a:off x="4484522" y="4151376"/>
            <a:ext cx="1300429" cy="914400"/>
          </a:xfrm>
          <a:prstGeom prst="rect">
            <a:avLst/>
          </a:prstGeom>
          <a:noFill/>
          <a:ln/>
        </p:spPr>
        <p:txBody>
          <a:bodyPr wrap="square" rtlCol="0" anchor="t"/>
          <a:lstStyle/>
          <a:p>
            <a:pPr indent="0" marL="0">
              <a:lnSpc>
                <a:spcPts val="1400"/>
              </a:lnSpc>
              <a:buNone/>
            </a:pPr>
            <a:r>
              <a:rPr lang="en-US" sz="1000" dirty="0">
                <a:solidFill>
                  <a:srgbClr val="A394C8"/>
                </a:solidFill>
                <a:latin typeface="Trebuchet MS" pitchFamily="34" charset="0"/>
                <a:ea typeface="Trebuchet MS" pitchFamily="34" charset="-122"/>
                <a:cs typeface="Trebuchet MS" pitchFamily="34" charset="-120"/>
              </a:rPr>
              <a:t>The coach leaves. An approved adversary arrives.</a:t>
            </a:r>
            <a:endParaRPr lang="en-US" sz="1000" dirty="0"/>
          </a:p>
        </p:txBody>
      </p:sp>
      <p:sp>
        <p:nvSpPr>
          <p:cNvPr id="20" name="Shape 18"/>
          <p:cNvSpPr/>
          <p:nvPr/>
        </p:nvSpPr>
        <p:spPr>
          <a:xfrm>
            <a:off x="6095848" y="3429000"/>
            <a:ext cx="1666189" cy="1691640"/>
          </a:xfrm>
          <a:prstGeom prst="roundRect">
            <a:avLst>
              <a:gd name="adj" fmla="val 3293"/>
            </a:avLst>
          </a:prstGeom>
          <a:solidFill>
            <a:srgbClr val="1A1338"/>
          </a:solidFill>
          <a:ln w="12700">
            <a:solidFill>
              <a:srgbClr val="332758"/>
            </a:solidFill>
            <a:prstDash val="solid"/>
          </a:ln>
        </p:spPr>
      </p:sp>
      <p:sp>
        <p:nvSpPr>
          <p:cNvPr id="21" name="Text 19"/>
          <p:cNvSpPr/>
          <p:nvPr/>
        </p:nvSpPr>
        <p:spPr>
          <a:xfrm>
            <a:off x="6278728" y="3584448"/>
            <a:ext cx="365760" cy="256032"/>
          </a:xfrm>
          <a:prstGeom prst="rect">
            <a:avLst/>
          </a:prstGeom>
          <a:noFill/>
          <a:ln/>
        </p:spPr>
        <p:txBody>
          <a:bodyPr wrap="square" rtlCol="0" anchor="ctr"/>
          <a:lstStyle/>
          <a:p>
            <a:pPr indent="0" marL="0">
              <a:buNone/>
            </a:pPr>
            <a:r>
              <a:rPr lang="en-US" sz="1000" dirty="0">
                <a:solidFill>
                  <a:srgbClr val="EBA98C"/>
                </a:solidFill>
                <a:latin typeface="Consolas" pitchFamily="34" charset="0"/>
                <a:ea typeface="Consolas" pitchFamily="34" charset="-122"/>
                <a:cs typeface="Consolas" pitchFamily="34" charset="-120"/>
              </a:rPr>
              <a:t>4</a:t>
            </a:r>
            <a:endParaRPr lang="en-US" sz="1000" dirty="0"/>
          </a:p>
        </p:txBody>
      </p:sp>
      <p:sp>
        <p:nvSpPr>
          <p:cNvPr id="22" name="Text 20"/>
          <p:cNvSpPr/>
          <p:nvPr/>
        </p:nvSpPr>
        <p:spPr>
          <a:xfrm>
            <a:off x="6278728" y="3840480"/>
            <a:ext cx="1300429"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Coach</a:t>
            </a:r>
            <a:endParaRPr lang="en-US" sz="1300" dirty="0"/>
          </a:p>
        </p:txBody>
      </p:sp>
      <p:sp>
        <p:nvSpPr>
          <p:cNvPr id="23" name="Text 21"/>
          <p:cNvSpPr/>
          <p:nvPr/>
        </p:nvSpPr>
        <p:spPr>
          <a:xfrm>
            <a:off x="6278728" y="4151376"/>
            <a:ext cx="1300429" cy="914400"/>
          </a:xfrm>
          <a:prstGeom prst="rect">
            <a:avLst/>
          </a:prstGeom>
          <a:noFill/>
          <a:ln/>
        </p:spPr>
        <p:txBody>
          <a:bodyPr wrap="square" rtlCol="0" anchor="t"/>
          <a:lstStyle/>
          <a:p>
            <a:pPr indent="0" marL="0">
              <a:lnSpc>
                <a:spcPts val="1400"/>
              </a:lnSpc>
              <a:buNone/>
            </a:pPr>
            <a:r>
              <a:rPr lang="en-US" sz="1000" dirty="0">
                <a:solidFill>
                  <a:srgbClr val="A394C8"/>
                </a:solidFill>
                <a:latin typeface="Trebuchet MS" pitchFamily="34" charset="0"/>
                <a:ea typeface="Trebuchet MS" pitchFamily="34" charset="-122"/>
                <a:cs typeface="Trebuchet MS" pitchFamily="34" charset="-120"/>
              </a:rPr>
              <a:t>Their own sentence, then the failure named.</a:t>
            </a:r>
            <a:endParaRPr lang="en-US" sz="1000" dirty="0"/>
          </a:p>
        </p:txBody>
      </p:sp>
      <p:sp>
        <p:nvSpPr>
          <p:cNvPr id="24" name="Shape 22"/>
          <p:cNvSpPr/>
          <p:nvPr/>
        </p:nvSpPr>
        <p:spPr>
          <a:xfrm>
            <a:off x="7890053" y="3429000"/>
            <a:ext cx="1666189" cy="1691640"/>
          </a:xfrm>
          <a:prstGeom prst="roundRect">
            <a:avLst>
              <a:gd name="adj" fmla="val 3293"/>
            </a:avLst>
          </a:prstGeom>
          <a:solidFill>
            <a:srgbClr val="1A1338"/>
          </a:solidFill>
          <a:ln w="12700">
            <a:solidFill>
              <a:srgbClr val="332758"/>
            </a:solidFill>
            <a:prstDash val="solid"/>
          </a:ln>
        </p:spPr>
      </p:sp>
      <p:sp>
        <p:nvSpPr>
          <p:cNvPr id="25" name="Text 23"/>
          <p:cNvSpPr/>
          <p:nvPr/>
        </p:nvSpPr>
        <p:spPr>
          <a:xfrm>
            <a:off x="8072933" y="3584448"/>
            <a:ext cx="365760" cy="256032"/>
          </a:xfrm>
          <a:prstGeom prst="rect">
            <a:avLst/>
          </a:prstGeom>
          <a:noFill/>
          <a:ln/>
        </p:spPr>
        <p:txBody>
          <a:bodyPr wrap="square" rtlCol="0" anchor="ctr"/>
          <a:lstStyle/>
          <a:p>
            <a:pPr indent="0" marL="0">
              <a:buNone/>
            </a:pPr>
            <a:r>
              <a:rPr lang="en-US" sz="1000" dirty="0">
                <a:solidFill>
                  <a:srgbClr val="EBA98C"/>
                </a:solidFill>
                <a:latin typeface="Consolas" pitchFamily="34" charset="0"/>
                <a:ea typeface="Consolas" pitchFamily="34" charset="-122"/>
                <a:cs typeface="Consolas" pitchFamily="34" charset="-120"/>
              </a:rPr>
              <a:t>5</a:t>
            </a:r>
            <a:endParaRPr lang="en-US" sz="1000" dirty="0"/>
          </a:p>
        </p:txBody>
      </p:sp>
      <p:sp>
        <p:nvSpPr>
          <p:cNvPr id="26" name="Text 24"/>
          <p:cNvSpPr/>
          <p:nvPr/>
        </p:nvSpPr>
        <p:spPr>
          <a:xfrm>
            <a:off x="8072933" y="3840480"/>
            <a:ext cx="1300429"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Retest</a:t>
            </a:r>
            <a:endParaRPr lang="en-US" sz="1300" dirty="0"/>
          </a:p>
        </p:txBody>
      </p:sp>
      <p:sp>
        <p:nvSpPr>
          <p:cNvPr id="27" name="Text 25"/>
          <p:cNvSpPr/>
          <p:nvPr/>
        </p:nvSpPr>
        <p:spPr>
          <a:xfrm>
            <a:off x="8072933" y="4151376"/>
            <a:ext cx="1300429" cy="914400"/>
          </a:xfrm>
          <a:prstGeom prst="rect">
            <a:avLst/>
          </a:prstGeom>
          <a:noFill/>
          <a:ln/>
        </p:spPr>
        <p:txBody>
          <a:bodyPr wrap="square" rtlCol="0" anchor="t"/>
          <a:lstStyle/>
          <a:p>
            <a:pPr indent="0" marL="0">
              <a:lnSpc>
                <a:spcPts val="1400"/>
              </a:lnSpc>
              <a:buNone/>
            </a:pPr>
            <a:r>
              <a:rPr lang="en-US" sz="1000" dirty="0">
                <a:solidFill>
                  <a:srgbClr val="A394C8"/>
                </a:solidFill>
                <a:latin typeface="Trebuchet MS" pitchFamily="34" charset="0"/>
                <a:ea typeface="Trebuchet MS" pitchFamily="34" charset="-122"/>
                <a:cs typeface="Trebuchet MS" pitchFamily="34" charset="-120"/>
              </a:rPr>
              <a:t>A different scam, the same question.</a:t>
            </a:r>
            <a:endParaRPr lang="en-US" sz="1000" dirty="0"/>
          </a:p>
        </p:txBody>
      </p:sp>
      <p:sp>
        <p:nvSpPr>
          <p:cNvPr id="28" name="Shape 26"/>
          <p:cNvSpPr/>
          <p:nvPr/>
        </p:nvSpPr>
        <p:spPr>
          <a:xfrm>
            <a:off x="9684258" y="3429000"/>
            <a:ext cx="1666189" cy="1691640"/>
          </a:xfrm>
          <a:prstGeom prst="roundRect">
            <a:avLst>
              <a:gd name="adj" fmla="val 3293"/>
            </a:avLst>
          </a:prstGeom>
          <a:solidFill>
            <a:srgbClr val="1A1338"/>
          </a:solidFill>
          <a:ln w="12700">
            <a:solidFill>
              <a:srgbClr val="332758"/>
            </a:solidFill>
            <a:prstDash val="solid"/>
          </a:ln>
        </p:spPr>
      </p:sp>
      <p:sp>
        <p:nvSpPr>
          <p:cNvPr id="29" name="Text 27"/>
          <p:cNvSpPr/>
          <p:nvPr/>
        </p:nvSpPr>
        <p:spPr>
          <a:xfrm>
            <a:off x="9867138" y="3584448"/>
            <a:ext cx="365760" cy="256032"/>
          </a:xfrm>
          <a:prstGeom prst="rect">
            <a:avLst/>
          </a:prstGeom>
          <a:noFill/>
          <a:ln/>
        </p:spPr>
        <p:txBody>
          <a:bodyPr wrap="square" rtlCol="0" anchor="ctr"/>
          <a:lstStyle/>
          <a:p>
            <a:pPr indent="0" marL="0">
              <a:buNone/>
            </a:pPr>
            <a:r>
              <a:rPr lang="en-US" sz="1000" dirty="0">
                <a:solidFill>
                  <a:srgbClr val="EBA98C"/>
                </a:solidFill>
                <a:latin typeface="Consolas" pitchFamily="34" charset="0"/>
                <a:ea typeface="Consolas" pitchFamily="34" charset="-122"/>
                <a:cs typeface="Consolas" pitchFamily="34" charset="-120"/>
              </a:rPr>
              <a:t>6</a:t>
            </a:r>
            <a:endParaRPr lang="en-US" sz="1000" dirty="0"/>
          </a:p>
        </p:txBody>
      </p:sp>
      <p:sp>
        <p:nvSpPr>
          <p:cNvPr id="30" name="Text 28"/>
          <p:cNvSpPr/>
          <p:nvPr/>
        </p:nvSpPr>
        <p:spPr>
          <a:xfrm>
            <a:off x="9867138" y="3840480"/>
            <a:ext cx="1300429"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Evidence</a:t>
            </a:r>
            <a:endParaRPr lang="en-US" sz="1300" dirty="0"/>
          </a:p>
        </p:txBody>
      </p:sp>
      <p:sp>
        <p:nvSpPr>
          <p:cNvPr id="31" name="Text 29"/>
          <p:cNvSpPr/>
          <p:nvPr/>
        </p:nvSpPr>
        <p:spPr>
          <a:xfrm>
            <a:off x="9867138" y="4151376"/>
            <a:ext cx="1300429" cy="914400"/>
          </a:xfrm>
          <a:prstGeom prst="rect">
            <a:avLst/>
          </a:prstGeom>
          <a:noFill/>
          <a:ln/>
        </p:spPr>
        <p:txBody>
          <a:bodyPr wrap="square" rtlCol="0" anchor="t"/>
          <a:lstStyle/>
          <a:p>
            <a:pPr indent="0" marL="0">
              <a:lnSpc>
                <a:spcPts val="1400"/>
              </a:lnSpc>
              <a:buNone/>
            </a:pPr>
            <a:r>
              <a:rPr lang="en-US" sz="1000" dirty="0">
                <a:solidFill>
                  <a:srgbClr val="A394C8"/>
                </a:solidFill>
                <a:latin typeface="Trebuchet MS" pitchFamily="34" charset="0"/>
                <a:ea typeface="Trebuchet MS" pitchFamily="34" charset="-122"/>
                <a:cs typeface="Trebuchet MS" pitchFamily="34" charset="-120"/>
              </a:rPr>
              <a:t>A record where every line cites what they said.</a:t>
            </a:r>
            <a:endParaRPr lang="en-US" sz="1000" dirty="0"/>
          </a:p>
        </p:txBody>
      </p:sp>
      <p:sp>
        <p:nvSpPr>
          <p:cNvPr id="32" name="Text 30"/>
          <p:cNvSpPr/>
          <p:nvPr/>
        </p:nvSpPr>
        <p:spPr>
          <a:xfrm>
            <a:off x="713232" y="5285232"/>
            <a:ext cx="10765231" cy="320040"/>
          </a:xfrm>
          <a:prstGeom prst="rect">
            <a:avLst/>
          </a:prstGeom>
          <a:noFill/>
          <a:ln/>
        </p:spPr>
        <p:txBody>
          <a:bodyPr wrap="square" rtlCol="0" anchor="ctr"/>
          <a:lstStyle/>
          <a:p>
            <a:pPr indent="0" marL="0">
              <a:buNone/>
            </a:pPr>
            <a:r>
              <a:rPr lang="en-US" sz="1200" dirty="0">
                <a:solidFill>
                  <a:srgbClr val="7A6AA8"/>
                </a:solidFill>
                <a:latin typeface="Trebuchet MS" pitchFamily="34" charset="0"/>
                <a:ea typeface="Trebuchet MS" pitchFamily="34" charset="-122"/>
                <a:cs typeface="Trebuchet MS" pitchFamily="34" charset="-120"/>
              </a:rPr>
              <a:t>Five minutes.  Spoken.  No account, nothing to type.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6</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THREE SOLUTIONS, ONE ENGINE</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The loop is the asset.</a:t>
            </a:r>
            <a:endParaRPr lang="en-US" sz="3400" dirty="0"/>
          </a:p>
        </p:txBody>
      </p:sp>
      <p:sp>
        <p:nvSpPr>
          <p:cNvPr id="7" name="Shape 5"/>
          <p:cNvSpPr/>
          <p:nvPr/>
        </p:nvSpPr>
        <p:spPr>
          <a:xfrm>
            <a:off x="713232" y="1828800"/>
            <a:ext cx="3332378" cy="1965960"/>
          </a:xfrm>
          <a:prstGeom prst="roundRect">
            <a:avLst>
              <a:gd name="adj" fmla="val 2791"/>
            </a:avLst>
          </a:prstGeom>
          <a:solidFill>
            <a:srgbClr val="1A1338"/>
          </a:solidFill>
          <a:ln w="12700">
            <a:solidFill>
              <a:srgbClr val="332758"/>
            </a:solidFill>
            <a:prstDash val="solid"/>
          </a:ln>
        </p:spPr>
      </p:sp>
      <p:sp>
        <p:nvSpPr>
          <p:cNvPr id="8" name="Shape 6"/>
          <p:cNvSpPr/>
          <p:nvPr/>
        </p:nvSpPr>
        <p:spPr>
          <a:xfrm>
            <a:off x="713232" y="1828800"/>
            <a:ext cx="41148" cy="1965960"/>
          </a:xfrm>
          <a:prstGeom prst="rect">
            <a:avLst/>
          </a:prstGeom>
          <a:solidFill>
            <a:srgbClr val="EBA98C"/>
          </a:solidFill>
          <a:ln/>
        </p:spPr>
      </p:sp>
      <p:sp>
        <p:nvSpPr>
          <p:cNvPr id="9" name="Text 7"/>
          <p:cNvSpPr/>
          <p:nvPr/>
        </p:nvSpPr>
        <p:spPr>
          <a:xfrm>
            <a:off x="1005840" y="2029968"/>
            <a:ext cx="2783738" cy="320040"/>
          </a:xfrm>
          <a:prstGeom prst="rect">
            <a:avLst/>
          </a:prstGeom>
          <a:noFill/>
          <a:ln/>
        </p:spPr>
        <p:txBody>
          <a:bodyPr wrap="square" rtlCol="0" anchor="ctr"/>
          <a:lstStyle/>
          <a:p>
            <a:pPr indent="0" marL="0">
              <a:buNone/>
            </a:pPr>
            <a:r>
              <a:rPr lang="en-US" sz="1500" b="1" spc="200" kern="0" dirty="0">
                <a:solidFill>
                  <a:srgbClr val="EBA98C"/>
                </a:solidFill>
                <a:latin typeface="Trebuchet MS" pitchFamily="34" charset="0"/>
                <a:ea typeface="Trebuchet MS" pitchFamily="34" charset="-122"/>
                <a:cs typeface="Trebuchet MS" pitchFamily="34" charset="-120"/>
              </a:rPr>
              <a:t>REHEARSE</a:t>
            </a:r>
            <a:endParaRPr lang="en-US" sz="1500" dirty="0"/>
          </a:p>
        </p:txBody>
      </p:sp>
      <p:sp>
        <p:nvSpPr>
          <p:cNvPr id="10" name="Text 8"/>
          <p:cNvSpPr/>
          <p:nvPr/>
        </p:nvSpPr>
        <p:spPr>
          <a:xfrm>
            <a:off x="1005840" y="2359152"/>
            <a:ext cx="2783738" cy="274320"/>
          </a:xfrm>
          <a:prstGeom prst="rect">
            <a:avLst/>
          </a:prstGeom>
          <a:noFill/>
          <a:ln/>
        </p:spPr>
        <p:txBody>
          <a:bodyPr wrap="square" rtlCol="0" anchor="ctr"/>
          <a:lstStyle/>
          <a:p>
            <a:pPr indent="0" marL="0">
              <a:buNone/>
            </a:pPr>
            <a:r>
              <a:rPr lang="en-US" sz="1050" dirty="0">
                <a:solidFill>
                  <a:srgbClr val="7A6AA8"/>
                </a:solidFill>
                <a:latin typeface="Trebuchet MS" pitchFamily="34" charset="0"/>
                <a:ea typeface="Trebuchet MS" pitchFamily="34" charset="-122"/>
                <a:cs typeface="Trebuchet MS" pitchFamily="34" charset="-120"/>
              </a:rPr>
              <a:t>A retail investor, from a link</a:t>
            </a:r>
            <a:endParaRPr lang="en-US" sz="1050" dirty="0"/>
          </a:p>
        </p:txBody>
      </p:sp>
      <p:sp>
        <p:nvSpPr>
          <p:cNvPr id="11" name="Text 9"/>
          <p:cNvSpPr/>
          <p:nvPr/>
        </p:nvSpPr>
        <p:spPr>
          <a:xfrm>
            <a:off x="1005840" y="2688336"/>
            <a:ext cx="2783738" cy="91440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The five-minute voice loop.</a:t>
            </a:r>
            <a:endParaRPr lang="en-US" sz="1200" dirty="0"/>
          </a:p>
        </p:txBody>
      </p:sp>
      <p:sp>
        <p:nvSpPr>
          <p:cNvPr id="12" name="Shape 10"/>
          <p:cNvSpPr/>
          <p:nvPr/>
        </p:nvSpPr>
        <p:spPr>
          <a:xfrm>
            <a:off x="4301642" y="1828800"/>
            <a:ext cx="3332378" cy="1965960"/>
          </a:xfrm>
          <a:prstGeom prst="roundRect">
            <a:avLst>
              <a:gd name="adj" fmla="val 2791"/>
            </a:avLst>
          </a:prstGeom>
          <a:solidFill>
            <a:srgbClr val="1A1338"/>
          </a:solidFill>
          <a:ln w="12700">
            <a:solidFill>
              <a:srgbClr val="332758"/>
            </a:solidFill>
            <a:prstDash val="solid"/>
          </a:ln>
        </p:spPr>
      </p:sp>
      <p:sp>
        <p:nvSpPr>
          <p:cNvPr id="13" name="Shape 11"/>
          <p:cNvSpPr/>
          <p:nvPr/>
        </p:nvSpPr>
        <p:spPr>
          <a:xfrm>
            <a:off x="4301642" y="1828800"/>
            <a:ext cx="41148" cy="1965960"/>
          </a:xfrm>
          <a:prstGeom prst="rect">
            <a:avLst/>
          </a:prstGeom>
          <a:solidFill>
            <a:srgbClr val="C7B3F0"/>
          </a:solidFill>
          <a:ln/>
        </p:spPr>
      </p:sp>
      <p:sp>
        <p:nvSpPr>
          <p:cNvPr id="14" name="Text 12"/>
          <p:cNvSpPr/>
          <p:nvPr/>
        </p:nvSpPr>
        <p:spPr>
          <a:xfrm>
            <a:off x="4594250" y="2029968"/>
            <a:ext cx="2783738" cy="320040"/>
          </a:xfrm>
          <a:prstGeom prst="rect">
            <a:avLst/>
          </a:prstGeom>
          <a:noFill/>
          <a:ln/>
        </p:spPr>
        <p:txBody>
          <a:bodyPr wrap="square" rtlCol="0" anchor="ctr"/>
          <a:lstStyle/>
          <a:p>
            <a:pPr indent="0" marL="0">
              <a:buNone/>
            </a:pPr>
            <a:r>
              <a:rPr lang="en-US" sz="1500" b="1" spc="200" kern="0" dirty="0">
                <a:solidFill>
                  <a:srgbClr val="C7B3F0"/>
                </a:solidFill>
                <a:latin typeface="Trebuchet MS" pitchFamily="34" charset="0"/>
                <a:ea typeface="Trebuchet MS" pitchFamily="34" charset="-122"/>
                <a:cs typeface="Trebuchet MS" pitchFamily="34" charset="-120"/>
              </a:rPr>
              <a:t>NEXUS</a:t>
            </a:r>
            <a:endParaRPr lang="en-US" sz="1500" dirty="0"/>
          </a:p>
        </p:txBody>
      </p:sp>
      <p:sp>
        <p:nvSpPr>
          <p:cNvPr id="15" name="Text 13"/>
          <p:cNvSpPr/>
          <p:nvPr/>
        </p:nvSpPr>
        <p:spPr>
          <a:xfrm>
            <a:off x="4594250" y="2359152"/>
            <a:ext cx="2783738" cy="274320"/>
          </a:xfrm>
          <a:prstGeom prst="rect">
            <a:avLst/>
          </a:prstGeom>
          <a:noFill/>
          <a:ln/>
        </p:spPr>
        <p:txBody>
          <a:bodyPr wrap="square" rtlCol="0" anchor="ctr"/>
          <a:lstStyle/>
          <a:p>
            <a:pPr indent="0" marL="0">
              <a:buNone/>
            </a:pPr>
            <a:r>
              <a:rPr lang="en-US" sz="1050" dirty="0">
                <a:solidFill>
                  <a:srgbClr val="7A6AA8"/>
                </a:solidFill>
                <a:latin typeface="Trebuchet MS" pitchFamily="34" charset="0"/>
                <a:ea typeface="Trebuchet MS" pitchFamily="34" charset="-122"/>
                <a:cs typeface="Trebuchet MS" pitchFamily="34" charset="-120"/>
              </a:rPr>
              <a:t>An authority's analyst or reviewer</a:t>
            </a:r>
            <a:endParaRPr lang="en-US" sz="1050" dirty="0"/>
          </a:p>
        </p:txBody>
      </p:sp>
      <p:sp>
        <p:nvSpPr>
          <p:cNvPr id="16" name="Text 14"/>
          <p:cNvSpPr/>
          <p:nvPr/>
        </p:nvSpPr>
        <p:spPr>
          <a:xfrm>
            <a:off x="4594250" y="2688336"/>
            <a:ext cx="2783738" cy="91440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Where governed knowledge comes from. Two intakes, one publish gate.</a:t>
            </a:r>
            <a:endParaRPr lang="en-US" sz="1200" dirty="0"/>
          </a:p>
        </p:txBody>
      </p:sp>
      <p:sp>
        <p:nvSpPr>
          <p:cNvPr id="17" name="Shape 15"/>
          <p:cNvSpPr/>
          <p:nvPr/>
        </p:nvSpPr>
        <p:spPr>
          <a:xfrm>
            <a:off x="7890053" y="1828800"/>
            <a:ext cx="3332378" cy="1965960"/>
          </a:xfrm>
          <a:prstGeom prst="roundRect">
            <a:avLst>
              <a:gd name="adj" fmla="val 2791"/>
            </a:avLst>
          </a:prstGeom>
          <a:solidFill>
            <a:srgbClr val="1A1338"/>
          </a:solidFill>
          <a:ln w="12700">
            <a:solidFill>
              <a:srgbClr val="332758"/>
            </a:solidFill>
            <a:prstDash val="solid"/>
          </a:ln>
        </p:spPr>
      </p:sp>
      <p:sp>
        <p:nvSpPr>
          <p:cNvPr id="18" name="Shape 16"/>
          <p:cNvSpPr/>
          <p:nvPr/>
        </p:nvSpPr>
        <p:spPr>
          <a:xfrm>
            <a:off x="7890053" y="1828800"/>
            <a:ext cx="41148" cy="1965960"/>
          </a:xfrm>
          <a:prstGeom prst="rect">
            <a:avLst/>
          </a:prstGeom>
          <a:solidFill>
            <a:srgbClr val="8FD3BA"/>
          </a:solidFill>
          <a:ln/>
        </p:spPr>
      </p:sp>
      <p:sp>
        <p:nvSpPr>
          <p:cNvPr id="19" name="Text 17"/>
          <p:cNvSpPr/>
          <p:nvPr/>
        </p:nvSpPr>
        <p:spPr>
          <a:xfrm>
            <a:off x="8182661" y="2029968"/>
            <a:ext cx="2783738" cy="320040"/>
          </a:xfrm>
          <a:prstGeom prst="rect">
            <a:avLst/>
          </a:prstGeom>
          <a:noFill/>
          <a:ln/>
        </p:spPr>
        <p:txBody>
          <a:bodyPr wrap="square" rtlCol="0" anchor="ctr"/>
          <a:lstStyle/>
          <a:p>
            <a:pPr indent="0" marL="0">
              <a:buNone/>
            </a:pPr>
            <a:r>
              <a:rPr lang="en-US" sz="1500" b="1" spc="200" kern="0" dirty="0">
                <a:solidFill>
                  <a:srgbClr val="8FD3BA"/>
                </a:solidFill>
                <a:latin typeface="Trebuchet MS" pitchFamily="34" charset="0"/>
                <a:ea typeface="Trebuchet MS" pitchFamily="34" charset="-122"/>
                <a:cs typeface="Trebuchet MS" pitchFamily="34" charset="-120"/>
              </a:rPr>
              <a:t>SUPERVISION</a:t>
            </a:r>
            <a:endParaRPr lang="en-US" sz="1500" dirty="0"/>
          </a:p>
        </p:txBody>
      </p:sp>
      <p:sp>
        <p:nvSpPr>
          <p:cNvPr id="20" name="Text 18"/>
          <p:cNvSpPr/>
          <p:nvPr/>
        </p:nvSpPr>
        <p:spPr>
          <a:xfrm>
            <a:off x="8182661" y="2359152"/>
            <a:ext cx="2783738" cy="274320"/>
          </a:xfrm>
          <a:prstGeom prst="rect">
            <a:avLst/>
          </a:prstGeom>
          <a:noFill/>
          <a:ln/>
        </p:spPr>
        <p:txBody>
          <a:bodyPr wrap="square" rtlCol="0" anchor="ctr"/>
          <a:lstStyle/>
          <a:p>
            <a:pPr indent="0" marL="0">
              <a:buNone/>
            </a:pPr>
            <a:r>
              <a:rPr lang="en-US" sz="1050" dirty="0">
                <a:solidFill>
                  <a:srgbClr val="7A6AA8"/>
                </a:solidFill>
                <a:latin typeface="Trebuchet MS" pitchFamily="34" charset="0"/>
                <a:ea typeface="Trebuchet MS" pitchFamily="34" charset="-122"/>
                <a:cs typeface="Trebuchet MS" pitchFamily="34" charset="-120"/>
              </a:rPr>
              <a:t>A regulator, a bank, a ministry</a:t>
            </a:r>
            <a:endParaRPr lang="en-US" sz="1050" dirty="0"/>
          </a:p>
        </p:txBody>
      </p:sp>
      <p:sp>
        <p:nvSpPr>
          <p:cNvPr id="21" name="Text 19"/>
          <p:cNvSpPr/>
          <p:nvPr/>
        </p:nvSpPr>
        <p:spPr>
          <a:xfrm>
            <a:off x="8182661" y="2688336"/>
            <a:ext cx="2783738" cy="91440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Who is ready, who is not, and whether the programme works.</a:t>
            </a:r>
            <a:endParaRPr lang="en-US" sz="1200" dirty="0"/>
          </a:p>
        </p:txBody>
      </p:sp>
      <p:sp>
        <p:nvSpPr>
          <p:cNvPr id="22" name="Shape 20"/>
          <p:cNvSpPr/>
          <p:nvPr/>
        </p:nvSpPr>
        <p:spPr>
          <a:xfrm>
            <a:off x="713232" y="4114800"/>
            <a:ext cx="10765231" cy="1417320"/>
          </a:xfrm>
          <a:prstGeom prst="roundRect">
            <a:avLst>
              <a:gd name="adj" fmla="val 3871"/>
            </a:avLst>
          </a:prstGeom>
          <a:solidFill>
            <a:srgbClr val="241B52"/>
          </a:solidFill>
          <a:ln w="12700">
            <a:solidFill>
              <a:srgbClr val="332758"/>
            </a:solidFill>
            <a:prstDash val="solid"/>
          </a:ln>
        </p:spPr>
      </p:sp>
      <p:sp>
        <p:nvSpPr>
          <p:cNvPr id="23" name="Shape 21"/>
          <p:cNvSpPr/>
          <p:nvPr/>
        </p:nvSpPr>
        <p:spPr>
          <a:xfrm>
            <a:off x="713232" y="4114800"/>
            <a:ext cx="41148" cy="1417320"/>
          </a:xfrm>
          <a:prstGeom prst="rect">
            <a:avLst/>
          </a:prstGeom>
          <a:solidFill>
            <a:srgbClr val="EBA98C"/>
          </a:solidFill>
          <a:ln/>
        </p:spPr>
      </p:sp>
      <p:sp>
        <p:nvSpPr>
          <p:cNvPr id="24" name="Text 22"/>
          <p:cNvSpPr/>
          <p:nvPr/>
        </p:nvSpPr>
        <p:spPr>
          <a:xfrm>
            <a:off x="1078992" y="4297680"/>
            <a:ext cx="10033711" cy="640080"/>
          </a:xfrm>
          <a:prstGeom prst="rect">
            <a:avLst/>
          </a:prstGeom>
          <a:noFill/>
          <a:ln/>
        </p:spPr>
        <p:txBody>
          <a:bodyPr wrap="square" rtlCol="0" anchor="ctr"/>
          <a:lstStyle/>
          <a:p>
            <a:pPr indent="0" marL="0">
              <a:lnSpc>
                <a:spcPts val="2000"/>
              </a:lnSpc>
              <a:buNone/>
            </a:pPr>
            <a:r>
              <a:rPr lang="en-US" sz="1350" dirty="0">
                <a:solidFill>
                  <a:srgbClr val="F3EDFB"/>
                </a:solidFill>
                <a:latin typeface="Trebuchet MS" pitchFamily="34" charset="0"/>
                <a:ea typeface="Trebuchet MS" pitchFamily="34" charset="-122"/>
                <a:cs typeface="Trebuchet MS" pitchFamily="34" charset="-120"/>
              </a:rPr>
              <a:t>Supervision tells the network which tactics are beating people, and which of those cannot yet be rehearsed against. That gap list is the instruction to the intelligence layer. Nexus turns the answer into approved objects. Rehearse puts people through them — which produces the next gap list.</a:t>
            </a:r>
            <a:endParaRPr lang="en-US" sz="1350" dirty="0"/>
          </a:p>
        </p:txBody>
      </p:sp>
      <p:sp>
        <p:nvSpPr>
          <p:cNvPr id="25" name="Text 23"/>
          <p:cNvSpPr/>
          <p:nvPr/>
        </p:nvSpPr>
        <p:spPr>
          <a:xfrm>
            <a:off x="1078992" y="4974336"/>
            <a:ext cx="10033711" cy="457200"/>
          </a:xfrm>
          <a:prstGeom prst="rect">
            <a:avLst/>
          </a:prstGeom>
          <a:noFill/>
          <a:ln/>
        </p:spPr>
        <p:txBody>
          <a:bodyPr wrap="square" rtlCol="0" anchor="ctr"/>
          <a:lstStyle/>
          <a:p>
            <a:pPr indent="0" marL="0">
              <a:lnSpc>
                <a:spcPts val="1800"/>
              </a:lnSpc>
              <a:buNone/>
            </a:pPr>
            <a:r>
              <a:rPr lang="en-US" sz="1200" i="1" dirty="0">
                <a:solidFill>
                  <a:srgbClr val="C7B3F0"/>
                </a:solidFill>
                <a:latin typeface="Trebuchet MS" pitchFamily="34" charset="0"/>
                <a:ea typeface="Trebuchet MS" pitchFamily="34" charset="-122"/>
                <a:cs typeface="Trebuchet MS" pitchFamily="34" charset="-120"/>
              </a:rPr>
              <a:t>A coach with no intelligence feed teaches last year's scam. A console over a corpus nobody refreshes measures a fixed exam. No competitor assembles that loop by licensing a model, because none of its three parts is a model.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33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EBA98C"/>
          </a:solidFill>
          <a:ln/>
        </p:spPr>
      </p:sp>
      <p:sp>
        <p:nvSpPr>
          <p:cNvPr id="3" name="Text 1"/>
          <p:cNvSpPr/>
          <p:nvPr/>
        </p:nvSpPr>
        <p:spPr>
          <a:xfrm>
            <a:off x="1005840" y="2286000"/>
            <a:ext cx="9144000" cy="320040"/>
          </a:xfrm>
          <a:prstGeom prst="rect">
            <a:avLst/>
          </a:prstGeom>
          <a:noFill/>
          <a:ln/>
        </p:spPr>
        <p:txBody>
          <a:bodyPr wrap="square" rtlCol="0" anchor="ctr"/>
          <a:lstStyle/>
          <a:p>
            <a:pPr indent="0" marL="0">
              <a:buNone/>
            </a:pPr>
            <a:r>
              <a:rPr lang="en-US" sz="1200" b="1" spc="400" kern="0" dirty="0">
                <a:solidFill>
                  <a:srgbClr val="EBA98C"/>
                </a:solidFill>
                <a:latin typeface="Trebuchet MS" pitchFamily="34" charset="0"/>
                <a:ea typeface="Trebuchet MS" pitchFamily="34" charset="-122"/>
                <a:cs typeface="Trebuchet MS" pitchFamily="34" charset="-120"/>
              </a:rPr>
              <a:t>SECTION THREE</a:t>
            </a:r>
            <a:endParaRPr lang="en-US" sz="1200" dirty="0"/>
          </a:p>
        </p:txBody>
      </p:sp>
      <p:sp>
        <p:nvSpPr>
          <p:cNvPr id="4" name="Text 2"/>
          <p:cNvSpPr/>
          <p:nvPr/>
        </p:nvSpPr>
        <p:spPr>
          <a:xfrm>
            <a:off x="1005840" y="2651760"/>
            <a:ext cx="9692640" cy="1005840"/>
          </a:xfrm>
          <a:prstGeom prst="rect">
            <a:avLst/>
          </a:prstGeom>
          <a:noFill/>
          <a:ln/>
        </p:spPr>
        <p:txBody>
          <a:bodyPr wrap="square" rtlCol="0" anchor="ctr"/>
          <a:lstStyle/>
          <a:p>
            <a:pPr indent="0" marL="0">
              <a:buNone/>
            </a:pPr>
            <a:r>
              <a:rPr lang="en-US" sz="4000" b="1" dirty="0">
                <a:solidFill>
                  <a:srgbClr val="F3EDFB"/>
                </a:solidFill>
                <a:latin typeface="Trebuchet MS" pitchFamily="34" charset="0"/>
                <a:ea typeface="Trebuchet MS" pitchFamily="34" charset="-122"/>
                <a:cs typeface="Trebuchet MS" pitchFamily="34" charset="-120"/>
              </a:rPr>
              <a:t>Solution detail</a:t>
            </a:r>
            <a:endParaRPr lang="en-US" sz="4000" dirty="0"/>
          </a:p>
        </p:txBody>
      </p:sp>
      <p:sp>
        <p:nvSpPr>
          <p:cNvPr id="5" name="Text 3"/>
          <p:cNvSpPr/>
          <p:nvPr/>
        </p:nvSpPr>
        <p:spPr>
          <a:xfrm>
            <a:off x="1005840" y="3703320"/>
            <a:ext cx="8778240" cy="822960"/>
          </a:xfrm>
          <a:prstGeom prst="rect">
            <a:avLst/>
          </a:prstGeom>
          <a:noFill/>
          <a:ln/>
        </p:spPr>
        <p:txBody>
          <a:bodyPr wrap="square" rtlCol="0" anchor="ctr"/>
          <a:lstStyle/>
          <a:p>
            <a:pPr indent="0" marL="0">
              <a:lnSpc>
                <a:spcPts val="2200"/>
              </a:lnSpc>
              <a:buNone/>
            </a:pPr>
            <a:r>
              <a:rPr lang="en-US" sz="1500" dirty="0">
                <a:solidFill>
                  <a:srgbClr val="A394C8"/>
                </a:solidFill>
                <a:latin typeface="Trebuchet MS" pitchFamily="34" charset="0"/>
                <a:ea typeface="Trebuchet MS" pitchFamily="34" charset="-122"/>
                <a:cs typeface="Trebuchet MS" pitchFamily="34" charset="-120"/>
              </a:rPr>
              <a:t>Why this is not a language model with financial content and a digital human.</a:t>
            </a:r>
            <a:endParaRPr lang="en-US" sz="1500" dirty="0"/>
          </a:p>
        </p:txBody>
      </p:sp>
      <p:sp>
        <p:nvSpPr>
          <p:cNvPr id="6" name="Text 4"/>
          <p:cNvSpPr/>
          <p:nvPr/>
        </p:nvSpPr>
        <p:spPr>
          <a:xfrm>
            <a:off x="11094415" y="6199632"/>
            <a:ext cx="548640" cy="274320"/>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8</a:t>
            </a:r>
            <a:endParaRPr lang="en-US" sz="900" dirty="0"/>
          </a:p>
        </p:txBody>
      </p:sp>
      <p:sp>
        <p:nvSpPr>
          <p:cNvPr id="5" name="Text 3"/>
          <p:cNvSpPr/>
          <p:nvPr/>
        </p:nvSpPr>
        <p:spPr>
          <a:xfrm>
            <a:off x="713232" y="1828800"/>
            <a:ext cx="9904013" cy="2194560"/>
          </a:xfrm>
          <a:prstGeom prst="rect">
            <a:avLst/>
          </a:prstGeom>
          <a:noFill/>
          <a:ln/>
        </p:spPr>
        <p:txBody>
          <a:bodyPr wrap="square" rtlCol="0" anchor="t"/>
          <a:lstStyle/>
          <a:p>
            <a:pPr indent="0" marL="0">
              <a:lnSpc>
                <a:spcPts val="4600"/>
              </a:lnSpc>
              <a:buNone/>
            </a:pPr>
            <a:r>
              <a:rPr lang="en-US" sz="3600" i="1" dirty="0">
                <a:solidFill>
                  <a:srgbClr val="F3EDFB"/>
                </a:solidFill>
                <a:latin typeface="Georgia" pitchFamily="34" charset="0"/>
                <a:ea typeface="Georgia" pitchFamily="34" charset="-122"/>
                <a:cs typeface="Georgia" pitchFamily="34" charset="-120"/>
              </a:rPr>
              <a:t>The model supplies language intelligence. AUREN supplies authority.</a:t>
            </a:r>
            <a:endParaRPr lang="en-US" sz="3600" dirty="0"/>
          </a:p>
        </p:txBody>
      </p:sp>
      <p:sp>
        <p:nvSpPr>
          <p:cNvPr id="6" name="Text 4"/>
          <p:cNvSpPr/>
          <p:nvPr/>
        </p:nvSpPr>
        <p:spPr>
          <a:xfrm>
            <a:off x="713232" y="4206240"/>
            <a:ext cx="8827490" cy="1280160"/>
          </a:xfrm>
          <a:prstGeom prst="rect">
            <a:avLst/>
          </a:prstGeom>
          <a:noFill/>
          <a:ln/>
        </p:spPr>
        <p:txBody>
          <a:bodyPr wrap="square" rtlCol="0" anchor="ctr"/>
          <a:lstStyle/>
          <a:p>
            <a:pPr indent="0" marL="0">
              <a:lnSpc>
                <a:spcPts val="2400"/>
              </a:lnSpc>
              <a:buNone/>
            </a:pPr>
            <a:r>
              <a:rPr lang="en-US" sz="1500" dirty="0">
                <a:solidFill>
                  <a:srgbClr val="A394C8"/>
                </a:solidFill>
                <a:latin typeface="Trebuchet MS" pitchFamily="34" charset="0"/>
                <a:ea typeface="Trebuchet MS" pitchFamily="34" charset="-122"/>
                <a:cs typeface="Trebuchet MS" pitchFamily="34" charset="-120"/>
              </a:rPr>
              <a:t>A frontier model does not know which jurisdiction applies, whether a rule is in force, who approved the content, or whether its assessment rests on sufficient evidence. It will change its answer when the question is rephrased — fatal for an assessment, because the same person asked twice must get the same finding. The model is the replaceable component, deliberately: a moat built on model access is not a moat.</a:t>
            </a:r>
            <a:endParaRPr lang="en-US" sz="1500" dirty="0"/>
          </a:p>
        </p:txBody>
      </p:sp>
      <p:sp>
        <p:nvSpPr>
          <p:cNvPr id="7" name="Shape 5"/>
          <p:cNvSpPr/>
          <p:nvPr/>
        </p:nvSpPr>
        <p:spPr>
          <a:xfrm>
            <a:off x="713232" y="1517904"/>
            <a:ext cx="1371600" cy="32004"/>
          </a:xfrm>
          <a:prstGeom prst="rect">
            <a:avLst/>
          </a:prstGeom>
          <a:solidFill>
            <a:srgbClr val="EBA98C"/>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9</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WHERE THE DEFENSIBILITY ACTUALLY SITS</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Five layers of intellectual property.</a:t>
            </a:r>
            <a:endParaRPr lang="en-US" sz="3400" dirty="0"/>
          </a:p>
        </p:txBody>
      </p:sp>
      <p:sp>
        <p:nvSpPr>
          <p:cNvPr id="7" name="Text 5"/>
          <p:cNvSpPr/>
          <p:nvPr/>
        </p:nvSpPr>
        <p:spPr>
          <a:xfrm>
            <a:off x="713232" y="1920240"/>
            <a:ext cx="365760" cy="365760"/>
          </a:xfrm>
          <a:prstGeom prst="rect">
            <a:avLst/>
          </a:prstGeom>
          <a:noFill/>
          <a:ln/>
        </p:spPr>
        <p:txBody>
          <a:bodyPr wrap="square" rtlCol="0" anchor="ctr"/>
          <a:lstStyle/>
          <a:p>
            <a:pPr indent="0" marL="0">
              <a:buNone/>
            </a:pPr>
            <a:r>
              <a:rPr lang="en-US" sz="1500" b="1" dirty="0">
                <a:solidFill>
                  <a:srgbClr val="EBA98C"/>
                </a:solidFill>
                <a:latin typeface="Consolas" pitchFamily="34" charset="0"/>
                <a:ea typeface="Consolas" pitchFamily="34" charset="-122"/>
                <a:cs typeface="Consolas" pitchFamily="34" charset="-120"/>
              </a:rPr>
              <a:t>1</a:t>
            </a:r>
            <a:endParaRPr lang="en-US" sz="1500" dirty="0"/>
          </a:p>
        </p:txBody>
      </p:sp>
      <p:sp>
        <p:nvSpPr>
          <p:cNvPr id="8" name="Text 6"/>
          <p:cNvSpPr/>
          <p:nvPr/>
        </p:nvSpPr>
        <p:spPr>
          <a:xfrm>
            <a:off x="1124712" y="1920240"/>
            <a:ext cx="2651760" cy="365760"/>
          </a:xfrm>
          <a:prstGeom prst="rect">
            <a:avLst/>
          </a:prstGeom>
          <a:noFill/>
          <a:ln/>
        </p:spPr>
        <p:txBody>
          <a:bodyPr wrap="square" rtlCol="0" anchor="ctr"/>
          <a:lstStyle/>
          <a:p>
            <a:pPr indent="0" marL="0">
              <a:buNone/>
            </a:pPr>
            <a:r>
              <a:rPr lang="en-US" sz="1400" b="1" dirty="0">
                <a:solidFill>
                  <a:srgbClr val="F3EDFB"/>
                </a:solidFill>
                <a:latin typeface="Trebuchet MS" pitchFamily="34" charset="0"/>
                <a:ea typeface="Trebuchet MS" pitchFamily="34" charset="-122"/>
                <a:cs typeface="Trebuchet MS" pitchFamily="34" charset="-120"/>
              </a:rPr>
              <a:t>Governed knowledge</a:t>
            </a:r>
            <a:endParaRPr lang="en-US" sz="1400" dirty="0"/>
          </a:p>
        </p:txBody>
      </p:sp>
      <p:sp>
        <p:nvSpPr>
          <p:cNvPr id="9" name="Text 7"/>
          <p:cNvSpPr/>
          <p:nvPr/>
        </p:nvSpPr>
        <p:spPr>
          <a:xfrm>
            <a:off x="3913632" y="1938528"/>
            <a:ext cx="7473391" cy="45720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Regulator-approved object schema, eight-state lifecycle, five libraries, a corpus multiple authorities classify the same way.</a:t>
            </a:r>
            <a:endParaRPr lang="en-US" sz="1150" dirty="0"/>
          </a:p>
        </p:txBody>
      </p:sp>
      <p:sp>
        <p:nvSpPr>
          <p:cNvPr id="10" name="Shape 8"/>
          <p:cNvSpPr/>
          <p:nvPr/>
        </p:nvSpPr>
        <p:spPr>
          <a:xfrm>
            <a:off x="713232" y="2468880"/>
            <a:ext cx="10765231" cy="7315"/>
          </a:xfrm>
          <a:prstGeom prst="rect">
            <a:avLst/>
          </a:prstGeom>
          <a:solidFill>
            <a:srgbClr val="332758"/>
          </a:solidFill>
          <a:ln/>
        </p:spPr>
      </p:sp>
      <p:sp>
        <p:nvSpPr>
          <p:cNvPr id="11" name="Text 9"/>
          <p:cNvSpPr/>
          <p:nvPr/>
        </p:nvSpPr>
        <p:spPr>
          <a:xfrm>
            <a:off x="713232" y="2633472"/>
            <a:ext cx="365760" cy="365760"/>
          </a:xfrm>
          <a:prstGeom prst="rect">
            <a:avLst/>
          </a:prstGeom>
          <a:noFill/>
          <a:ln/>
        </p:spPr>
        <p:txBody>
          <a:bodyPr wrap="square" rtlCol="0" anchor="ctr"/>
          <a:lstStyle/>
          <a:p>
            <a:pPr indent="0" marL="0">
              <a:buNone/>
            </a:pPr>
            <a:r>
              <a:rPr lang="en-US" sz="1500" b="1" dirty="0">
                <a:solidFill>
                  <a:srgbClr val="EBA98C"/>
                </a:solidFill>
                <a:latin typeface="Consolas" pitchFamily="34" charset="0"/>
                <a:ea typeface="Consolas" pitchFamily="34" charset="-122"/>
                <a:cs typeface="Consolas" pitchFamily="34" charset="-120"/>
              </a:rPr>
              <a:t>2</a:t>
            </a:r>
            <a:endParaRPr lang="en-US" sz="1500" dirty="0"/>
          </a:p>
        </p:txBody>
      </p:sp>
      <p:sp>
        <p:nvSpPr>
          <p:cNvPr id="12" name="Text 10"/>
          <p:cNvSpPr/>
          <p:nvPr/>
        </p:nvSpPr>
        <p:spPr>
          <a:xfrm>
            <a:off x="1124712" y="2633472"/>
            <a:ext cx="2651760" cy="365760"/>
          </a:xfrm>
          <a:prstGeom prst="rect">
            <a:avLst/>
          </a:prstGeom>
          <a:noFill/>
          <a:ln/>
        </p:spPr>
        <p:txBody>
          <a:bodyPr wrap="square" rtlCol="0" anchor="ctr"/>
          <a:lstStyle/>
          <a:p>
            <a:pPr indent="0" marL="0">
              <a:buNone/>
            </a:pPr>
            <a:r>
              <a:rPr lang="en-US" sz="1400" b="1" dirty="0">
                <a:solidFill>
                  <a:srgbClr val="F3EDFB"/>
                </a:solidFill>
                <a:latin typeface="Trebuchet MS" pitchFamily="34" charset="0"/>
                <a:ea typeface="Trebuchet MS" pitchFamily="34" charset="-122"/>
                <a:cs typeface="Trebuchet MS" pitchFamily="34" charset="-120"/>
              </a:rPr>
              <a:t>Controlled coaching</a:t>
            </a:r>
            <a:endParaRPr lang="en-US" sz="1400" dirty="0"/>
          </a:p>
        </p:txBody>
      </p:sp>
      <p:sp>
        <p:nvSpPr>
          <p:cNvPr id="13" name="Text 11"/>
          <p:cNvSpPr/>
          <p:nvPr/>
        </p:nvSpPr>
        <p:spPr>
          <a:xfrm>
            <a:off x="3913632" y="2651760"/>
            <a:ext cx="7473391" cy="45720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Approved interventions bound to specific failure signatures, in a register the person can use, in every deployed language.</a:t>
            </a:r>
            <a:endParaRPr lang="en-US" sz="1150" dirty="0"/>
          </a:p>
        </p:txBody>
      </p:sp>
      <p:sp>
        <p:nvSpPr>
          <p:cNvPr id="14" name="Shape 12"/>
          <p:cNvSpPr/>
          <p:nvPr/>
        </p:nvSpPr>
        <p:spPr>
          <a:xfrm>
            <a:off x="713232" y="3182112"/>
            <a:ext cx="10765231" cy="7315"/>
          </a:xfrm>
          <a:prstGeom prst="rect">
            <a:avLst/>
          </a:prstGeom>
          <a:solidFill>
            <a:srgbClr val="332758"/>
          </a:solidFill>
          <a:ln/>
        </p:spPr>
      </p:sp>
      <p:sp>
        <p:nvSpPr>
          <p:cNvPr id="15" name="Text 13"/>
          <p:cNvSpPr/>
          <p:nvPr/>
        </p:nvSpPr>
        <p:spPr>
          <a:xfrm>
            <a:off x="713232" y="3346704"/>
            <a:ext cx="365760" cy="365760"/>
          </a:xfrm>
          <a:prstGeom prst="rect">
            <a:avLst/>
          </a:prstGeom>
          <a:noFill/>
          <a:ln/>
        </p:spPr>
        <p:txBody>
          <a:bodyPr wrap="square" rtlCol="0" anchor="ctr"/>
          <a:lstStyle/>
          <a:p>
            <a:pPr indent="0" marL="0">
              <a:buNone/>
            </a:pPr>
            <a:r>
              <a:rPr lang="en-US" sz="1500" b="1" dirty="0">
                <a:solidFill>
                  <a:srgbClr val="EBA98C"/>
                </a:solidFill>
                <a:latin typeface="Consolas" pitchFamily="34" charset="0"/>
                <a:ea typeface="Consolas" pitchFamily="34" charset="-122"/>
                <a:cs typeface="Consolas" pitchFamily="34" charset="-120"/>
              </a:rPr>
              <a:t>3</a:t>
            </a:r>
            <a:endParaRPr lang="en-US" sz="1500" dirty="0"/>
          </a:p>
        </p:txBody>
      </p:sp>
      <p:sp>
        <p:nvSpPr>
          <p:cNvPr id="16" name="Text 14"/>
          <p:cNvSpPr/>
          <p:nvPr/>
        </p:nvSpPr>
        <p:spPr>
          <a:xfrm>
            <a:off x="1124712" y="3346704"/>
            <a:ext cx="2651760" cy="365760"/>
          </a:xfrm>
          <a:prstGeom prst="rect">
            <a:avLst/>
          </a:prstGeom>
          <a:noFill/>
          <a:ln/>
        </p:spPr>
        <p:txBody>
          <a:bodyPr wrap="square" rtlCol="0" anchor="ctr"/>
          <a:lstStyle/>
          <a:p>
            <a:pPr indent="0" marL="0">
              <a:buNone/>
            </a:pPr>
            <a:r>
              <a:rPr lang="en-US" sz="1400" b="1" dirty="0">
                <a:solidFill>
                  <a:srgbClr val="F3EDFB"/>
                </a:solidFill>
                <a:latin typeface="Trebuchet MS" pitchFamily="34" charset="0"/>
                <a:ea typeface="Trebuchet MS" pitchFamily="34" charset="-122"/>
                <a:cs typeface="Trebuchet MS" pitchFamily="34" charset="-120"/>
              </a:rPr>
              <a:t>Bounded role-play</a:t>
            </a:r>
            <a:endParaRPr lang="en-US" sz="1400" dirty="0"/>
          </a:p>
        </p:txBody>
      </p:sp>
      <p:sp>
        <p:nvSpPr>
          <p:cNvPr id="17" name="Text 15"/>
          <p:cNvSpPr/>
          <p:nvPr/>
        </p:nvSpPr>
        <p:spPr>
          <a:xfrm>
            <a:off x="3913632" y="3364992"/>
            <a:ext cx="7473391" cy="45720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Scenario graphs with approved lines, ladders, ceilings and distress exits — and an engine that refuses anything outside them.</a:t>
            </a:r>
            <a:endParaRPr lang="en-US" sz="1150" dirty="0"/>
          </a:p>
        </p:txBody>
      </p:sp>
      <p:sp>
        <p:nvSpPr>
          <p:cNvPr id="18" name="Shape 16"/>
          <p:cNvSpPr/>
          <p:nvPr/>
        </p:nvSpPr>
        <p:spPr>
          <a:xfrm>
            <a:off x="713232" y="3895344"/>
            <a:ext cx="10765231" cy="7315"/>
          </a:xfrm>
          <a:prstGeom prst="rect">
            <a:avLst/>
          </a:prstGeom>
          <a:solidFill>
            <a:srgbClr val="332758"/>
          </a:solidFill>
          <a:ln/>
        </p:spPr>
      </p:sp>
      <p:sp>
        <p:nvSpPr>
          <p:cNvPr id="19" name="Text 17"/>
          <p:cNvSpPr/>
          <p:nvPr/>
        </p:nvSpPr>
        <p:spPr>
          <a:xfrm>
            <a:off x="713232" y="4059936"/>
            <a:ext cx="365760" cy="365760"/>
          </a:xfrm>
          <a:prstGeom prst="rect">
            <a:avLst/>
          </a:prstGeom>
          <a:noFill/>
          <a:ln/>
        </p:spPr>
        <p:txBody>
          <a:bodyPr wrap="square" rtlCol="0" anchor="ctr"/>
          <a:lstStyle/>
          <a:p>
            <a:pPr indent="0" marL="0">
              <a:buNone/>
            </a:pPr>
            <a:r>
              <a:rPr lang="en-US" sz="1500" b="1" dirty="0">
                <a:solidFill>
                  <a:srgbClr val="EBA98C"/>
                </a:solidFill>
                <a:latin typeface="Consolas" pitchFamily="34" charset="0"/>
                <a:ea typeface="Consolas" pitchFamily="34" charset="-122"/>
                <a:cs typeface="Consolas" pitchFamily="34" charset="-120"/>
              </a:rPr>
              <a:t>4</a:t>
            </a:r>
            <a:endParaRPr lang="en-US" sz="1500" dirty="0"/>
          </a:p>
        </p:txBody>
      </p:sp>
      <p:sp>
        <p:nvSpPr>
          <p:cNvPr id="20" name="Text 18"/>
          <p:cNvSpPr/>
          <p:nvPr/>
        </p:nvSpPr>
        <p:spPr>
          <a:xfrm>
            <a:off x="1124712" y="4059936"/>
            <a:ext cx="2651760" cy="365760"/>
          </a:xfrm>
          <a:prstGeom prst="rect">
            <a:avLst/>
          </a:prstGeom>
          <a:noFill/>
          <a:ln/>
        </p:spPr>
        <p:txBody>
          <a:bodyPr wrap="square" rtlCol="0" anchor="ctr"/>
          <a:lstStyle/>
          <a:p>
            <a:pPr indent="0" marL="0">
              <a:buNone/>
            </a:pPr>
            <a:r>
              <a:rPr lang="en-US" sz="1400" b="1" dirty="0">
                <a:solidFill>
                  <a:srgbClr val="F3EDFB"/>
                </a:solidFill>
                <a:latin typeface="Trebuchet MS" pitchFamily="34" charset="0"/>
                <a:ea typeface="Trebuchet MS" pitchFamily="34" charset="-122"/>
                <a:cs typeface="Trebuchet MS" pitchFamily="34" charset="-120"/>
              </a:rPr>
              <a:t>Evidence-based assessment</a:t>
            </a:r>
            <a:endParaRPr lang="en-US" sz="1400" dirty="0"/>
          </a:p>
        </p:txBody>
      </p:sp>
      <p:sp>
        <p:nvSpPr>
          <p:cNvPr id="21" name="Text 19"/>
          <p:cNvSpPr/>
          <p:nvPr/>
        </p:nvSpPr>
        <p:spPr>
          <a:xfrm>
            <a:off x="3913632" y="4078224"/>
            <a:ext cx="7473391" cy="45720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Competency framework, multilingual evidence rules, surface-distance retest, determinations bound to verbatim spans.</a:t>
            </a:r>
            <a:endParaRPr lang="en-US" sz="1150" dirty="0"/>
          </a:p>
        </p:txBody>
      </p:sp>
      <p:sp>
        <p:nvSpPr>
          <p:cNvPr id="22" name="Shape 20"/>
          <p:cNvSpPr/>
          <p:nvPr/>
        </p:nvSpPr>
        <p:spPr>
          <a:xfrm>
            <a:off x="713232" y="4608576"/>
            <a:ext cx="10765231" cy="7315"/>
          </a:xfrm>
          <a:prstGeom prst="rect">
            <a:avLst/>
          </a:prstGeom>
          <a:solidFill>
            <a:srgbClr val="332758"/>
          </a:solidFill>
          <a:ln/>
        </p:spPr>
      </p:sp>
      <p:sp>
        <p:nvSpPr>
          <p:cNvPr id="23" name="Text 21"/>
          <p:cNvSpPr/>
          <p:nvPr/>
        </p:nvSpPr>
        <p:spPr>
          <a:xfrm>
            <a:off x="713232" y="4773168"/>
            <a:ext cx="365760" cy="365760"/>
          </a:xfrm>
          <a:prstGeom prst="rect">
            <a:avLst/>
          </a:prstGeom>
          <a:noFill/>
          <a:ln/>
        </p:spPr>
        <p:txBody>
          <a:bodyPr wrap="square" rtlCol="0" anchor="ctr"/>
          <a:lstStyle/>
          <a:p>
            <a:pPr indent="0" marL="0">
              <a:buNone/>
            </a:pPr>
            <a:r>
              <a:rPr lang="en-US" sz="1500" b="1" dirty="0">
                <a:solidFill>
                  <a:srgbClr val="EBA98C"/>
                </a:solidFill>
                <a:latin typeface="Consolas" pitchFamily="34" charset="0"/>
                <a:ea typeface="Consolas" pitchFamily="34" charset="-122"/>
                <a:cs typeface="Consolas" pitchFamily="34" charset="-120"/>
              </a:rPr>
              <a:t>5</a:t>
            </a:r>
            <a:endParaRPr lang="en-US" sz="1500" dirty="0"/>
          </a:p>
        </p:txBody>
      </p:sp>
      <p:sp>
        <p:nvSpPr>
          <p:cNvPr id="24" name="Text 22"/>
          <p:cNvSpPr/>
          <p:nvPr/>
        </p:nvSpPr>
        <p:spPr>
          <a:xfrm>
            <a:off x="1124712" y="4773168"/>
            <a:ext cx="2651760" cy="365760"/>
          </a:xfrm>
          <a:prstGeom prst="rect">
            <a:avLst/>
          </a:prstGeom>
          <a:noFill/>
          <a:ln/>
        </p:spPr>
        <p:txBody>
          <a:bodyPr wrap="square" rtlCol="0" anchor="ctr"/>
          <a:lstStyle/>
          <a:p>
            <a:pPr indent="0" marL="0">
              <a:buNone/>
            </a:pPr>
            <a:r>
              <a:rPr lang="en-US" sz="1400" b="1" dirty="0">
                <a:solidFill>
                  <a:srgbClr val="F3EDFB"/>
                </a:solidFill>
                <a:latin typeface="Trebuchet MS" pitchFamily="34" charset="0"/>
                <a:ea typeface="Trebuchet MS" pitchFamily="34" charset="-122"/>
                <a:cs typeface="Trebuchet MS" pitchFamily="34" charset="-120"/>
              </a:rPr>
              <a:t>Hyper-realistic delivery</a:t>
            </a:r>
            <a:endParaRPr lang="en-US" sz="1400" dirty="0"/>
          </a:p>
        </p:txBody>
      </p:sp>
      <p:sp>
        <p:nvSpPr>
          <p:cNvPr id="25" name="Text 23"/>
          <p:cNvSpPr/>
          <p:nvPr/>
        </p:nvSpPr>
        <p:spPr>
          <a:xfrm>
            <a:off x="3913632" y="4791456"/>
            <a:ext cx="7473391" cy="45720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HoloMe: face, voice, timing, gaze, gesture and expression rendering a governed persona manifest reproducibly.</a:t>
            </a:r>
            <a:endParaRPr lang="en-US" sz="1150" dirty="0"/>
          </a:p>
        </p:txBody>
      </p:sp>
      <p:sp>
        <p:nvSpPr>
          <p:cNvPr id="26" name="Shape 24"/>
          <p:cNvSpPr/>
          <p:nvPr/>
        </p:nvSpPr>
        <p:spPr>
          <a:xfrm>
            <a:off x="713232" y="5321808"/>
            <a:ext cx="10765231" cy="7315"/>
          </a:xfrm>
          <a:prstGeom prst="rect">
            <a:avLst/>
          </a:prstGeom>
          <a:solidFill>
            <a:srgbClr val="332758"/>
          </a:solidFill>
          <a:ln/>
        </p:spPr>
      </p:sp>
      <p:sp>
        <p:nvSpPr>
          <p:cNvPr id="27" name="Text 25"/>
          <p:cNvSpPr/>
          <p:nvPr/>
        </p:nvSpPr>
        <p:spPr>
          <a:xfrm>
            <a:off x="713232" y="5532120"/>
            <a:ext cx="10119317" cy="548640"/>
          </a:xfrm>
          <a:prstGeom prst="rect">
            <a:avLst/>
          </a:prstGeom>
          <a:noFill/>
          <a:ln/>
        </p:spPr>
        <p:txBody>
          <a:bodyPr wrap="square" rtlCol="0" anchor="ctr"/>
          <a:lstStyle/>
          <a:p>
            <a:pPr indent="0" marL="0">
              <a:lnSpc>
                <a:spcPts val="1800"/>
              </a:lnSpc>
              <a:buNone/>
            </a:pPr>
            <a:r>
              <a:rPr lang="en-US" sz="1250" dirty="0">
                <a:solidFill>
                  <a:srgbClr val="C7B3F0"/>
                </a:solidFill>
                <a:latin typeface="Trebuchet MS" pitchFamily="34" charset="0"/>
                <a:ea typeface="Trebuchet MS" pitchFamily="34" charset="-122"/>
                <a:cs typeface="Trebuchet MS" pitchFamily="34" charset="-120"/>
              </a:rPr>
              <a:t>Two more assets are not layers — they accumulate from operating the five: the behavioural transcript dataset, and longitudinal evidence that rehearsal reduces real-world losses. The second cannot be bought, hired or copied. Only accumulated.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10</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CLOSED GENERATION</a:t>
            </a:r>
            <a:endParaRPr lang="en-US" sz="1100" dirty="0"/>
          </a:p>
        </p:txBody>
      </p:sp>
      <p:sp>
        <p:nvSpPr>
          <p:cNvPr id="6" name="Text 4"/>
          <p:cNvSpPr/>
          <p:nvPr/>
        </p:nvSpPr>
        <p:spPr>
          <a:xfrm>
            <a:off x="713232" y="786384"/>
            <a:ext cx="10765231" cy="1188720"/>
          </a:xfrm>
          <a:prstGeom prst="rect">
            <a:avLst/>
          </a:prstGeom>
          <a:noFill/>
          <a:ln/>
        </p:spPr>
        <p:txBody>
          <a:bodyPr wrap="square" rtlCol="0" anchor="t"/>
          <a:lstStyle/>
          <a:p>
            <a:pPr indent="0" marL="0">
              <a:buNone/>
            </a:pPr>
            <a:r>
              <a:rPr lang="en-US" sz="2700" b="1" dirty="0">
                <a:solidFill>
                  <a:srgbClr val="F3EDFB"/>
                </a:solidFill>
                <a:latin typeface="Trebuchet MS" pitchFamily="34" charset="0"/>
                <a:ea typeface="Trebuchet MS" pitchFamily="34" charset="-122"/>
                <a:cs typeface="Trebuchet MS" pitchFamily="34" charset="-120"/>
              </a:rPr>
              <a:t>The model may select, sequence, explain and deliver.</a:t>
            </a:r>
            <a:endParaRPr lang="en-US" sz="2700" dirty="0"/>
          </a:p>
          <a:p>
            <a:pPr indent="0" marL="0">
              <a:buNone/>
            </a:pPr>
            <a:r>
              <a:rPr lang="en-US" sz="2700" b="1" dirty="0">
                <a:solidFill>
                  <a:srgbClr val="F3EDFB"/>
                </a:solidFill>
                <a:latin typeface="Trebuchet MS" pitchFamily="34" charset="0"/>
                <a:ea typeface="Trebuchet MS" pitchFamily="34" charset="-122"/>
                <a:cs typeface="Trebuchet MS" pitchFamily="34" charset="-120"/>
              </a:rPr>
              <a:t>It may not create authority.</a:t>
            </a:r>
            <a:endParaRPr lang="en-US" sz="2700" dirty="0"/>
          </a:p>
        </p:txBody>
      </p:sp>
      <p:sp>
        <p:nvSpPr>
          <p:cNvPr id="7" name="Text 5"/>
          <p:cNvSpPr/>
          <p:nvPr/>
        </p:nvSpPr>
        <p:spPr>
          <a:xfrm>
            <a:off x="713232" y="2240280"/>
            <a:ext cx="9473403" cy="548640"/>
          </a:xfrm>
          <a:prstGeom prst="rect">
            <a:avLst/>
          </a:prstGeom>
          <a:noFill/>
          <a:ln/>
        </p:spPr>
        <p:txBody>
          <a:bodyPr wrap="square" rtlCol="0" anchor="ctr"/>
          <a:lstStyle/>
          <a:p>
            <a:pPr indent="0" marL="0">
              <a:lnSpc>
                <a:spcPts val="2100"/>
              </a:lnSpc>
              <a:buNone/>
            </a:pPr>
            <a:r>
              <a:rPr lang="en-US" sz="1400" dirty="0">
                <a:solidFill>
                  <a:srgbClr val="C7B3F0"/>
                </a:solidFill>
                <a:latin typeface="Trebuchet MS" pitchFamily="34" charset="0"/>
                <a:ea typeface="Trebuchet MS" pitchFamily="34" charset="-122"/>
                <a:cs typeface="Trebuchet MS" pitchFamily="34" charset="-120"/>
              </a:rPr>
              <a:t>Every product in this space has that on a slide. The difference between a slide and a system is whether it is checkable at runtime, on the bytes the model returned, before they reach a person.</a:t>
            </a:r>
            <a:endParaRPr lang="en-US" sz="1400" dirty="0"/>
          </a:p>
        </p:txBody>
      </p:sp>
      <p:sp>
        <p:nvSpPr>
          <p:cNvPr id="8" name="Shape 6"/>
          <p:cNvSpPr/>
          <p:nvPr/>
        </p:nvSpPr>
        <p:spPr>
          <a:xfrm>
            <a:off x="713232" y="2926080"/>
            <a:ext cx="10765231" cy="298826"/>
          </a:xfrm>
          <a:prstGeom prst="rect">
            <a:avLst/>
          </a:prstGeom>
          <a:solidFill>
            <a:srgbClr val="241B52"/>
          </a:solidFill>
          <a:ln/>
        </p:spPr>
      </p:sp>
      <p:sp>
        <p:nvSpPr>
          <p:cNvPr id="9" name="Text 7"/>
          <p:cNvSpPr/>
          <p:nvPr/>
        </p:nvSpPr>
        <p:spPr>
          <a:xfrm>
            <a:off x="841248" y="2926080"/>
            <a:ext cx="2578608" cy="298826"/>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Mode</a:t>
            </a:r>
            <a:endParaRPr lang="en-US" sz="950" dirty="0"/>
          </a:p>
        </p:txBody>
      </p:sp>
      <p:sp>
        <p:nvSpPr>
          <p:cNvPr id="10" name="Text 8"/>
          <p:cNvSpPr/>
          <p:nvPr/>
        </p:nvSpPr>
        <p:spPr>
          <a:xfrm>
            <a:off x="3675888" y="2926080"/>
            <a:ext cx="3950208" cy="298826"/>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May</a:t>
            </a:r>
            <a:endParaRPr lang="en-US" sz="950" dirty="0"/>
          </a:p>
        </p:txBody>
      </p:sp>
      <p:sp>
        <p:nvSpPr>
          <p:cNvPr id="11" name="Text 9"/>
          <p:cNvSpPr/>
          <p:nvPr/>
        </p:nvSpPr>
        <p:spPr>
          <a:xfrm>
            <a:off x="7882128" y="2926080"/>
            <a:ext cx="3465576" cy="298826"/>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On a violation</a:t>
            </a:r>
            <a:endParaRPr lang="en-US" sz="950" dirty="0"/>
          </a:p>
        </p:txBody>
      </p:sp>
      <p:sp>
        <p:nvSpPr>
          <p:cNvPr id="12" name="Text 10"/>
          <p:cNvSpPr/>
          <p:nvPr/>
        </p:nvSpPr>
        <p:spPr>
          <a:xfrm>
            <a:off x="841248" y="3224906"/>
            <a:ext cx="25786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General education</a:t>
            </a:r>
            <a:endParaRPr lang="en-US" sz="1150" dirty="0"/>
          </a:p>
        </p:txBody>
      </p:sp>
      <p:sp>
        <p:nvSpPr>
          <p:cNvPr id="13" name="Text 11"/>
          <p:cNvSpPr/>
          <p:nvPr/>
        </p:nvSpPr>
        <p:spPr>
          <a:xfrm>
            <a:off x="3675888" y="3224906"/>
            <a:ext cx="39502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select · sequence · paraphrase · explain</a:t>
            </a:r>
            <a:endParaRPr lang="en-US" sz="1150" dirty="0"/>
          </a:p>
        </p:txBody>
      </p:sp>
      <p:sp>
        <p:nvSpPr>
          <p:cNvPr id="14" name="Text 12"/>
          <p:cNvSpPr/>
          <p:nvPr/>
        </p:nvSpPr>
        <p:spPr>
          <a:xfrm>
            <a:off x="7882128" y="3224906"/>
            <a:ext cx="3465576"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Fall back to approved wording</a:t>
            </a:r>
            <a:endParaRPr lang="en-US" sz="1150" dirty="0"/>
          </a:p>
        </p:txBody>
      </p:sp>
      <p:sp>
        <p:nvSpPr>
          <p:cNvPr id="15" name="Shape 13"/>
          <p:cNvSpPr/>
          <p:nvPr/>
        </p:nvSpPr>
        <p:spPr>
          <a:xfrm>
            <a:off x="713232" y="3572378"/>
            <a:ext cx="10765231" cy="347472"/>
          </a:xfrm>
          <a:prstGeom prst="rect">
            <a:avLst/>
          </a:prstGeom>
          <a:solidFill>
            <a:srgbClr val="150F35"/>
          </a:solidFill>
          <a:ln/>
        </p:spPr>
      </p:sp>
      <p:sp>
        <p:nvSpPr>
          <p:cNvPr id="16" name="Text 14"/>
          <p:cNvSpPr/>
          <p:nvPr/>
        </p:nvSpPr>
        <p:spPr>
          <a:xfrm>
            <a:off x="841248" y="3572378"/>
            <a:ext cx="25786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Coaching</a:t>
            </a:r>
            <a:endParaRPr lang="en-US" sz="1150" dirty="0"/>
          </a:p>
        </p:txBody>
      </p:sp>
      <p:sp>
        <p:nvSpPr>
          <p:cNvPr id="17" name="Text 15"/>
          <p:cNvSpPr/>
          <p:nvPr/>
        </p:nvSpPr>
        <p:spPr>
          <a:xfrm>
            <a:off x="3675888" y="3572378"/>
            <a:ext cx="39502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select · sequence · paraphrase · explain</a:t>
            </a:r>
            <a:endParaRPr lang="en-US" sz="1150" dirty="0"/>
          </a:p>
        </p:txBody>
      </p:sp>
      <p:sp>
        <p:nvSpPr>
          <p:cNvPr id="18" name="Text 16"/>
          <p:cNvSpPr/>
          <p:nvPr/>
        </p:nvSpPr>
        <p:spPr>
          <a:xfrm>
            <a:off x="7882128" y="3572378"/>
            <a:ext cx="3465576"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Fall back to approved wording</a:t>
            </a:r>
            <a:endParaRPr lang="en-US" sz="1150" dirty="0"/>
          </a:p>
        </p:txBody>
      </p:sp>
      <p:sp>
        <p:nvSpPr>
          <p:cNvPr id="19" name="Text 17"/>
          <p:cNvSpPr/>
          <p:nvPr/>
        </p:nvSpPr>
        <p:spPr>
          <a:xfrm>
            <a:off x="841248" y="3919850"/>
            <a:ext cx="2578608" cy="347472"/>
          </a:xfrm>
          <a:prstGeom prst="rect">
            <a:avLst/>
          </a:prstGeom>
          <a:noFill/>
          <a:ln/>
        </p:spPr>
        <p:txBody>
          <a:bodyPr wrap="square" rtlCol="0" anchor="ctr"/>
          <a:lstStyle/>
          <a:p>
            <a:pPr indent="0" marL="0">
              <a:lnSpc>
                <a:spcPts val="1400"/>
              </a:lnSpc>
              <a:buNone/>
            </a:pPr>
            <a:r>
              <a:rPr lang="en-US" sz="1150" dirty="0">
                <a:solidFill>
                  <a:srgbClr val="EBA98C"/>
                </a:solidFill>
                <a:latin typeface="Trebuchet MS" pitchFamily="34" charset="0"/>
                <a:ea typeface="Trebuchet MS" pitchFamily="34" charset="-122"/>
                <a:cs typeface="Trebuchet MS" pitchFamily="34" charset="-120"/>
              </a:rPr>
              <a:t>Assessment</a:t>
            </a:r>
            <a:endParaRPr lang="en-US" sz="1150" dirty="0"/>
          </a:p>
        </p:txBody>
      </p:sp>
      <p:sp>
        <p:nvSpPr>
          <p:cNvPr id="20" name="Text 18"/>
          <p:cNvSpPr/>
          <p:nvPr/>
        </p:nvSpPr>
        <p:spPr>
          <a:xfrm>
            <a:off x="3675888" y="3919850"/>
            <a:ext cx="3950208" cy="347472"/>
          </a:xfrm>
          <a:prstGeom prst="rect">
            <a:avLst/>
          </a:prstGeom>
          <a:noFill/>
          <a:ln/>
        </p:spPr>
        <p:txBody>
          <a:bodyPr wrap="square" rtlCol="0" anchor="ctr"/>
          <a:lstStyle/>
          <a:p>
            <a:pPr indent="0" marL="0">
              <a:lnSpc>
                <a:spcPts val="1400"/>
              </a:lnSpc>
              <a:buNone/>
            </a:pPr>
            <a:r>
              <a:rPr lang="en-US" sz="1150" dirty="0">
                <a:solidFill>
                  <a:srgbClr val="EBA98C"/>
                </a:solidFill>
                <a:latin typeface="Trebuchet MS" pitchFamily="34" charset="0"/>
                <a:ea typeface="Trebuchet MS" pitchFamily="34" charset="-122"/>
                <a:cs typeface="Trebuchet MS" pitchFamily="34" charset="-120"/>
              </a:rPr>
              <a:t>select · sequence · classify</a:t>
            </a:r>
            <a:endParaRPr lang="en-US" sz="1150" dirty="0"/>
          </a:p>
        </p:txBody>
      </p:sp>
      <p:sp>
        <p:nvSpPr>
          <p:cNvPr id="21" name="Text 19"/>
          <p:cNvSpPr/>
          <p:nvPr/>
        </p:nvSpPr>
        <p:spPr>
          <a:xfrm>
            <a:off x="7882128" y="3919850"/>
            <a:ext cx="3465576" cy="347472"/>
          </a:xfrm>
          <a:prstGeom prst="rect">
            <a:avLst/>
          </a:prstGeom>
          <a:noFill/>
          <a:ln/>
        </p:spPr>
        <p:txBody>
          <a:bodyPr wrap="square" rtlCol="0" anchor="ctr"/>
          <a:lstStyle/>
          <a:p>
            <a:pPr indent="0" marL="0">
              <a:lnSpc>
                <a:spcPts val="1400"/>
              </a:lnSpc>
              <a:buNone/>
            </a:pPr>
            <a:r>
              <a:rPr lang="en-US" sz="1150" dirty="0">
                <a:solidFill>
                  <a:srgbClr val="EBA98C"/>
                </a:solidFill>
                <a:latin typeface="Trebuchet MS" pitchFamily="34" charset="0"/>
                <a:ea typeface="Trebuchet MS" pitchFamily="34" charset="-122"/>
                <a:cs typeface="Trebuchet MS" pitchFamily="34" charset="-120"/>
              </a:rPr>
              <a:t>Refuse and escalate</a:t>
            </a:r>
            <a:endParaRPr lang="en-US" sz="1150" dirty="0"/>
          </a:p>
        </p:txBody>
      </p:sp>
      <p:sp>
        <p:nvSpPr>
          <p:cNvPr id="22" name="Shape 20"/>
          <p:cNvSpPr/>
          <p:nvPr/>
        </p:nvSpPr>
        <p:spPr>
          <a:xfrm>
            <a:off x="713232" y="4267322"/>
            <a:ext cx="10765231" cy="347472"/>
          </a:xfrm>
          <a:prstGeom prst="rect">
            <a:avLst/>
          </a:prstGeom>
          <a:solidFill>
            <a:srgbClr val="150F35"/>
          </a:solidFill>
          <a:ln/>
        </p:spPr>
      </p:sp>
      <p:sp>
        <p:nvSpPr>
          <p:cNvPr id="23" name="Text 21"/>
          <p:cNvSpPr/>
          <p:nvPr/>
        </p:nvSpPr>
        <p:spPr>
          <a:xfrm>
            <a:off x="841248" y="4267322"/>
            <a:ext cx="25786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Bounded role-play</a:t>
            </a:r>
            <a:endParaRPr lang="en-US" sz="1150" dirty="0"/>
          </a:p>
        </p:txBody>
      </p:sp>
      <p:sp>
        <p:nvSpPr>
          <p:cNvPr id="24" name="Text 22"/>
          <p:cNvSpPr/>
          <p:nvPr/>
        </p:nvSpPr>
        <p:spPr>
          <a:xfrm>
            <a:off x="3675888" y="4267322"/>
            <a:ext cx="39502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select · sequence · paraphrase · escalate</a:t>
            </a:r>
            <a:endParaRPr lang="en-US" sz="1150" dirty="0"/>
          </a:p>
        </p:txBody>
      </p:sp>
      <p:sp>
        <p:nvSpPr>
          <p:cNvPr id="25" name="Text 23"/>
          <p:cNvSpPr/>
          <p:nvPr/>
        </p:nvSpPr>
        <p:spPr>
          <a:xfrm>
            <a:off x="7882128" y="4267322"/>
            <a:ext cx="3465576"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Drop the turn, hold the rung</a:t>
            </a:r>
            <a:endParaRPr lang="en-US" sz="1150" dirty="0"/>
          </a:p>
        </p:txBody>
      </p:sp>
      <p:sp>
        <p:nvSpPr>
          <p:cNvPr id="26" name="Text 24"/>
          <p:cNvSpPr/>
          <p:nvPr/>
        </p:nvSpPr>
        <p:spPr>
          <a:xfrm>
            <a:off x="841248" y="4614794"/>
            <a:ext cx="25786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Regulatory answer</a:t>
            </a:r>
            <a:endParaRPr lang="en-US" sz="1150" dirty="0"/>
          </a:p>
        </p:txBody>
      </p:sp>
      <p:sp>
        <p:nvSpPr>
          <p:cNvPr id="27" name="Text 25"/>
          <p:cNvSpPr/>
          <p:nvPr/>
        </p:nvSpPr>
        <p:spPr>
          <a:xfrm>
            <a:off x="3675888" y="4614794"/>
            <a:ext cx="39502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select · sequence</a:t>
            </a:r>
            <a:endParaRPr lang="en-US" sz="1150" dirty="0"/>
          </a:p>
        </p:txBody>
      </p:sp>
      <p:sp>
        <p:nvSpPr>
          <p:cNvPr id="28" name="Text 26"/>
          <p:cNvSpPr/>
          <p:nvPr/>
        </p:nvSpPr>
        <p:spPr>
          <a:xfrm>
            <a:off x="7882128" y="4614794"/>
            <a:ext cx="3465576"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Refuse and escalate</a:t>
            </a:r>
            <a:endParaRPr lang="en-US" sz="1150" dirty="0"/>
          </a:p>
        </p:txBody>
      </p:sp>
      <p:sp>
        <p:nvSpPr>
          <p:cNvPr id="29" name="Shape 27"/>
          <p:cNvSpPr/>
          <p:nvPr/>
        </p:nvSpPr>
        <p:spPr>
          <a:xfrm>
            <a:off x="713232" y="4962266"/>
            <a:ext cx="10765231" cy="347472"/>
          </a:xfrm>
          <a:prstGeom prst="rect">
            <a:avLst/>
          </a:prstGeom>
          <a:solidFill>
            <a:srgbClr val="150F35"/>
          </a:solidFill>
          <a:ln/>
        </p:spPr>
      </p:sp>
      <p:sp>
        <p:nvSpPr>
          <p:cNvPr id="30" name="Text 28"/>
          <p:cNvSpPr/>
          <p:nvPr/>
        </p:nvSpPr>
        <p:spPr>
          <a:xfrm>
            <a:off x="841248" y="4962266"/>
            <a:ext cx="25786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High-risk</a:t>
            </a:r>
            <a:endParaRPr lang="en-US" sz="1150" dirty="0"/>
          </a:p>
        </p:txBody>
      </p:sp>
      <p:sp>
        <p:nvSpPr>
          <p:cNvPr id="31" name="Text 29"/>
          <p:cNvSpPr/>
          <p:nvPr/>
        </p:nvSpPr>
        <p:spPr>
          <a:xfrm>
            <a:off x="3675888" y="4962266"/>
            <a:ext cx="3950208"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select — and refuse</a:t>
            </a:r>
            <a:endParaRPr lang="en-US" sz="1150" dirty="0"/>
          </a:p>
        </p:txBody>
      </p:sp>
      <p:sp>
        <p:nvSpPr>
          <p:cNvPr id="32" name="Text 30"/>
          <p:cNvSpPr/>
          <p:nvPr/>
        </p:nvSpPr>
        <p:spPr>
          <a:xfrm>
            <a:off x="7882128" y="4962266"/>
            <a:ext cx="3465576" cy="34747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Refuse and escalate</a:t>
            </a:r>
            <a:endParaRPr lang="en-US" sz="1150" dirty="0"/>
          </a:p>
        </p:txBody>
      </p:sp>
      <p:sp>
        <p:nvSpPr>
          <p:cNvPr id="33" name="Text 31"/>
          <p:cNvSpPr/>
          <p:nvPr/>
        </p:nvSpPr>
        <p:spPr>
          <a:xfrm>
            <a:off x="713232" y="5532120"/>
            <a:ext cx="10119317" cy="457200"/>
          </a:xfrm>
          <a:prstGeom prst="rect">
            <a:avLst/>
          </a:prstGeom>
          <a:noFill/>
          <a:ln/>
        </p:spPr>
        <p:txBody>
          <a:bodyPr wrap="square" rtlCol="0" anchor="ctr"/>
          <a:lstStyle/>
          <a:p>
            <a:pPr indent="0" marL="0">
              <a:lnSpc>
                <a:spcPts val="1800"/>
              </a:lnSpc>
              <a:buNone/>
            </a:pPr>
            <a:r>
              <a:rPr lang="en-US" sz="1200" dirty="0">
                <a:solidFill>
                  <a:srgbClr val="A394C8"/>
                </a:solidFill>
                <a:latin typeface="Trebuchet MS" pitchFamily="34" charset="0"/>
                <a:ea typeface="Trebuchet MS" pitchFamily="34" charset="-122"/>
                <a:cs typeface="Trebuchet MS" pitchFamily="34" charset="-120"/>
              </a:rPr>
              <a:t>Paraphrase is refused during assessment, and the refusal is the point: the moment an assessor restates what the learner said, the finding binds to the restatement rather than to the person.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11</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THE TURN CONTRACT</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Validated before a syllable reaches the learner.</a:t>
            </a:r>
            <a:endParaRPr lang="en-US" sz="3400" dirty="0"/>
          </a:p>
        </p:txBody>
      </p:sp>
      <p:sp>
        <p:nvSpPr>
          <p:cNvPr id="7" name="Shape 5"/>
          <p:cNvSpPr/>
          <p:nvPr/>
        </p:nvSpPr>
        <p:spPr>
          <a:xfrm>
            <a:off x="713232" y="1828800"/>
            <a:ext cx="4736702" cy="3200400"/>
          </a:xfrm>
          <a:prstGeom prst="roundRect">
            <a:avLst>
              <a:gd name="adj" fmla="val 1714"/>
            </a:avLst>
          </a:prstGeom>
          <a:solidFill>
            <a:srgbClr val="1A1338"/>
          </a:solidFill>
          <a:ln w="12700">
            <a:solidFill>
              <a:srgbClr val="332758"/>
            </a:solidFill>
            <a:prstDash val="solid"/>
          </a:ln>
        </p:spPr>
      </p:sp>
      <p:sp>
        <p:nvSpPr>
          <p:cNvPr id="8" name="Shape 6"/>
          <p:cNvSpPr/>
          <p:nvPr/>
        </p:nvSpPr>
        <p:spPr>
          <a:xfrm>
            <a:off x="713232" y="1828800"/>
            <a:ext cx="41148" cy="3200400"/>
          </a:xfrm>
          <a:prstGeom prst="rect">
            <a:avLst/>
          </a:prstGeom>
          <a:solidFill>
            <a:srgbClr val="C7B3F0"/>
          </a:solidFill>
          <a:ln/>
        </p:spPr>
      </p:sp>
      <p:sp>
        <p:nvSpPr>
          <p:cNvPr id="9" name="Text 7"/>
          <p:cNvSpPr/>
          <p:nvPr/>
        </p:nvSpPr>
        <p:spPr>
          <a:xfrm>
            <a:off x="1024128" y="2011680"/>
            <a:ext cx="3657600" cy="274320"/>
          </a:xfrm>
          <a:prstGeom prst="rect">
            <a:avLst/>
          </a:prstGeom>
          <a:noFill/>
          <a:ln/>
        </p:spPr>
        <p:txBody>
          <a:bodyPr wrap="square" rtlCol="0" anchor="ctr"/>
          <a:lstStyle/>
          <a:p>
            <a:pPr indent="0" marL="0">
              <a:buNone/>
            </a:pPr>
            <a:r>
              <a:rPr lang="en-US" sz="1000" b="1" spc="200" kern="0" dirty="0">
                <a:solidFill>
                  <a:srgbClr val="C7B3F0"/>
                </a:solidFill>
                <a:latin typeface="Trebuchet MS" pitchFamily="34" charset="0"/>
                <a:ea typeface="Trebuchet MS" pitchFamily="34" charset="-122"/>
                <a:cs typeface="Trebuchet MS" pitchFamily="34" charset="-120"/>
              </a:rPr>
              <a:t>HANDED TO THE MODEL</a:t>
            </a:r>
            <a:endParaRPr lang="en-US" sz="1000" dirty="0"/>
          </a:p>
        </p:txBody>
      </p:sp>
      <p:sp>
        <p:nvSpPr>
          <p:cNvPr id="10" name="Text 8"/>
          <p:cNvSpPr/>
          <p:nvPr/>
        </p:nvSpPr>
        <p:spPr>
          <a:xfrm>
            <a:off x="1024128" y="2377440"/>
            <a:ext cx="274320" cy="274320"/>
          </a:xfrm>
          <a:prstGeom prst="rect">
            <a:avLst/>
          </a:prstGeom>
          <a:noFill/>
          <a:ln/>
        </p:spPr>
        <p:txBody>
          <a:bodyPr wrap="square" rtlCol="0" anchor="ctr"/>
          <a:lstStyle/>
          <a:p>
            <a:pPr indent="0" marL="0">
              <a:buNone/>
            </a:pPr>
            <a:r>
              <a:rPr lang="en-US" sz="1250" dirty="0">
                <a:solidFill>
                  <a:srgbClr val="EBA98C"/>
                </a:solidFill>
                <a:latin typeface="Trebuchet MS" pitchFamily="34" charset="0"/>
                <a:ea typeface="Trebuchet MS" pitchFamily="34" charset="-122"/>
                <a:cs typeface="Trebuchet MS" pitchFamily="34" charset="-120"/>
              </a:rPr>
              <a:t>—</a:t>
            </a:r>
            <a:endParaRPr lang="en-US" sz="1250" dirty="0"/>
          </a:p>
        </p:txBody>
      </p:sp>
      <p:sp>
        <p:nvSpPr>
          <p:cNvPr id="11" name="Text 9"/>
          <p:cNvSpPr/>
          <p:nvPr/>
        </p:nvSpPr>
        <p:spPr>
          <a:xfrm>
            <a:off x="1298448" y="2377440"/>
            <a:ext cx="3822302" cy="310896"/>
          </a:xfrm>
          <a:prstGeom prst="rect">
            <a:avLst/>
          </a:prstGeom>
          <a:noFill/>
          <a:ln/>
        </p:spPr>
        <p:txBody>
          <a:bodyPr wrap="square" rtlCol="0" anchor="t"/>
          <a:lstStyle/>
          <a:p>
            <a:pPr indent="0" marL="0">
              <a:lnSpc>
                <a:spcPts val="1800"/>
              </a:lnSpc>
              <a:buNone/>
            </a:pPr>
            <a:r>
              <a:rPr lang="en-US" sz="1250" dirty="0">
                <a:solidFill>
                  <a:srgbClr val="F3EDFB"/>
                </a:solidFill>
                <a:latin typeface="Trebuchet MS" pitchFamily="34" charset="0"/>
                <a:ea typeface="Trebuchet MS" pitchFamily="34" charset="-122"/>
                <a:cs typeface="Trebuchet MS" pitchFamily="34" charset="-120"/>
              </a:rPr>
              <a:t>A closed candidate set</a:t>
            </a:r>
            <a:endParaRPr lang="en-US" sz="1250" dirty="0"/>
          </a:p>
        </p:txBody>
      </p:sp>
      <p:sp>
        <p:nvSpPr>
          <p:cNvPr id="12" name="Text 10"/>
          <p:cNvSpPr/>
          <p:nvPr/>
        </p:nvSpPr>
        <p:spPr>
          <a:xfrm>
            <a:off x="1298448" y="2651760"/>
            <a:ext cx="3822302" cy="457200"/>
          </a:xfrm>
          <a:prstGeom prst="rect">
            <a:avLst/>
          </a:prstGeom>
          <a:noFill/>
          <a:ln/>
        </p:spPr>
        <p:txBody>
          <a:bodyPr wrap="square" rtlCol="0" anchor="t"/>
          <a:lstStyle/>
          <a:p>
            <a:pPr indent="0" marL="0">
              <a:lnSpc>
                <a:spcPts val="1500"/>
              </a:lnSpc>
              <a:buNone/>
            </a:pPr>
            <a:r>
              <a:rPr lang="en-US" sz="1100" dirty="0">
                <a:solidFill>
                  <a:srgbClr val="A394C8"/>
                </a:solidFill>
                <a:latin typeface="Trebuchet MS" pitchFamily="34" charset="0"/>
                <a:ea typeface="Trebuchet MS" pitchFamily="34" charset="-122"/>
                <a:cs typeface="Trebuchet MS" pitchFamily="34" charset="-120"/>
              </a:rPr>
              <a:t>The only objects this turn may draw on.</a:t>
            </a:r>
            <a:endParaRPr lang="en-US" sz="1100" dirty="0"/>
          </a:p>
        </p:txBody>
      </p:sp>
      <p:sp>
        <p:nvSpPr>
          <p:cNvPr id="13" name="Text 11"/>
          <p:cNvSpPr/>
          <p:nvPr/>
        </p:nvSpPr>
        <p:spPr>
          <a:xfrm>
            <a:off x="1024128" y="3108960"/>
            <a:ext cx="274320" cy="274320"/>
          </a:xfrm>
          <a:prstGeom prst="rect">
            <a:avLst/>
          </a:prstGeom>
          <a:noFill/>
          <a:ln/>
        </p:spPr>
        <p:txBody>
          <a:bodyPr wrap="square" rtlCol="0" anchor="ctr"/>
          <a:lstStyle/>
          <a:p>
            <a:pPr indent="0" marL="0">
              <a:buNone/>
            </a:pPr>
            <a:r>
              <a:rPr lang="en-US" sz="1250" dirty="0">
                <a:solidFill>
                  <a:srgbClr val="EBA98C"/>
                </a:solidFill>
                <a:latin typeface="Trebuchet MS" pitchFamily="34" charset="0"/>
                <a:ea typeface="Trebuchet MS" pitchFamily="34" charset="-122"/>
                <a:cs typeface="Trebuchet MS" pitchFamily="34" charset="-120"/>
              </a:rPr>
              <a:t>—</a:t>
            </a:r>
            <a:endParaRPr lang="en-US" sz="1250" dirty="0"/>
          </a:p>
        </p:txBody>
      </p:sp>
      <p:sp>
        <p:nvSpPr>
          <p:cNvPr id="14" name="Text 12"/>
          <p:cNvSpPr/>
          <p:nvPr/>
        </p:nvSpPr>
        <p:spPr>
          <a:xfrm>
            <a:off x="1298448" y="3108960"/>
            <a:ext cx="3822302" cy="310896"/>
          </a:xfrm>
          <a:prstGeom prst="rect">
            <a:avLst/>
          </a:prstGeom>
          <a:noFill/>
          <a:ln/>
        </p:spPr>
        <p:txBody>
          <a:bodyPr wrap="square" rtlCol="0" anchor="t"/>
          <a:lstStyle/>
          <a:p>
            <a:pPr indent="0" marL="0">
              <a:lnSpc>
                <a:spcPts val="1800"/>
              </a:lnSpc>
              <a:buNone/>
            </a:pPr>
            <a:r>
              <a:rPr lang="en-US" sz="1250" dirty="0">
                <a:solidFill>
                  <a:srgbClr val="F3EDFB"/>
                </a:solidFill>
                <a:latin typeface="Trebuchet MS" pitchFamily="34" charset="0"/>
                <a:ea typeface="Trebuchet MS" pitchFamily="34" charset="-122"/>
                <a:cs typeface="Trebuchet MS" pitchFamily="34" charset="-120"/>
              </a:rPr>
              <a:t>A declared mode</a:t>
            </a:r>
            <a:endParaRPr lang="en-US" sz="1250" dirty="0"/>
          </a:p>
        </p:txBody>
      </p:sp>
      <p:sp>
        <p:nvSpPr>
          <p:cNvPr id="15" name="Text 13"/>
          <p:cNvSpPr/>
          <p:nvPr/>
        </p:nvSpPr>
        <p:spPr>
          <a:xfrm>
            <a:off x="1298448" y="3383280"/>
            <a:ext cx="3822302" cy="457200"/>
          </a:xfrm>
          <a:prstGeom prst="rect">
            <a:avLst/>
          </a:prstGeom>
          <a:noFill/>
          <a:ln/>
        </p:spPr>
        <p:txBody>
          <a:bodyPr wrap="square" rtlCol="0" anchor="t"/>
          <a:lstStyle/>
          <a:p>
            <a:pPr indent="0" marL="0">
              <a:lnSpc>
                <a:spcPts val="1500"/>
              </a:lnSpc>
              <a:buNone/>
            </a:pPr>
            <a:r>
              <a:rPr lang="en-US" sz="1100" dirty="0">
                <a:solidFill>
                  <a:srgbClr val="A394C8"/>
                </a:solidFill>
                <a:latin typeface="Trebuchet MS" pitchFamily="34" charset="0"/>
                <a:ea typeface="Trebuchet MS" pitchFamily="34" charset="-122"/>
                <a:cs typeface="Trebuchet MS" pitchFamily="34" charset="-120"/>
              </a:rPr>
              <a:t>Which fixes the ceiling before the call is made.</a:t>
            </a:r>
            <a:endParaRPr lang="en-US" sz="1100" dirty="0"/>
          </a:p>
        </p:txBody>
      </p:sp>
      <p:sp>
        <p:nvSpPr>
          <p:cNvPr id="16" name="Text 14"/>
          <p:cNvSpPr/>
          <p:nvPr/>
        </p:nvSpPr>
        <p:spPr>
          <a:xfrm>
            <a:off x="1024128" y="3840480"/>
            <a:ext cx="274320" cy="274320"/>
          </a:xfrm>
          <a:prstGeom prst="rect">
            <a:avLst/>
          </a:prstGeom>
          <a:noFill/>
          <a:ln/>
        </p:spPr>
        <p:txBody>
          <a:bodyPr wrap="square" rtlCol="0" anchor="ctr"/>
          <a:lstStyle/>
          <a:p>
            <a:pPr indent="0" marL="0">
              <a:buNone/>
            </a:pPr>
            <a:r>
              <a:rPr lang="en-US" sz="1250" dirty="0">
                <a:solidFill>
                  <a:srgbClr val="EBA98C"/>
                </a:solidFill>
                <a:latin typeface="Trebuchet MS" pitchFamily="34" charset="0"/>
                <a:ea typeface="Trebuchet MS" pitchFamily="34" charset="-122"/>
                <a:cs typeface="Trebuchet MS" pitchFamily="34" charset="-120"/>
              </a:rPr>
              <a:t>—</a:t>
            </a:r>
            <a:endParaRPr lang="en-US" sz="1250" dirty="0"/>
          </a:p>
        </p:txBody>
      </p:sp>
      <p:sp>
        <p:nvSpPr>
          <p:cNvPr id="17" name="Text 15"/>
          <p:cNvSpPr/>
          <p:nvPr/>
        </p:nvSpPr>
        <p:spPr>
          <a:xfrm>
            <a:off x="1298448" y="3840480"/>
            <a:ext cx="3822302" cy="310896"/>
          </a:xfrm>
          <a:prstGeom prst="rect">
            <a:avLst/>
          </a:prstGeom>
          <a:noFill/>
          <a:ln/>
        </p:spPr>
        <p:txBody>
          <a:bodyPr wrap="square" rtlCol="0" anchor="t"/>
          <a:lstStyle/>
          <a:p>
            <a:pPr indent="0" marL="0">
              <a:lnSpc>
                <a:spcPts val="1800"/>
              </a:lnSpc>
              <a:buNone/>
            </a:pPr>
            <a:r>
              <a:rPr lang="en-US" sz="1250" dirty="0">
                <a:solidFill>
                  <a:srgbClr val="F3EDFB"/>
                </a:solidFill>
                <a:latin typeface="Trebuchet MS" pitchFamily="34" charset="0"/>
                <a:ea typeface="Trebuchet MS" pitchFamily="34" charset="-122"/>
                <a:cs typeface="Trebuchet MS" pitchFamily="34" charset="-120"/>
              </a:rPr>
              <a:t>What the learner said, verbatim</a:t>
            </a:r>
            <a:endParaRPr lang="en-US" sz="1250" dirty="0"/>
          </a:p>
        </p:txBody>
      </p:sp>
      <p:sp>
        <p:nvSpPr>
          <p:cNvPr id="18" name="Text 16"/>
          <p:cNvSpPr/>
          <p:nvPr/>
        </p:nvSpPr>
        <p:spPr>
          <a:xfrm>
            <a:off x="1298448" y="4114800"/>
            <a:ext cx="3822302" cy="457200"/>
          </a:xfrm>
          <a:prstGeom prst="rect">
            <a:avLst/>
          </a:prstGeom>
          <a:noFill/>
          <a:ln/>
        </p:spPr>
        <p:txBody>
          <a:bodyPr wrap="square" rtlCol="0" anchor="t"/>
          <a:lstStyle/>
          <a:p>
            <a:pPr indent="0" marL="0">
              <a:lnSpc>
                <a:spcPts val="1500"/>
              </a:lnSpc>
              <a:buNone/>
            </a:pPr>
            <a:r>
              <a:rPr lang="en-US" sz="1100" dirty="0">
                <a:solidFill>
                  <a:srgbClr val="A394C8"/>
                </a:solidFill>
                <a:latin typeface="Trebuchet MS" pitchFamily="34" charset="0"/>
                <a:ea typeface="Trebuchet MS" pitchFamily="34" charset="-122"/>
                <a:cs typeface="Trebuchet MS" pitchFamily="34" charset="-120"/>
              </a:rPr>
              <a:t>Never edited before it is scored.</a:t>
            </a:r>
            <a:endParaRPr lang="en-US" sz="1100" dirty="0"/>
          </a:p>
        </p:txBody>
      </p:sp>
      <p:sp>
        <p:nvSpPr>
          <p:cNvPr id="19" name="Text 17"/>
          <p:cNvSpPr/>
          <p:nvPr/>
        </p:nvSpPr>
        <p:spPr>
          <a:xfrm>
            <a:off x="1024128" y="4434840"/>
            <a:ext cx="4096622" cy="457200"/>
          </a:xfrm>
          <a:prstGeom prst="rect">
            <a:avLst/>
          </a:prstGeom>
          <a:noFill/>
          <a:ln/>
        </p:spPr>
        <p:txBody>
          <a:bodyPr wrap="square" rtlCol="0" anchor="ctr"/>
          <a:lstStyle/>
          <a:p>
            <a:pPr indent="0" marL="0">
              <a:lnSpc>
                <a:spcPts val="1600"/>
              </a:lnSpc>
              <a:buNone/>
            </a:pPr>
            <a:r>
              <a:rPr lang="en-US" sz="1150" i="1" dirty="0">
                <a:solidFill>
                  <a:srgbClr val="EBA98C"/>
                </a:solidFill>
                <a:latin typeface="Trebuchet MS" pitchFamily="34" charset="0"/>
                <a:ea typeface="Trebuchet MS" pitchFamily="34" charset="-122"/>
                <a:cs typeface="Trebuchet MS" pitchFamily="34" charset="-120"/>
              </a:rPr>
              <a:t>No corpus. No retrieved chunks. No instruction to be helpful with some documents.</a:t>
            </a:r>
            <a:endParaRPr lang="en-US" sz="1150" dirty="0"/>
          </a:p>
        </p:txBody>
      </p:sp>
      <p:sp>
        <p:nvSpPr>
          <p:cNvPr id="20" name="Shape 18"/>
          <p:cNvSpPr/>
          <p:nvPr/>
        </p:nvSpPr>
        <p:spPr>
          <a:xfrm>
            <a:off x="5880543" y="1828800"/>
            <a:ext cx="5597920" cy="3200400"/>
          </a:xfrm>
          <a:prstGeom prst="roundRect">
            <a:avLst>
              <a:gd name="adj" fmla="val 1714"/>
            </a:avLst>
          </a:prstGeom>
          <a:solidFill>
            <a:srgbClr val="1A1338"/>
          </a:solidFill>
          <a:ln w="12700">
            <a:solidFill>
              <a:srgbClr val="332758"/>
            </a:solidFill>
            <a:prstDash val="solid"/>
          </a:ln>
        </p:spPr>
      </p:sp>
      <p:sp>
        <p:nvSpPr>
          <p:cNvPr id="21" name="Shape 19"/>
          <p:cNvSpPr/>
          <p:nvPr/>
        </p:nvSpPr>
        <p:spPr>
          <a:xfrm>
            <a:off x="5880543" y="1828800"/>
            <a:ext cx="41148" cy="3200400"/>
          </a:xfrm>
          <a:prstGeom prst="rect">
            <a:avLst/>
          </a:prstGeom>
          <a:solidFill>
            <a:srgbClr val="EBA98C"/>
          </a:solidFill>
          <a:ln/>
        </p:spPr>
      </p:sp>
      <p:sp>
        <p:nvSpPr>
          <p:cNvPr id="22" name="Text 20"/>
          <p:cNvSpPr/>
          <p:nvPr/>
        </p:nvSpPr>
        <p:spPr>
          <a:xfrm>
            <a:off x="6191439" y="2011680"/>
            <a:ext cx="4572000" cy="274320"/>
          </a:xfrm>
          <a:prstGeom prst="rect">
            <a:avLst/>
          </a:prstGeom>
          <a:noFill/>
          <a:ln/>
        </p:spPr>
        <p:txBody>
          <a:bodyPr wrap="square" rtlCol="0" anchor="ctr"/>
          <a:lstStyle/>
          <a:p>
            <a:pPr indent="0" marL="0">
              <a:buNone/>
            </a:pPr>
            <a:r>
              <a:rPr lang="en-US" sz="1000" b="1" spc="200" kern="0" dirty="0">
                <a:solidFill>
                  <a:srgbClr val="EBA98C"/>
                </a:solidFill>
                <a:latin typeface="Trebuchet MS" pitchFamily="34" charset="0"/>
                <a:ea typeface="Trebuchet MS" pitchFamily="34" charset="-122"/>
                <a:cs typeface="Trebuchet MS" pitchFamily="34" charset="-120"/>
              </a:rPr>
              <a:t>REFUSED IF…</a:t>
            </a:r>
            <a:endParaRPr lang="en-US" sz="1000" dirty="0"/>
          </a:p>
        </p:txBody>
      </p:sp>
      <p:sp>
        <p:nvSpPr>
          <p:cNvPr id="23" name="Text 21"/>
          <p:cNvSpPr/>
          <p:nvPr/>
        </p:nvSpPr>
        <p:spPr>
          <a:xfrm>
            <a:off x="6191439" y="2377440"/>
            <a:ext cx="274320" cy="256032"/>
          </a:xfrm>
          <a:prstGeom prst="rect">
            <a:avLst/>
          </a:prstGeom>
          <a:noFill/>
          <a:ln/>
        </p:spPr>
        <p:txBody>
          <a:bodyPr wrap="square" rtlCol="0" anchor="ctr"/>
          <a:lstStyle/>
          <a:p>
            <a:pPr indent="0" marL="0">
              <a:buNone/>
            </a:pPr>
            <a:r>
              <a:rPr lang="en-US" sz="1100" dirty="0">
                <a:solidFill>
                  <a:srgbClr val="E88DA0"/>
                </a:solidFill>
                <a:latin typeface="Trebuchet MS" pitchFamily="34" charset="0"/>
                <a:ea typeface="Trebuchet MS" pitchFamily="34" charset="-122"/>
                <a:cs typeface="Trebuchet MS" pitchFamily="34" charset="-120"/>
              </a:rPr>
              <a:t>✕</a:t>
            </a:r>
            <a:endParaRPr lang="en-US" sz="1100" dirty="0"/>
          </a:p>
        </p:txBody>
      </p:sp>
      <p:sp>
        <p:nvSpPr>
          <p:cNvPr id="24" name="Text 22"/>
          <p:cNvSpPr/>
          <p:nvPr/>
        </p:nvSpPr>
        <p:spPr>
          <a:xfrm>
            <a:off x="6484047" y="2377440"/>
            <a:ext cx="1371600" cy="256032"/>
          </a:xfrm>
          <a:prstGeom prst="rect">
            <a:avLst/>
          </a:prstGeom>
          <a:noFill/>
          <a:ln/>
        </p:spPr>
        <p:txBody>
          <a:bodyPr wrap="square" rtlCol="0" anchor="ctr"/>
          <a:lstStyle/>
          <a:p>
            <a:pPr indent="0" marL="0">
              <a:buNone/>
            </a:pPr>
            <a:r>
              <a:rPr lang="en-US" sz="1200" b="1" dirty="0">
                <a:solidFill>
                  <a:srgbClr val="F3EDFB"/>
                </a:solidFill>
                <a:latin typeface="Trebuchet MS" pitchFamily="34" charset="0"/>
                <a:ea typeface="Trebuchet MS" pitchFamily="34" charset="-122"/>
                <a:cs typeface="Trebuchet MS" pitchFamily="34" charset="-120"/>
              </a:rPr>
              <a:t>Closed set</a:t>
            </a:r>
            <a:endParaRPr lang="en-US" sz="1200" dirty="0"/>
          </a:p>
        </p:txBody>
      </p:sp>
      <p:sp>
        <p:nvSpPr>
          <p:cNvPr id="25" name="Text 23"/>
          <p:cNvSpPr/>
          <p:nvPr/>
        </p:nvSpPr>
        <p:spPr>
          <a:xfrm>
            <a:off x="7892223" y="2377440"/>
            <a:ext cx="3220480" cy="274320"/>
          </a:xfrm>
          <a:prstGeom prst="rect">
            <a:avLst/>
          </a:prstGeom>
          <a:noFill/>
          <a:ln/>
        </p:spPr>
        <p:txBody>
          <a:bodyPr wrap="square" rtlCol="0" anchor="t"/>
          <a:lstStyle/>
          <a:p>
            <a:pPr indent="0" marL="0">
              <a:buNone/>
            </a:pPr>
            <a:r>
              <a:rPr lang="en-US" sz="1100" dirty="0">
                <a:solidFill>
                  <a:srgbClr val="A394C8"/>
                </a:solidFill>
                <a:latin typeface="Trebuchet MS" pitchFamily="34" charset="0"/>
                <a:ea typeface="Trebuchet MS" pitchFamily="34" charset="-122"/>
                <a:cs typeface="Trebuchet MS" pitchFamily="34" charset="-120"/>
              </a:rPr>
              <a:t>It cited an object it was not given.</a:t>
            </a:r>
            <a:endParaRPr lang="en-US" sz="1100" dirty="0"/>
          </a:p>
        </p:txBody>
      </p:sp>
      <p:sp>
        <p:nvSpPr>
          <p:cNvPr id="26" name="Text 24"/>
          <p:cNvSpPr/>
          <p:nvPr/>
        </p:nvSpPr>
        <p:spPr>
          <a:xfrm>
            <a:off x="6191439" y="2807208"/>
            <a:ext cx="274320" cy="256032"/>
          </a:xfrm>
          <a:prstGeom prst="rect">
            <a:avLst/>
          </a:prstGeom>
          <a:noFill/>
          <a:ln/>
        </p:spPr>
        <p:txBody>
          <a:bodyPr wrap="square" rtlCol="0" anchor="ctr"/>
          <a:lstStyle/>
          <a:p>
            <a:pPr indent="0" marL="0">
              <a:buNone/>
            </a:pPr>
            <a:r>
              <a:rPr lang="en-US" sz="1100" dirty="0">
                <a:solidFill>
                  <a:srgbClr val="E88DA0"/>
                </a:solidFill>
                <a:latin typeface="Trebuchet MS" pitchFamily="34" charset="0"/>
                <a:ea typeface="Trebuchet MS" pitchFamily="34" charset="-122"/>
                <a:cs typeface="Trebuchet MS" pitchFamily="34" charset="-120"/>
              </a:rPr>
              <a:t>✕</a:t>
            </a:r>
            <a:endParaRPr lang="en-US" sz="1100" dirty="0"/>
          </a:p>
        </p:txBody>
      </p:sp>
      <p:sp>
        <p:nvSpPr>
          <p:cNvPr id="27" name="Text 25"/>
          <p:cNvSpPr/>
          <p:nvPr/>
        </p:nvSpPr>
        <p:spPr>
          <a:xfrm>
            <a:off x="6484047" y="2807208"/>
            <a:ext cx="1371600" cy="256032"/>
          </a:xfrm>
          <a:prstGeom prst="rect">
            <a:avLst/>
          </a:prstGeom>
          <a:noFill/>
          <a:ln/>
        </p:spPr>
        <p:txBody>
          <a:bodyPr wrap="square" rtlCol="0" anchor="ctr"/>
          <a:lstStyle/>
          <a:p>
            <a:pPr indent="0" marL="0">
              <a:buNone/>
            </a:pPr>
            <a:r>
              <a:rPr lang="en-US" sz="1200" b="1" dirty="0">
                <a:solidFill>
                  <a:srgbClr val="F3EDFB"/>
                </a:solidFill>
                <a:latin typeface="Trebuchet MS" pitchFamily="34" charset="0"/>
                <a:ea typeface="Trebuchet MS" pitchFamily="34" charset="-122"/>
                <a:cs typeface="Trebuchet MS" pitchFamily="34" charset="-120"/>
              </a:rPr>
              <a:t>Span fidelity</a:t>
            </a:r>
            <a:endParaRPr lang="en-US" sz="1200" dirty="0"/>
          </a:p>
        </p:txBody>
      </p:sp>
      <p:sp>
        <p:nvSpPr>
          <p:cNvPr id="28" name="Text 26"/>
          <p:cNvSpPr/>
          <p:nvPr/>
        </p:nvSpPr>
        <p:spPr>
          <a:xfrm>
            <a:off x="7892223" y="2807208"/>
            <a:ext cx="3220480" cy="274320"/>
          </a:xfrm>
          <a:prstGeom prst="rect">
            <a:avLst/>
          </a:prstGeom>
          <a:noFill/>
          <a:ln/>
        </p:spPr>
        <p:txBody>
          <a:bodyPr wrap="square" rtlCol="0" anchor="t"/>
          <a:lstStyle/>
          <a:p>
            <a:pPr indent="0" marL="0">
              <a:buNone/>
            </a:pPr>
            <a:r>
              <a:rPr lang="en-US" sz="1100" dirty="0">
                <a:solidFill>
                  <a:srgbClr val="A394C8"/>
                </a:solidFill>
                <a:latin typeface="Trebuchet MS" pitchFamily="34" charset="0"/>
                <a:ea typeface="Trebuchet MS" pitchFamily="34" charset="-122"/>
                <a:cs typeface="Trebuchet MS" pitchFamily="34" charset="-120"/>
              </a:rPr>
              <a:t>A finding bound to a paraphrase, not the transcript.</a:t>
            </a:r>
            <a:endParaRPr lang="en-US" sz="1100" dirty="0"/>
          </a:p>
        </p:txBody>
      </p:sp>
      <p:sp>
        <p:nvSpPr>
          <p:cNvPr id="29" name="Text 27"/>
          <p:cNvSpPr/>
          <p:nvPr/>
        </p:nvSpPr>
        <p:spPr>
          <a:xfrm>
            <a:off x="6191439" y="3236976"/>
            <a:ext cx="274320" cy="256032"/>
          </a:xfrm>
          <a:prstGeom prst="rect">
            <a:avLst/>
          </a:prstGeom>
          <a:noFill/>
          <a:ln/>
        </p:spPr>
        <p:txBody>
          <a:bodyPr wrap="square" rtlCol="0" anchor="ctr"/>
          <a:lstStyle/>
          <a:p>
            <a:pPr indent="0" marL="0">
              <a:buNone/>
            </a:pPr>
            <a:r>
              <a:rPr lang="en-US" sz="1100" dirty="0">
                <a:solidFill>
                  <a:srgbClr val="E88DA0"/>
                </a:solidFill>
                <a:latin typeface="Trebuchet MS" pitchFamily="34" charset="0"/>
                <a:ea typeface="Trebuchet MS" pitchFamily="34" charset="-122"/>
                <a:cs typeface="Trebuchet MS" pitchFamily="34" charset="-120"/>
              </a:rPr>
              <a:t>✕</a:t>
            </a:r>
            <a:endParaRPr lang="en-US" sz="1100" dirty="0"/>
          </a:p>
        </p:txBody>
      </p:sp>
      <p:sp>
        <p:nvSpPr>
          <p:cNvPr id="30" name="Text 28"/>
          <p:cNvSpPr/>
          <p:nvPr/>
        </p:nvSpPr>
        <p:spPr>
          <a:xfrm>
            <a:off x="6484047" y="3236976"/>
            <a:ext cx="1371600" cy="256032"/>
          </a:xfrm>
          <a:prstGeom prst="rect">
            <a:avLst/>
          </a:prstGeom>
          <a:noFill/>
          <a:ln/>
        </p:spPr>
        <p:txBody>
          <a:bodyPr wrap="square" rtlCol="0" anchor="ctr"/>
          <a:lstStyle/>
          <a:p>
            <a:pPr indent="0" marL="0">
              <a:buNone/>
            </a:pPr>
            <a:r>
              <a:rPr lang="en-US" sz="1200" b="1" dirty="0">
                <a:solidFill>
                  <a:srgbClr val="F3EDFB"/>
                </a:solidFill>
                <a:latin typeface="Trebuchet MS" pitchFamily="34" charset="0"/>
                <a:ea typeface="Trebuchet MS" pitchFamily="34" charset="-122"/>
                <a:cs typeface="Trebuchet MS" pitchFamily="34" charset="-120"/>
              </a:rPr>
              <a:t>Classify</a:t>
            </a:r>
            <a:endParaRPr lang="en-US" sz="1200" dirty="0"/>
          </a:p>
        </p:txBody>
      </p:sp>
      <p:sp>
        <p:nvSpPr>
          <p:cNvPr id="31" name="Text 29"/>
          <p:cNvSpPr/>
          <p:nvPr/>
        </p:nvSpPr>
        <p:spPr>
          <a:xfrm>
            <a:off x="7892223" y="3236976"/>
            <a:ext cx="3220480" cy="274320"/>
          </a:xfrm>
          <a:prstGeom prst="rect">
            <a:avLst/>
          </a:prstGeom>
          <a:noFill/>
          <a:ln/>
        </p:spPr>
        <p:txBody>
          <a:bodyPr wrap="square" rtlCol="0" anchor="t"/>
          <a:lstStyle/>
          <a:p>
            <a:pPr indent="0" marL="0">
              <a:buNone/>
            </a:pPr>
            <a:r>
              <a:rPr lang="en-US" sz="1100" dirty="0">
                <a:solidFill>
                  <a:srgbClr val="A394C8"/>
                </a:solidFill>
                <a:latin typeface="Trebuchet MS" pitchFamily="34" charset="0"/>
                <a:ea typeface="Trebuchet MS" pitchFamily="34" charset="-122"/>
                <a:cs typeface="Trebuchet MS" pitchFamily="34" charset="-120"/>
              </a:rPr>
              <a:t>A determination returned from a coaching turn.</a:t>
            </a:r>
            <a:endParaRPr lang="en-US" sz="1100" dirty="0"/>
          </a:p>
        </p:txBody>
      </p:sp>
      <p:sp>
        <p:nvSpPr>
          <p:cNvPr id="32" name="Text 30"/>
          <p:cNvSpPr/>
          <p:nvPr/>
        </p:nvSpPr>
        <p:spPr>
          <a:xfrm>
            <a:off x="6191439" y="3666744"/>
            <a:ext cx="274320" cy="256032"/>
          </a:xfrm>
          <a:prstGeom prst="rect">
            <a:avLst/>
          </a:prstGeom>
          <a:noFill/>
          <a:ln/>
        </p:spPr>
        <p:txBody>
          <a:bodyPr wrap="square" rtlCol="0" anchor="ctr"/>
          <a:lstStyle/>
          <a:p>
            <a:pPr indent="0" marL="0">
              <a:buNone/>
            </a:pPr>
            <a:r>
              <a:rPr lang="en-US" sz="1100" dirty="0">
                <a:solidFill>
                  <a:srgbClr val="E88DA0"/>
                </a:solidFill>
                <a:latin typeface="Trebuchet MS" pitchFamily="34" charset="0"/>
                <a:ea typeface="Trebuchet MS" pitchFamily="34" charset="-122"/>
                <a:cs typeface="Trebuchet MS" pitchFamily="34" charset="-120"/>
              </a:rPr>
              <a:t>✕</a:t>
            </a:r>
            <a:endParaRPr lang="en-US" sz="1100" dirty="0"/>
          </a:p>
        </p:txBody>
      </p:sp>
      <p:sp>
        <p:nvSpPr>
          <p:cNvPr id="33" name="Text 31"/>
          <p:cNvSpPr/>
          <p:nvPr/>
        </p:nvSpPr>
        <p:spPr>
          <a:xfrm>
            <a:off x="6484047" y="3666744"/>
            <a:ext cx="1371600" cy="256032"/>
          </a:xfrm>
          <a:prstGeom prst="rect">
            <a:avLst/>
          </a:prstGeom>
          <a:noFill/>
          <a:ln/>
        </p:spPr>
        <p:txBody>
          <a:bodyPr wrap="square" rtlCol="0" anchor="ctr"/>
          <a:lstStyle/>
          <a:p>
            <a:pPr indent="0" marL="0">
              <a:buNone/>
            </a:pPr>
            <a:r>
              <a:rPr lang="en-US" sz="1200" b="1" dirty="0">
                <a:solidFill>
                  <a:srgbClr val="F3EDFB"/>
                </a:solidFill>
                <a:latin typeface="Trebuchet MS" pitchFamily="34" charset="0"/>
                <a:ea typeface="Trebuchet MS" pitchFamily="34" charset="-122"/>
                <a:cs typeface="Trebuchet MS" pitchFamily="34" charset="-120"/>
              </a:rPr>
              <a:t>Ladder step</a:t>
            </a:r>
            <a:endParaRPr lang="en-US" sz="1200" dirty="0"/>
          </a:p>
        </p:txBody>
      </p:sp>
      <p:sp>
        <p:nvSpPr>
          <p:cNvPr id="34" name="Text 32"/>
          <p:cNvSpPr/>
          <p:nvPr/>
        </p:nvSpPr>
        <p:spPr>
          <a:xfrm>
            <a:off x="7892223" y="3666744"/>
            <a:ext cx="3220480" cy="274320"/>
          </a:xfrm>
          <a:prstGeom prst="rect">
            <a:avLst/>
          </a:prstGeom>
          <a:noFill/>
          <a:ln/>
        </p:spPr>
        <p:txBody>
          <a:bodyPr wrap="square" rtlCol="0" anchor="t"/>
          <a:lstStyle/>
          <a:p>
            <a:pPr indent="0" marL="0">
              <a:buNone/>
            </a:pPr>
            <a:r>
              <a:rPr lang="en-US" sz="1100" dirty="0">
                <a:solidFill>
                  <a:srgbClr val="A394C8"/>
                </a:solidFill>
                <a:latin typeface="Trebuchet MS" pitchFamily="34" charset="0"/>
                <a:ea typeface="Trebuchet MS" pitchFamily="34" charset="-122"/>
                <a:cs typeface="Trebuchet MS" pitchFamily="34" charset="-120"/>
              </a:rPr>
              <a:t>A jumped rung — a rehearsal that skips the middle is an ambush.</a:t>
            </a:r>
            <a:endParaRPr lang="en-US" sz="1100" dirty="0"/>
          </a:p>
        </p:txBody>
      </p:sp>
      <p:sp>
        <p:nvSpPr>
          <p:cNvPr id="35" name="Text 33"/>
          <p:cNvSpPr/>
          <p:nvPr/>
        </p:nvSpPr>
        <p:spPr>
          <a:xfrm>
            <a:off x="6191439" y="4096512"/>
            <a:ext cx="274320" cy="256032"/>
          </a:xfrm>
          <a:prstGeom prst="rect">
            <a:avLst/>
          </a:prstGeom>
          <a:noFill/>
          <a:ln/>
        </p:spPr>
        <p:txBody>
          <a:bodyPr wrap="square" rtlCol="0" anchor="ctr"/>
          <a:lstStyle/>
          <a:p>
            <a:pPr indent="0" marL="0">
              <a:buNone/>
            </a:pPr>
            <a:r>
              <a:rPr lang="en-US" sz="1100" dirty="0">
                <a:solidFill>
                  <a:srgbClr val="E88DA0"/>
                </a:solidFill>
                <a:latin typeface="Trebuchet MS" pitchFamily="34" charset="0"/>
                <a:ea typeface="Trebuchet MS" pitchFamily="34" charset="-122"/>
                <a:cs typeface="Trebuchet MS" pitchFamily="34" charset="-120"/>
              </a:rPr>
              <a:t>✕</a:t>
            </a:r>
            <a:endParaRPr lang="en-US" sz="1100" dirty="0"/>
          </a:p>
        </p:txBody>
      </p:sp>
      <p:sp>
        <p:nvSpPr>
          <p:cNvPr id="36" name="Text 34"/>
          <p:cNvSpPr/>
          <p:nvPr/>
        </p:nvSpPr>
        <p:spPr>
          <a:xfrm>
            <a:off x="6484047" y="4096512"/>
            <a:ext cx="1371600" cy="256032"/>
          </a:xfrm>
          <a:prstGeom prst="rect">
            <a:avLst/>
          </a:prstGeom>
          <a:noFill/>
          <a:ln/>
        </p:spPr>
        <p:txBody>
          <a:bodyPr wrap="square" rtlCol="0" anchor="ctr"/>
          <a:lstStyle/>
          <a:p>
            <a:pPr indent="0" marL="0">
              <a:buNone/>
            </a:pPr>
            <a:r>
              <a:rPr lang="en-US" sz="1200" b="1" dirty="0">
                <a:solidFill>
                  <a:srgbClr val="F3EDFB"/>
                </a:solidFill>
                <a:latin typeface="Trebuchet MS" pitchFamily="34" charset="0"/>
                <a:ea typeface="Trebuchet MS" pitchFamily="34" charset="-122"/>
                <a:cs typeface="Trebuchet MS" pitchFamily="34" charset="-120"/>
              </a:rPr>
              <a:t>Ceiling</a:t>
            </a:r>
            <a:endParaRPr lang="en-US" sz="1200" dirty="0"/>
          </a:p>
        </p:txBody>
      </p:sp>
      <p:sp>
        <p:nvSpPr>
          <p:cNvPr id="37" name="Text 35"/>
          <p:cNvSpPr/>
          <p:nvPr/>
        </p:nvSpPr>
        <p:spPr>
          <a:xfrm>
            <a:off x="7892223" y="4096512"/>
            <a:ext cx="3220480" cy="274320"/>
          </a:xfrm>
          <a:prstGeom prst="rect">
            <a:avLst/>
          </a:prstGeom>
          <a:noFill/>
          <a:ln/>
        </p:spPr>
        <p:txBody>
          <a:bodyPr wrap="square" rtlCol="0" anchor="t"/>
          <a:lstStyle/>
          <a:p>
            <a:pPr indent="0" marL="0">
              <a:buNone/>
            </a:pPr>
            <a:r>
              <a:rPr lang="en-US" sz="1100" dirty="0">
                <a:solidFill>
                  <a:srgbClr val="A394C8"/>
                </a:solidFill>
                <a:latin typeface="Trebuchet MS" pitchFamily="34" charset="0"/>
                <a:ea typeface="Trebuchet MS" pitchFamily="34" charset="-122"/>
                <a:cs typeface="Trebuchet MS" pitchFamily="34" charset="-120"/>
              </a:rPr>
              <a:t>Pressure above what was approved for this cohort.</a:t>
            </a:r>
            <a:endParaRPr lang="en-US" sz="1100" dirty="0"/>
          </a:p>
        </p:txBody>
      </p:sp>
      <p:sp>
        <p:nvSpPr>
          <p:cNvPr id="38" name="Text 36"/>
          <p:cNvSpPr/>
          <p:nvPr/>
        </p:nvSpPr>
        <p:spPr>
          <a:xfrm>
            <a:off x="6191439" y="4526280"/>
            <a:ext cx="274320" cy="256032"/>
          </a:xfrm>
          <a:prstGeom prst="rect">
            <a:avLst/>
          </a:prstGeom>
          <a:noFill/>
          <a:ln/>
        </p:spPr>
        <p:txBody>
          <a:bodyPr wrap="square" rtlCol="0" anchor="ctr"/>
          <a:lstStyle/>
          <a:p>
            <a:pPr indent="0" marL="0">
              <a:buNone/>
            </a:pPr>
            <a:r>
              <a:rPr lang="en-US" sz="1100" dirty="0">
                <a:solidFill>
                  <a:srgbClr val="E88DA0"/>
                </a:solidFill>
                <a:latin typeface="Trebuchet MS" pitchFamily="34" charset="0"/>
                <a:ea typeface="Trebuchet MS" pitchFamily="34" charset="-122"/>
                <a:cs typeface="Trebuchet MS" pitchFamily="34" charset="-120"/>
              </a:rPr>
              <a:t>✕</a:t>
            </a:r>
            <a:endParaRPr lang="en-US" sz="1100" dirty="0"/>
          </a:p>
        </p:txBody>
      </p:sp>
      <p:sp>
        <p:nvSpPr>
          <p:cNvPr id="39" name="Text 37"/>
          <p:cNvSpPr/>
          <p:nvPr/>
        </p:nvSpPr>
        <p:spPr>
          <a:xfrm>
            <a:off x="6484047" y="4526280"/>
            <a:ext cx="1371600" cy="256032"/>
          </a:xfrm>
          <a:prstGeom prst="rect">
            <a:avLst/>
          </a:prstGeom>
          <a:noFill/>
          <a:ln/>
        </p:spPr>
        <p:txBody>
          <a:bodyPr wrap="square" rtlCol="0" anchor="ctr"/>
          <a:lstStyle/>
          <a:p>
            <a:pPr indent="0" marL="0">
              <a:buNone/>
            </a:pPr>
            <a:r>
              <a:rPr lang="en-US" sz="1200" b="1" dirty="0">
                <a:solidFill>
                  <a:srgbClr val="F3EDFB"/>
                </a:solidFill>
                <a:latin typeface="Trebuchet MS" pitchFamily="34" charset="0"/>
                <a:ea typeface="Trebuchet MS" pitchFamily="34" charset="-122"/>
                <a:cs typeface="Trebuchet MS" pitchFamily="34" charset="-120"/>
              </a:rPr>
              <a:t>Refusal</a:t>
            </a:r>
            <a:endParaRPr lang="en-US" sz="1200" dirty="0"/>
          </a:p>
        </p:txBody>
      </p:sp>
      <p:sp>
        <p:nvSpPr>
          <p:cNvPr id="40" name="Text 38"/>
          <p:cNvSpPr/>
          <p:nvPr/>
        </p:nvSpPr>
        <p:spPr>
          <a:xfrm>
            <a:off x="7892223" y="4526280"/>
            <a:ext cx="3220480" cy="274320"/>
          </a:xfrm>
          <a:prstGeom prst="rect">
            <a:avLst/>
          </a:prstGeom>
          <a:noFill/>
          <a:ln/>
        </p:spPr>
        <p:txBody>
          <a:bodyPr wrap="square" rtlCol="0" anchor="t"/>
          <a:lstStyle/>
          <a:p>
            <a:pPr indent="0" marL="0">
              <a:buNone/>
            </a:pPr>
            <a:r>
              <a:rPr lang="en-US" sz="1100" dirty="0">
                <a:solidFill>
                  <a:srgbClr val="A394C8"/>
                </a:solidFill>
                <a:latin typeface="Trebuchet MS" pitchFamily="34" charset="0"/>
                <a:ea typeface="Trebuchet MS" pitchFamily="34" charset="-122"/>
                <a:cs typeface="Trebuchet MS" pitchFamily="34" charset="-120"/>
              </a:rPr>
              <a:t>A high-risk turn that answered instead of refusing.</a:t>
            </a:r>
            <a:endParaRPr lang="en-US" sz="1100" dirty="0"/>
          </a:p>
        </p:txBody>
      </p:sp>
      <p:sp>
        <p:nvSpPr>
          <p:cNvPr id="41" name="Text 39"/>
          <p:cNvSpPr/>
          <p:nvPr/>
        </p:nvSpPr>
        <p:spPr>
          <a:xfrm>
            <a:off x="713232" y="5230368"/>
            <a:ext cx="10765231" cy="365760"/>
          </a:xfrm>
          <a:prstGeom prst="rect">
            <a:avLst/>
          </a:prstGeom>
          <a:noFill/>
          <a:ln/>
        </p:spPr>
        <p:txBody>
          <a:bodyPr wrap="square" rtlCol="0" anchor="ctr"/>
          <a:lstStyle/>
          <a:p>
            <a:pPr indent="0" marL="0">
              <a:buNone/>
            </a:pPr>
            <a:r>
              <a:rPr lang="en-US" sz="1200" i="1" dirty="0">
                <a:solidFill>
                  <a:srgbClr val="C7B3F0"/>
                </a:solidFill>
                <a:latin typeface="Trebuchet MS" pitchFamily="34" charset="0"/>
                <a:ea typeface="Trebuchet MS" pitchFamily="34" charset="-122"/>
                <a:cs typeface="Trebuchet MS" pitchFamily="34" charset="-120"/>
              </a:rPr>
              <a:t>In a retrieval architecture the first of these is invisible, because everything in the index is fair game.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12</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BOUNDED ROLE-PLAY</a:t>
            </a:r>
            <a:endParaRPr lang="en-US" sz="1100" dirty="0"/>
          </a:p>
        </p:txBody>
      </p:sp>
      <p:sp>
        <p:nvSpPr>
          <p:cNvPr id="6" name="Text 4"/>
          <p:cNvSpPr/>
          <p:nvPr/>
        </p:nvSpPr>
        <p:spPr>
          <a:xfrm>
            <a:off x="713232" y="786384"/>
            <a:ext cx="10765231" cy="1097280"/>
          </a:xfrm>
          <a:prstGeom prst="rect">
            <a:avLst/>
          </a:prstGeom>
          <a:noFill/>
          <a:ln/>
        </p:spPr>
        <p:txBody>
          <a:bodyPr wrap="square" rtlCol="0" anchor="t"/>
          <a:lstStyle/>
          <a:p>
            <a:pPr indent="0" marL="0">
              <a:buNone/>
            </a:pPr>
            <a:r>
              <a:rPr lang="en-US" sz="2600" b="1" dirty="0">
                <a:solidFill>
                  <a:srgbClr val="F3EDFB"/>
                </a:solidFill>
                <a:latin typeface="Trebuchet MS" pitchFamily="34" charset="0"/>
                <a:ea typeface="Trebuchet MS" pitchFamily="34" charset="-122"/>
                <a:cs typeface="Trebuchet MS" pitchFamily="34" charset="-120"/>
              </a:rPr>
              <a:t>The persona may choose among approved branches.</a:t>
            </a:r>
            <a:endParaRPr lang="en-US" sz="2600" dirty="0"/>
          </a:p>
          <a:p>
            <a:pPr indent="0" marL="0">
              <a:buNone/>
            </a:pPr>
            <a:r>
              <a:rPr lang="en-US" sz="2600" b="1" dirty="0">
                <a:solidFill>
                  <a:srgbClr val="F3EDFB"/>
                </a:solidFill>
                <a:latin typeface="Trebuchet MS" pitchFamily="34" charset="0"/>
                <a:ea typeface="Trebuchet MS" pitchFamily="34" charset="-122"/>
                <a:cs typeface="Trebuchet MS" pitchFamily="34" charset="-120"/>
              </a:rPr>
              <a:t>It may not leave the graph.</a:t>
            </a:r>
            <a:endParaRPr lang="en-US" sz="2600" dirty="0"/>
          </a:p>
        </p:txBody>
      </p:sp>
      <p:sp>
        <p:nvSpPr>
          <p:cNvPr id="7" name="Shape 5"/>
          <p:cNvSpPr/>
          <p:nvPr/>
        </p:nvSpPr>
        <p:spPr>
          <a:xfrm>
            <a:off x="713232" y="2148840"/>
            <a:ext cx="10765231" cy="377464"/>
          </a:xfrm>
          <a:prstGeom prst="rect">
            <a:avLst/>
          </a:prstGeom>
          <a:solidFill>
            <a:srgbClr val="241B52"/>
          </a:solidFill>
          <a:ln/>
        </p:spPr>
      </p:sp>
      <p:sp>
        <p:nvSpPr>
          <p:cNvPr id="8" name="Text 6"/>
          <p:cNvSpPr/>
          <p:nvPr/>
        </p:nvSpPr>
        <p:spPr>
          <a:xfrm>
            <a:off x="841248" y="2148840"/>
            <a:ext cx="3767328" cy="377464"/>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The persona asks to…</a:t>
            </a:r>
            <a:endParaRPr lang="en-US" sz="950" dirty="0"/>
          </a:p>
        </p:txBody>
      </p:sp>
      <p:sp>
        <p:nvSpPr>
          <p:cNvPr id="9" name="Text 7"/>
          <p:cNvSpPr/>
          <p:nvPr/>
        </p:nvSpPr>
        <p:spPr>
          <a:xfrm>
            <a:off x="4864608" y="2148840"/>
            <a:ext cx="6483096" cy="377464"/>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The engine…</a:t>
            </a:r>
            <a:endParaRPr lang="en-US" sz="950" dirty="0"/>
          </a:p>
        </p:txBody>
      </p:sp>
      <p:sp>
        <p:nvSpPr>
          <p:cNvPr id="10" name="Text 8"/>
          <p:cNvSpPr/>
          <p:nvPr/>
        </p:nvSpPr>
        <p:spPr>
          <a:xfrm>
            <a:off x="841248" y="2526304"/>
            <a:ext cx="3767328" cy="43891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take an approved transition</a:t>
            </a:r>
            <a:endParaRPr lang="en-US" sz="1150" dirty="0"/>
          </a:p>
        </p:txBody>
      </p:sp>
      <p:sp>
        <p:nvSpPr>
          <p:cNvPr id="11" name="Text 9"/>
          <p:cNvSpPr/>
          <p:nvPr/>
        </p:nvSpPr>
        <p:spPr>
          <a:xfrm>
            <a:off x="4864608" y="2526304"/>
            <a:ext cx="6483096" cy="438912"/>
          </a:xfrm>
          <a:prstGeom prst="rect">
            <a:avLst/>
          </a:prstGeom>
          <a:noFill/>
          <a:ln/>
        </p:spPr>
        <p:txBody>
          <a:bodyPr wrap="square" rtlCol="0" anchor="ctr"/>
          <a:lstStyle/>
          <a:p>
            <a:pPr indent="0" marL="0">
              <a:lnSpc>
                <a:spcPts val="1400"/>
              </a:lnSpc>
              <a:buNone/>
            </a:pPr>
            <a:r>
              <a:rPr lang="en-US" sz="1150" dirty="0">
                <a:solidFill>
                  <a:srgbClr val="8FD3BA"/>
                </a:solidFill>
                <a:latin typeface="Trebuchet MS" pitchFamily="34" charset="0"/>
                <a:ea typeface="Trebuchet MS" pitchFamily="34" charset="-122"/>
                <a:cs typeface="Trebuchet MS" pitchFamily="34" charset="-120"/>
              </a:rPr>
              <a:t>allows it, and speaks the authored line at that node</a:t>
            </a:r>
            <a:endParaRPr lang="en-US" sz="1150" dirty="0"/>
          </a:p>
        </p:txBody>
      </p:sp>
      <p:sp>
        <p:nvSpPr>
          <p:cNvPr id="12" name="Shape 10"/>
          <p:cNvSpPr/>
          <p:nvPr/>
        </p:nvSpPr>
        <p:spPr>
          <a:xfrm>
            <a:off x="713232" y="2965216"/>
            <a:ext cx="10765231" cy="438912"/>
          </a:xfrm>
          <a:prstGeom prst="rect">
            <a:avLst/>
          </a:prstGeom>
          <a:solidFill>
            <a:srgbClr val="150F35"/>
          </a:solidFill>
          <a:ln/>
        </p:spPr>
      </p:sp>
      <p:sp>
        <p:nvSpPr>
          <p:cNvPr id="13" name="Text 11"/>
          <p:cNvSpPr/>
          <p:nvPr/>
        </p:nvSpPr>
        <p:spPr>
          <a:xfrm>
            <a:off x="841248" y="2965216"/>
            <a:ext cx="3767328" cy="43891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take a branch not in the graph</a:t>
            </a:r>
            <a:endParaRPr lang="en-US" sz="1150" dirty="0"/>
          </a:p>
        </p:txBody>
      </p:sp>
      <p:sp>
        <p:nvSpPr>
          <p:cNvPr id="14" name="Text 12"/>
          <p:cNvSpPr/>
          <p:nvPr/>
        </p:nvSpPr>
        <p:spPr>
          <a:xfrm>
            <a:off x="4864608" y="2965216"/>
            <a:ext cx="6483096" cy="438912"/>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refuses — the rung holds</a:t>
            </a:r>
            <a:endParaRPr lang="en-US" sz="1150" dirty="0"/>
          </a:p>
        </p:txBody>
      </p:sp>
      <p:sp>
        <p:nvSpPr>
          <p:cNvPr id="15" name="Text 13"/>
          <p:cNvSpPr/>
          <p:nvPr/>
        </p:nvSpPr>
        <p:spPr>
          <a:xfrm>
            <a:off x="841248" y="3404128"/>
            <a:ext cx="3767328" cy="43891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speak a line it composed itself</a:t>
            </a:r>
            <a:endParaRPr lang="en-US" sz="1150" dirty="0"/>
          </a:p>
        </p:txBody>
      </p:sp>
      <p:sp>
        <p:nvSpPr>
          <p:cNvPr id="16" name="Text 14"/>
          <p:cNvSpPr/>
          <p:nvPr/>
        </p:nvSpPr>
        <p:spPr>
          <a:xfrm>
            <a:off x="4864608" y="3404128"/>
            <a:ext cx="6483096" cy="438912"/>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refuses — it chooses among authored strings, it does not write the adversary's words</a:t>
            </a:r>
            <a:endParaRPr lang="en-US" sz="1150" dirty="0"/>
          </a:p>
        </p:txBody>
      </p:sp>
      <p:sp>
        <p:nvSpPr>
          <p:cNvPr id="17" name="Shape 15"/>
          <p:cNvSpPr/>
          <p:nvPr/>
        </p:nvSpPr>
        <p:spPr>
          <a:xfrm>
            <a:off x="713232" y="3843040"/>
            <a:ext cx="10765231" cy="438912"/>
          </a:xfrm>
          <a:prstGeom prst="rect">
            <a:avLst/>
          </a:prstGeom>
          <a:solidFill>
            <a:srgbClr val="150F35"/>
          </a:solidFill>
          <a:ln/>
        </p:spPr>
      </p:sp>
      <p:sp>
        <p:nvSpPr>
          <p:cNvPr id="18" name="Text 16"/>
          <p:cNvSpPr/>
          <p:nvPr/>
        </p:nvSpPr>
        <p:spPr>
          <a:xfrm>
            <a:off x="841248" y="3843040"/>
            <a:ext cx="3767328" cy="43891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climb above the manifest's ceiling</a:t>
            </a:r>
            <a:endParaRPr lang="en-US" sz="1150" dirty="0"/>
          </a:p>
        </p:txBody>
      </p:sp>
      <p:sp>
        <p:nvSpPr>
          <p:cNvPr id="19" name="Text 17"/>
          <p:cNvSpPr/>
          <p:nvPr/>
        </p:nvSpPr>
        <p:spPr>
          <a:xfrm>
            <a:off x="4864608" y="3843040"/>
            <a:ext cx="6483096" cy="438912"/>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refuses — the effective ceiling is the lower of scenario and manifest</a:t>
            </a:r>
            <a:endParaRPr lang="en-US" sz="1150" dirty="0"/>
          </a:p>
        </p:txBody>
      </p:sp>
      <p:sp>
        <p:nvSpPr>
          <p:cNvPr id="20" name="Text 18"/>
          <p:cNvSpPr/>
          <p:nvPr/>
        </p:nvSpPr>
        <p:spPr>
          <a:xfrm>
            <a:off x="841248" y="4281952"/>
            <a:ext cx="3767328" cy="43891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continue after distress is detected</a:t>
            </a:r>
            <a:endParaRPr lang="en-US" sz="1150" dirty="0"/>
          </a:p>
        </p:txBody>
      </p:sp>
      <p:sp>
        <p:nvSpPr>
          <p:cNvPr id="21" name="Text 19"/>
          <p:cNvSpPr/>
          <p:nvPr/>
        </p:nvSpPr>
        <p:spPr>
          <a:xfrm>
            <a:off x="4864608" y="4281952"/>
            <a:ext cx="6483096" cy="438912"/>
          </a:xfrm>
          <a:prstGeom prst="rect">
            <a:avLst/>
          </a:prstGeom>
          <a:noFill/>
          <a:ln/>
        </p:spPr>
        <p:txBody>
          <a:bodyPr wrap="square" rtlCol="0" anchor="ctr"/>
          <a:lstStyle/>
          <a:p>
            <a:pPr indent="0" marL="0">
              <a:lnSpc>
                <a:spcPts val="1400"/>
              </a:lnSpc>
              <a:buNone/>
            </a:pPr>
            <a:r>
              <a:rPr lang="en-US" sz="1150" dirty="0">
                <a:solidFill>
                  <a:srgbClr val="EBC98C"/>
                </a:solidFill>
                <a:latin typeface="Trebuchet MS" pitchFamily="34" charset="0"/>
                <a:ea typeface="Trebuchet MS" pitchFamily="34" charset="-122"/>
                <a:cs typeface="Trebuchet MS" pitchFamily="34" charset="-120"/>
              </a:rPr>
              <a:t>exits to safety, regardless of rung or learning objective</a:t>
            </a:r>
            <a:endParaRPr lang="en-US" sz="1150" dirty="0"/>
          </a:p>
        </p:txBody>
      </p:sp>
      <p:sp>
        <p:nvSpPr>
          <p:cNvPr id="22" name="Shape 20"/>
          <p:cNvSpPr/>
          <p:nvPr/>
        </p:nvSpPr>
        <p:spPr>
          <a:xfrm>
            <a:off x="713232" y="4720864"/>
            <a:ext cx="10765231" cy="438912"/>
          </a:xfrm>
          <a:prstGeom prst="rect">
            <a:avLst/>
          </a:prstGeom>
          <a:solidFill>
            <a:srgbClr val="150F35"/>
          </a:solidFill>
          <a:ln/>
        </p:spPr>
      </p:sp>
      <p:sp>
        <p:nvSpPr>
          <p:cNvPr id="23" name="Text 21"/>
          <p:cNvSpPr/>
          <p:nvPr/>
        </p:nvSpPr>
        <p:spPr>
          <a:xfrm>
            <a:off x="841248" y="4720864"/>
            <a:ext cx="3767328" cy="43891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escalate after the learner held</a:t>
            </a:r>
            <a:endParaRPr lang="en-US" sz="1150" dirty="0"/>
          </a:p>
        </p:txBody>
      </p:sp>
      <p:sp>
        <p:nvSpPr>
          <p:cNvPr id="24" name="Text 22"/>
          <p:cNvSpPr/>
          <p:nvPr/>
        </p:nvSpPr>
        <p:spPr>
          <a:xfrm>
            <a:off x="4864608" y="4720864"/>
            <a:ext cx="6483096" cy="438912"/>
          </a:xfrm>
          <a:prstGeom prst="rect">
            <a:avLst/>
          </a:prstGeom>
          <a:noFill/>
          <a:ln/>
        </p:spPr>
        <p:txBody>
          <a:bodyPr wrap="square" rtlCol="0" anchor="ctr"/>
          <a:lstStyle/>
          <a:p>
            <a:pPr indent="0" marL="0">
              <a:lnSpc>
                <a:spcPts val="1400"/>
              </a:lnSpc>
              <a:buNone/>
            </a:pPr>
            <a:r>
              <a:rPr lang="en-US" sz="1150" dirty="0">
                <a:solidFill>
                  <a:srgbClr val="EBC98C"/>
                </a:solidFill>
                <a:latin typeface="Trebuchet MS" pitchFamily="34" charset="0"/>
                <a:ea typeface="Trebuchet MS" pitchFamily="34" charset="-122"/>
                <a:cs typeface="Trebuchet MS" pitchFamily="34" charset="-120"/>
              </a:rPr>
              <a:t>exits to safety — escalating past a successful resistance teaches that resisting does not work</a:t>
            </a:r>
            <a:endParaRPr lang="en-US" sz="1150" dirty="0"/>
          </a:p>
        </p:txBody>
      </p:sp>
      <p:sp>
        <p:nvSpPr>
          <p:cNvPr id="25" name="Text 23"/>
          <p:cNvSpPr/>
          <p:nvPr/>
        </p:nvSpPr>
        <p:spPr>
          <a:xfrm>
            <a:off x="713232" y="5577840"/>
            <a:ext cx="10119317" cy="457200"/>
          </a:xfrm>
          <a:prstGeom prst="rect">
            <a:avLst/>
          </a:prstGeom>
          <a:noFill/>
          <a:ln/>
        </p:spPr>
        <p:txBody>
          <a:bodyPr wrap="square" rtlCol="0" anchor="ctr"/>
          <a:lstStyle/>
          <a:p>
            <a:pPr indent="0" marL="0">
              <a:lnSpc>
                <a:spcPts val="1800"/>
              </a:lnSpc>
              <a:buNone/>
            </a:pPr>
            <a:r>
              <a:rPr lang="en-US" sz="1200" dirty="0">
                <a:solidFill>
                  <a:srgbClr val="A394C8"/>
                </a:solidFill>
                <a:latin typeface="Trebuchet MS" pitchFamily="34" charset="0"/>
                <a:ea typeface="Trebuchet MS" pitchFamily="34" charset="-122"/>
                <a:cs typeface="Trebuchet MS" pitchFamily="34" charset="-120"/>
              </a:rPr>
              <a:t>That last row is a design decision rather than a safety minimum, and it is the one worth arguing about: it costs a harder test in exchange for not teaching the opposite of the learning objective.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13</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GOVERNED KNOWLEDGE</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Two intakes. Neither one alone produces a rehearsal.</a:t>
            </a:r>
            <a:endParaRPr lang="en-US" sz="3400" dirty="0"/>
          </a:p>
        </p:txBody>
      </p:sp>
      <p:sp>
        <p:nvSpPr>
          <p:cNvPr id="7" name="Shape 5"/>
          <p:cNvSpPr/>
          <p:nvPr/>
        </p:nvSpPr>
        <p:spPr>
          <a:xfrm>
            <a:off x="713232" y="1920240"/>
            <a:ext cx="5108296" cy="2011680"/>
          </a:xfrm>
          <a:prstGeom prst="roundRect">
            <a:avLst>
              <a:gd name="adj" fmla="val 2727"/>
            </a:avLst>
          </a:prstGeom>
          <a:solidFill>
            <a:srgbClr val="1A1338"/>
          </a:solidFill>
          <a:ln w="12700">
            <a:solidFill>
              <a:srgbClr val="332758"/>
            </a:solidFill>
            <a:prstDash val="solid"/>
          </a:ln>
        </p:spPr>
      </p:sp>
      <p:sp>
        <p:nvSpPr>
          <p:cNvPr id="8" name="Shape 6"/>
          <p:cNvSpPr/>
          <p:nvPr/>
        </p:nvSpPr>
        <p:spPr>
          <a:xfrm>
            <a:off x="713232" y="1920240"/>
            <a:ext cx="41148" cy="2011680"/>
          </a:xfrm>
          <a:prstGeom prst="rect">
            <a:avLst/>
          </a:prstGeom>
          <a:solidFill>
            <a:srgbClr val="E88DA0"/>
          </a:solidFill>
          <a:ln/>
        </p:spPr>
      </p:sp>
      <p:sp>
        <p:nvSpPr>
          <p:cNvPr id="9" name="Text 7"/>
          <p:cNvSpPr/>
          <p:nvPr/>
        </p:nvSpPr>
        <p:spPr>
          <a:xfrm>
            <a:off x="1024128" y="2121408"/>
            <a:ext cx="4559656" cy="292608"/>
          </a:xfrm>
          <a:prstGeom prst="rect">
            <a:avLst/>
          </a:prstGeom>
          <a:noFill/>
          <a:ln/>
        </p:spPr>
        <p:txBody>
          <a:bodyPr wrap="square" rtlCol="0" anchor="ctr"/>
          <a:lstStyle/>
          <a:p>
            <a:pPr indent="0" marL="0">
              <a:buNone/>
            </a:pPr>
            <a:r>
              <a:rPr lang="en-US" sz="1400" b="1" spc="200" kern="0" dirty="0">
                <a:solidFill>
                  <a:srgbClr val="E88DA0"/>
                </a:solidFill>
                <a:latin typeface="Trebuchet MS" pitchFamily="34" charset="0"/>
                <a:ea typeface="Trebuchet MS" pitchFamily="34" charset="-122"/>
                <a:cs typeface="Trebuchet MS" pitchFamily="34" charset="-120"/>
              </a:rPr>
              <a:t>THREAT SIGNAL</a:t>
            </a:r>
            <a:endParaRPr lang="en-US" sz="1400" dirty="0"/>
          </a:p>
        </p:txBody>
      </p:sp>
      <p:sp>
        <p:nvSpPr>
          <p:cNvPr id="10" name="Text 8"/>
          <p:cNvSpPr/>
          <p:nvPr/>
        </p:nvSpPr>
        <p:spPr>
          <a:xfrm>
            <a:off x="1024128" y="2450592"/>
            <a:ext cx="4559656" cy="274320"/>
          </a:xfrm>
          <a:prstGeom prst="rect">
            <a:avLst/>
          </a:prstGeom>
          <a:noFill/>
          <a:ln/>
        </p:spPr>
        <p:txBody>
          <a:bodyPr wrap="square" rtlCol="0" anchor="ctr"/>
          <a:lstStyle/>
          <a:p>
            <a:pPr indent="0" marL="0">
              <a:buNone/>
            </a:pPr>
            <a:r>
              <a:rPr lang="en-US" sz="1100" dirty="0">
                <a:solidFill>
                  <a:srgbClr val="7A6AA8"/>
                </a:solidFill>
                <a:latin typeface="Trebuchet MS" pitchFamily="34" charset="0"/>
                <a:ea typeface="Trebuchet MS" pitchFamily="34" charset="-122"/>
                <a:cs typeface="Trebuchet MS" pitchFamily="34" charset="-120"/>
              </a:rPr>
              <a:t>An emerging tactic lodged by an authority</a:t>
            </a:r>
            <a:endParaRPr lang="en-US" sz="1100" dirty="0"/>
          </a:p>
        </p:txBody>
      </p:sp>
      <p:sp>
        <p:nvSpPr>
          <p:cNvPr id="11" name="Text 9"/>
          <p:cNvSpPr/>
          <p:nvPr/>
        </p:nvSpPr>
        <p:spPr>
          <a:xfrm>
            <a:off x="1024128" y="2779776"/>
            <a:ext cx="4559656" cy="502920"/>
          </a:xfrm>
          <a:prstGeom prst="rect">
            <a:avLst/>
          </a:prstGeom>
          <a:noFill/>
          <a:ln/>
        </p:spPr>
        <p:txBody>
          <a:bodyPr wrap="square" rtlCol="0" anchor="t"/>
          <a:lstStyle/>
          <a:p>
            <a:pPr indent="0" marL="0">
              <a:lnSpc>
                <a:spcPts val="1800"/>
              </a:lnSpc>
              <a:buNone/>
            </a:pPr>
            <a:r>
              <a:rPr lang="en-US" sz="1300" dirty="0">
                <a:solidFill>
                  <a:srgbClr val="F3EDFB"/>
                </a:solidFill>
                <a:latin typeface="Trebuchet MS" pitchFamily="34" charset="0"/>
                <a:ea typeface="Trebuchet MS" pitchFamily="34" charset="-122"/>
                <a:cs typeface="Trebuchet MS" pitchFamily="34" charset="-120"/>
              </a:rPr>
              <a:t>Produces challenges and failure signatures</a:t>
            </a:r>
            <a:endParaRPr lang="en-US" sz="1300" dirty="0"/>
          </a:p>
        </p:txBody>
      </p:sp>
      <p:sp>
        <p:nvSpPr>
          <p:cNvPr id="12" name="Text 10"/>
          <p:cNvSpPr/>
          <p:nvPr/>
        </p:nvSpPr>
        <p:spPr>
          <a:xfrm>
            <a:off x="1024128" y="3401568"/>
            <a:ext cx="4559656" cy="320040"/>
          </a:xfrm>
          <a:prstGeom prst="rect">
            <a:avLst/>
          </a:prstGeom>
          <a:noFill/>
          <a:ln/>
        </p:spPr>
        <p:txBody>
          <a:bodyPr wrap="square" rtlCol="0" anchor="ctr"/>
          <a:lstStyle/>
          <a:p>
            <a:pPr indent="0" marL="0">
              <a:buNone/>
            </a:pPr>
            <a:r>
              <a:rPr lang="en-US" sz="1150" i="1" dirty="0">
                <a:solidFill>
                  <a:srgbClr val="A394C8"/>
                </a:solidFill>
                <a:latin typeface="Trebuchet MS" pitchFamily="34" charset="0"/>
                <a:ea typeface="Trebuchet MS" pitchFamily="34" charset="-122"/>
                <a:cs typeface="Trebuchet MS" pitchFamily="34" charset="-120"/>
              </a:rPr>
              <a:t>It describes an adversary</a:t>
            </a:r>
            <a:endParaRPr lang="en-US" sz="1150" dirty="0"/>
          </a:p>
        </p:txBody>
      </p:sp>
      <p:sp>
        <p:nvSpPr>
          <p:cNvPr id="13" name="Shape 11"/>
          <p:cNvSpPr/>
          <p:nvPr/>
        </p:nvSpPr>
        <p:spPr>
          <a:xfrm>
            <a:off x="6095848" y="1920240"/>
            <a:ext cx="5108296" cy="2011680"/>
          </a:xfrm>
          <a:prstGeom prst="roundRect">
            <a:avLst>
              <a:gd name="adj" fmla="val 2727"/>
            </a:avLst>
          </a:prstGeom>
          <a:solidFill>
            <a:srgbClr val="1A1338"/>
          </a:solidFill>
          <a:ln w="12700">
            <a:solidFill>
              <a:srgbClr val="332758"/>
            </a:solidFill>
            <a:prstDash val="solid"/>
          </a:ln>
        </p:spPr>
      </p:sp>
      <p:sp>
        <p:nvSpPr>
          <p:cNvPr id="14" name="Shape 12"/>
          <p:cNvSpPr/>
          <p:nvPr/>
        </p:nvSpPr>
        <p:spPr>
          <a:xfrm>
            <a:off x="6095848" y="1920240"/>
            <a:ext cx="41148" cy="2011680"/>
          </a:xfrm>
          <a:prstGeom prst="rect">
            <a:avLst/>
          </a:prstGeom>
          <a:solidFill>
            <a:srgbClr val="8FD3BA"/>
          </a:solidFill>
          <a:ln/>
        </p:spPr>
      </p:sp>
      <p:sp>
        <p:nvSpPr>
          <p:cNvPr id="15" name="Text 13"/>
          <p:cNvSpPr/>
          <p:nvPr/>
        </p:nvSpPr>
        <p:spPr>
          <a:xfrm>
            <a:off x="6406744" y="2121408"/>
            <a:ext cx="4559656" cy="292608"/>
          </a:xfrm>
          <a:prstGeom prst="rect">
            <a:avLst/>
          </a:prstGeom>
          <a:noFill/>
          <a:ln/>
        </p:spPr>
        <p:txBody>
          <a:bodyPr wrap="square" rtlCol="0" anchor="ctr"/>
          <a:lstStyle/>
          <a:p>
            <a:pPr indent="0" marL="0">
              <a:buNone/>
            </a:pPr>
            <a:r>
              <a:rPr lang="en-US" sz="1400" b="1" spc="200" kern="0" dirty="0">
                <a:solidFill>
                  <a:srgbClr val="8FD3BA"/>
                </a:solidFill>
                <a:latin typeface="Trebuchet MS" pitchFamily="34" charset="0"/>
                <a:ea typeface="Trebuchet MS" pitchFamily="34" charset="-122"/>
                <a:cs typeface="Trebuchet MS" pitchFamily="34" charset="-120"/>
              </a:rPr>
              <a:t>TRAINING MODULE</a:t>
            </a:r>
            <a:endParaRPr lang="en-US" sz="1400" dirty="0"/>
          </a:p>
        </p:txBody>
      </p:sp>
      <p:sp>
        <p:nvSpPr>
          <p:cNvPr id="16" name="Text 14"/>
          <p:cNvSpPr/>
          <p:nvPr/>
        </p:nvSpPr>
        <p:spPr>
          <a:xfrm>
            <a:off x="6406744" y="2450592"/>
            <a:ext cx="4559656" cy="274320"/>
          </a:xfrm>
          <a:prstGeom prst="rect">
            <a:avLst/>
          </a:prstGeom>
          <a:noFill/>
          <a:ln/>
        </p:spPr>
        <p:txBody>
          <a:bodyPr wrap="square" rtlCol="0" anchor="ctr"/>
          <a:lstStyle/>
          <a:p>
            <a:pPr indent="0" marL="0">
              <a:buNone/>
            </a:pPr>
            <a:r>
              <a:rPr lang="en-US" sz="1100" dirty="0">
                <a:solidFill>
                  <a:srgbClr val="7A6AA8"/>
                </a:solidFill>
                <a:latin typeface="Trebuchet MS" pitchFamily="34" charset="0"/>
                <a:ea typeface="Trebuchet MS" pitchFamily="34" charset="-122"/>
                <a:cs typeface="Trebuchet MS" pitchFamily="34" charset="-120"/>
              </a:rPr>
              <a:t>The authority's existing curriculum</a:t>
            </a:r>
            <a:endParaRPr lang="en-US" sz="1100" dirty="0"/>
          </a:p>
        </p:txBody>
      </p:sp>
      <p:sp>
        <p:nvSpPr>
          <p:cNvPr id="17" name="Text 15"/>
          <p:cNvSpPr/>
          <p:nvPr/>
        </p:nvSpPr>
        <p:spPr>
          <a:xfrm>
            <a:off x="6406744" y="2779776"/>
            <a:ext cx="4559656" cy="502920"/>
          </a:xfrm>
          <a:prstGeom prst="rect">
            <a:avLst/>
          </a:prstGeom>
          <a:noFill/>
          <a:ln/>
        </p:spPr>
        <p:txBody>
          <a:bodyPr wrap="square" rtlCol="0" anchor="t"/>
          <a:lstStyle/>
          <a:p>
            <a:pPr indent="0" marL="0">
              <a:lnSpc>
                <a:spcPts val="1800"/>
              </a:lnSpc>
              <a:buNone/>
            </a:pPr>
            <a:r>
              <a:rPr lang="en-US" sz="1300" dirty="0">
                <a:solidFill>
                  <a:srgbClr val="F3EDFB"/>
                </a:solidFill>
                <a:latin typeface="Trebuchet MS" pitchFamily="34" charset="0"/>
                <a:ea typeface="Trebuchet MS" pitchFamily="34" charset="-122"/>
                <a:cs typeface="Trebuchet MS" pitchFamily="34" charset="-120"/>
              </a:rPr>
              <a:t>Produces competency elements and diagnostic questions</a:t>
            </a:r>
            <a:endParaRPr lang="en-US" sz="1300" dirty="0"/>
          </a:p>
        </p:txBody>
      </p:sp>
      <p:sp>
        <p:nvSpPr>
          <p:cNvPr id="18" name="Text 16"/>
          <p:cNvSpPr/>
          <p:nvPr/>
        </p:nvSpPr>
        <p:spPr>
          <a:xfrm>
            <a:off x="6406744" y="3401568"/>
            <a:ext cx="4559656" cy="320040"/>
          </a:xfrm>
          <a:prstGeom prst="rect">
            <a:avLst/>
          </a:prstGeom>
          <a:noFill/>
          <a:ln/>
        </p:spPr>
        <p:txBody>
          <a:bodyPr wrap="square" rtlCol="0" anchor="ctr"/>
          <a:lstStyle/>
          <a:p>
            <a:pPr indent="0" marL="0">
              <a:buNone/>
            </a:pPr>
            <a:r>
              <a:rPr lang="en-US" sz="1150" i="1" dirty="0">
                <a:solidFill>
                  <a:srgbClr val="A394C8"/>
                </a:solidFill>
                <a:latin typeface="Trebuchet MS" pitchFamily="34" charset="0"/>
                <a:ea typeface="Trebuchet MS" pitchFamily="34" charset="-122"/>
                <a:cs typeface="Trebuchet MS" pitchFamily="34" charset="-120"/>
              </a:rPr>
              <a:t>It describes a competence</a:t>
            </a:r>
            <a:endParaRPr lang="en-US" sz="1150" dirty="0"/>
          </a:p>
        </p:txBody>
      </p:sp>
      <p:sp>
        <p:nvSpPr>
          <p:cNvPr id="19" name="Text 17"/>
          <p:cNvSpPr/>
          <p:nvPr/>
        </p:nvSpPr>
        <p:spPr>
          <a:xfrm>
            <a:off x="713232" y="4160520"/>
            <a:ext cx="10765231" cy="365760"/>
          </a:xfrm>
          <a:prstGeom prst="rect">
            <a:avLst/>
          </a:prstGeom>
          <a:noFill/>
          <a:ln/>
        </p:spPr>
        <p:txBody>
          <a:bodyPr wrap="square" rtlCol="0" anchor="ctr"/>
          <a:lstStyle/>
          <a:p>
            <a:pPr indent="0" marL="0">
              <a:buNone/>
            </a:pPr>
            <a:r>
              <a:rPr lang="en-US" sz="1600" i="1" dirty="0">
                <a:solidFill>
                  <a:srgbClr val="C7B3F0"/>
                </a:solidFill>
                <a:latin typeface="Georgia" pitchFamily="34" charset="0"/>
                <a:ea typeface="Georgia" pitchFamily="34" charset="-122"/>
                <a:cs typeface="Georgia" pitchFamily="34" charset="-120"/>
              </a:rPr>
              <a:t>A challenge with no element to score against is theatre. An element with no challenge to pressure it is a quiz.</a:t>
            </a:r>
            <a:endParaRPr lang="en-US" sz="1600" dirty="0"/>
          </a:p>
        </p:txBody>
      </p:sp>
      <p:sp>
        <p:nvSpPr>
          <p:cNvPr id="20" name="Shape 18"/>
          <p:cNvSpPr/>
          <p:nvPr/>
        </p:nvSpPr>
        <p:spPr>
          <a:xfrm>
            <a:off x="713232" y="4663440"/>
            <a:ext cx="10765231" cy="1097280"/>
          </a:xfrm>
          <a:prstGeom prst="roundRect">
            <a:avLst>
              <a:gd name="adj" fmla="val 5000"/>
            </a:avLst>
          </a:prstGeom>
          <a:solidFill>
            <a:srgbClr val="241B52"/>
          </a:solidFill>
          <a:ln w="12700">
            <a:solidFill>
              <a:srgbClr val="332758"/>
            </a:solidFill>
            <a:prstDash val="solid"/>
          </a:ln>
        </p:spPr>
      </p:sp>
      <p:sp>
        <p:nvSpPr>
          <p:cNvPr id="21" name="Text 19"/>
          <p:cNvSpPr/>
          <p:nvPr/>
        </p:nvSpPr>
        <p:spPr>
          <a:xfrm>
            <a:off x="1033272" y="4828032"/>
            <a:ext cx="10125151" cy="822960"/>
          </a:xfrm>
          <a:prstGeom prst="rect">
            <a:avLst/>
          </a:prstGeom>
          <a:noFill/>
          <a:ln/>
        </p:spPr>
        <p:txBody>
          <a:bodyPr wrap="square" rtlCol="0" anchor="ctr"/>
          <a:lstStyle/>
          <a:p>
            <a:pPr indent="0" marL="0">
              <a:lnSpc>
                <a:spcPts val="1900"/>
              </a:lnSpc>
              <a:buNone/>
            </a:pPr>
            <a:r>
              <a:rPr lang="en-US" sz="1250" dirty="0">
                <a:solidFill>
                  <a:srgbClr val="F3EDFB"/>
                </a:solidFill>
                <a:latin typeface="Trebuchet MS" pitchFamily="34" charset="0"/>
                <a:ea typeface="Trebuchet MS" pitchFamily="34" charset="-122"/>
                <a:cs typeface="Trebuchet MS" pitchFamily="34" charset="-120"/>
              </a:rPr>
              <a:t>What a curriculum can do that a threat report cannot: anchor an element. Every competency element must cite the published principle it derives from, and the gate blocks release without one. A module IS the authority's published guidance, so the clause arrives as the citation — the reviewer confirms it rather than sourcing it.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33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EBA98C"/>
          </a:solidFill>
          <a:ln/>
        </p:spPr>
      </p:sp>
      <p:sp>
        <p:nvSpPr>
          <p:cNvPr id="3" name="Text 1"/>
          <p:cNvSpPr/>
          <p:nvPr/>
        </p:nvSpPr>
        <p:spPr>
          <a:xfrm>
            <a:off x="1005840" y="2286000"/>
            <a:ext cx="9144000" cy="320040"/>
          </a:xfrm>
          <a:prstGeom prst="rect">
            <a:avLst/>
          </a:prstGeom>
          <a:noFill/>
          <a:ln/>
        </p:spPr>
        <p:txBody>
          <a:bodyPr wrap="square" rtlCol="0" anchor="ctr"/>
          <a:lstStyle/>
          <a:p>
            <a:pPr indent="0" marL="0">
              <a:buNone/>
            </a:pPr>
            <a:r>
              <a:rPr lang="en-US" sz="1200" b="1" spc="400" kern="0" dirty="0">
                <a:solidFill>
                  <a:srgbClr val="EBA98C"/>
                </a:solidFill>
                <a:latin typeface="Trebuchet MS" pitchFamily="34" charset="0"/>
                <a:ea typeface="Trebuchet MS" pitchFamily="34" charset="-122"/>
                <a:cs typeface="Trebuchet MS" pitchFamily="34" charset="-120"/>
              </a:rPr>
              <a:t>SECTION FOUR</a:t>
            </a:r>
            <a:endParaRPr lang="en-US" sz="1200" dirty="0"/>
          </a:p>
        </p:txBody>
      </p:sp>
      <p:sp>
        <p:nvSpPr>
          <p:cNvPr id="4" name="Text 2"/>
          <p:cNvSpPr/>
          <p:nvPr/>
        </p:nvSpPr>
        <p:spPr>
          <a:xfrm>
            <a:off x="1005840" y="2651760"/>
            <a:ext cx="9692640" cy="1005840"/>
          </a:xfrm>
          <a:prstGeom prst="rect">
            <a:avLst/>
          </a:prstGeom>
          <a:noFill/>
          <a:ln/>
        </p:spPr>
        <p:txBody>
          <a:bodyPr wrap="square" rtlCol="0" anchor="ctr"/>
          <a:lstStyle/>
          <a:p>
            <a:pPr indent="0" marL="0">
              <a:buNone/>
            </a:pPr>
            <a:r>
              <a:rPr lang="en-US" sz="4000" b="1" dirty="0">
                <a:solidFill>
                  <a:srgbClr val="F3EDFB"/>
                </a:solidFill>
                <a:latin typeface="Trebuchet MS" pitchFamily="34" charset="0"/>
                <a:ea typeface="Trebuchet MS" pitchFamily="34" charset="-122"/>
                <a:cs typeface="Trebuchet MS" pitchFamily="34" charset="-120"/>
              </a:rPr>
              <a:t>Demonstration</a:t>
            </a:r>
            <a:endParaRPr lang="en-US" sz="4000" dirty="0"/>
          </a:p>
        </p:txBody>
      </p:sp>
      <p:sp>
        <p:nvSpPr>
          <p:cNvPr id="5" name="Text 3"/>
          <p:cNvSpPr/>
          <p:nvPr/>
        </p:nvSpPr>
        <p:spPr>
          <a:xfrm>
            <a:off x="1005840" y="3703320"/>
            <a:ext cx="8778240" cy="822960"/>
          </a:xfrm>
          <a:prstGeom prst="rect">
            <a:avLst/>
          </a:prstGeom>
          <a:noFill/>
          <a:ln/>
        </p:spPr>
        <p:txBody>
          <a:bodyPr wrap="square" rtlCol="0" anchor="ctr"/>
          <a:lstStyle/>
          <a:p>
            <a:pPr indent="0" marL="0">
              <a:lnSpc>
                <a:spcPts val="2200"/>
              </a:lnSpc>
              <a:buNone/>
            </a:pPr>
            <a:r>
              <a:rPr lang="en-US" sz="1500" dirty="0">
                <a:solidFill>
                  <a:srgbClr val="A394C8"/>
                </a:solidFill>
                <a:latin typeface="Trebuchet MS" pitchFamily="34" charset="0"/>
                <a:ea typeface="Trebuchet MS" pitchFamily="34" charset="-122"/>
                <a:cs typeface="Trebuchet MS" pitchFamily="34" charset="-120"/>
              </a:rPr>
              <a:t>Four minutes, live. Everything shown is the running system, not a specification.</a:t>
            </a:r>
            <a:endParaRPr lang="en-US" sz="1500" dirty="0"/>
          </a:p>
        </p:txBody>
      </p:sp>
      <p:sp>
        <p:nvSpPr>
          <p:cNvPr id="6" name="Text 4"/>
          <p:cNvSpPr/>
          <p:nvPr/>
        </p:nvSpPr>
        <p:spPr>
          <a:xfrm>
            <a:off x="11094415" y="6199632"/>
            <a:ext cx="548640" cy="274320"/>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15</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RUN SHEET</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What you will see.</a:t>
            </a:r>
            <a:endParaRPr lang="en-US" sz="3400" dirty="0"/>
          </a:p>
        </p:txBody>
      </p:sp>
      <p:sp>
        <p:nvSpPr>
          <p:cNvPr id="7" name="Shape 5"/>
          <p:cNvSpPr/>
          <p:nvPr/>
        </p:nvSpPr>
        <p:spPr>
          <a:xfrm>
            <a:off x="713232" y="2011680"/>
            <a:ext cx="10765231" cy="432511"/>
          </a:xfrm>
          <a:prstGeom prst="rect">
            <a:avLst/>
          </a:prstGeom>
          <a:solidFill>
            <a:srgbClr val="241B52"/>
          </a:solidFill>
          <a:ln/>
        </p:spPr>
      </p:sp>
      <p:sp>
        <p:nvSpPr>
          <p:cNvPr id="8" name="Text 6"/>
          <p:cNvSpPr/>
          <p:nvPr/>
        </p:nvSpPr>
        <p:spPr>
          <a:xfrm>
            <a:off x="841248" y="2011680"/>
            <a:ext cx="749808" cy="432511"/>
          </a:xfrm>
          <a:prstGeom prst="rect">
            <a:avLst/>
          </a:prstGeom>
          <a:noFill/>
          <a:ln/>
        </p:spPr>
        <p:txBody>
          <a:bodyPr wrap="square" rtlCol="0" anchor="ctr"/>
          <a:lstStyle/>
          <a:p>
            <a:pPr indent="0" marL="0">
              <a:lnSpc>
                <a:spcPts val="1400"/>
              </a:lnSpc>
              <a:buNone/>
            </a:pPr>
            <a:endParaRPr lang="en-US" sz="950" dirty="0"/>
          </a:p>
        </p:txBody>
      </p:sp>
      <p:sp>
        <p:nvSpPr>
          <p:cNvPr id="9" name="Text 7"/>
          <p:cNvSpPr/>
          <p:nvPr/>
        </p:nvSpPr>
        <p:spPr>
          <a:xfrm>
            <a:off x="1847088" y="2011680"/>
            <a:ext cx="5413248" cy="432511"/>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On screen</a:t>
            </a:r>
            <a:endParaRPr lang="en-US" sz="950" dirty="0"/>
          </a:p>
        </p:txBody>
      </p:sp>
      <p:sp>
        <p:nvSpPr>
          <p:cNvPr id="10" name="Text 8"/>
          <p:cNvSpPr/>
          <p:nvPr/>
        </p:nvSpPr>
        <p:spPr>
          <a:xfrm>
            <a:off x="7516368" y="2011680"/>
            <a:ext cx="3831336" cy="432511"/>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The point</a:t>
            </a:r>
            <a:endParaRPr lang="en-US" sz="950" dirty="0"/>
          </a:p>
        </p:txBody>
      </p:sp>
      <p:sp>
        <p:nvSpPr>
          <p:cNvPr id="11" name="Text 9"/>
          <p:cNvSpPr/>
          <p:nvPr/>
        </p:nvSpPr>
        <p:spPr>
          <a:xfrm>
            <a:off x="841248" y="2444191"/>
            <a:ext cx="749808" cy="502920"/>
          </a:xfrm>
          <a:prstGeom prst="rect">
            <a:avLst/>
          </a:prstGeom>
          <a:noFill/>
          <a:ln/>
        </p:spPr>
        <p:txBody>
          <a:bodyPr wrap="square" rtlCol="0" anchor="ctr"/>
          <a:lstStyle/>
          <a:p>
            <a:pPr indent="0" marL="0">
              <a:lnSpc>
                <a:spcPts val="1400"/>
              </a:lnSpc>
              <a:buNone/>
            </a:pPr>
            <a:r>
              <a:rPr lang="en-US" sz="1100" dirty="0">
                <a:solidFill>
                  <a:srgbClr val="EBA98C"/>
                </a:solidFill>
                <a:latin typeface="Consolas" pitchFamily="34" charset="0"/>
                <a:ea typeface="Consolas" pitchFamily="34" charset="-122"/>
                <a:cs typeface="Consolas" pitchFamily="34" charset="-120"/>
              </a:rPr>
              <a:t>0:00</a:t>
            </a:r>
            <a:endParaRPr lang="en-US" sz="1100" dirty="0"/>
          </a:p>
        </p:txBody>
      </p:sp>
      <p:sp>
        <p:nvSpPr>
          <p:cNvPr id="12" name="Text 10"/>
          <p:cNvSpPr/>
          <p:nvPr/>
        </p:nvSpPr>
        <p:spPr>
          <a:xfrm>
            <a:off x="1847088" y="2444191"/>
            <a:ext cx="5413248"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A learner speaks. The coach listens, diagnoses, then becomes a broker with a deadline.</a:t>
            </a:r>
            <a:endParaRPr lang="en-US" sz="1100" dirty="0"/>
          </a:p>
        </p:txBody>
      </p:sp>
      <p:sp>
        <p:nvSpPr>
          <p:cNvPr id="13" name="Text 11"/>
          <p:cNvSpPr/>
          <p:nvPr/>
        </p:nvSpPr>
        <p:spPr>
          <a:xfrm>
            <a:off x="7516368" y="2444191"/>
            <a:ext cx="3831336"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The pressure is real and the ladder is approved.</a:t>
            </a:r>
            <a:endParaRPr lang="en-US" sz="1100" dirty="0"/>
          </a:p>
        </p:txBody>
      </p:sp>
      <p:sp>
        <p:nvSpPr>
          <p:cNvPr id="14" name="Shape 12"/>
          <p:cNvSpPr/>
          <p:nvPr/>
        </p:nvSpPr>
        <p:spPr>
          <a:xfrm>
            <a:off x="713232" y="2947111"/>
            <a:ext cx="10765231" cy="502920"/>
          </a:xfrm>
          <a:prstGeom prst="rect">
            <a:avLst/>
          </a:prstGeom>
          <a:solidFill>
            <a:srgbClr val="150F35"/>
          </a:solidFill>
          <a:ln/>
        </p:spPr>
      </p:sp>
      <p:sp>
        <p:nvSpPr>
          <p:cNvPr id="15" name="Text 13"/>
          <p:cNvSpPr/>
          <p:nvPr/>
        </p:nvSpPr>
        <p:spPr>
          <a:xfrm>
            <a:off x="841248" y="2947111"/>
            <a:ext cx="749808" cy="502920"/>
          </a:xfrm>
          <a:prstGeom prst="rect">
            <a:avLst/>
          </a:prstGeom>
          <a:noFill/>
          <a:ln/>
        </p:spPr>
        <p:txBody>
          <a:bodyPr wrap="square" rtlCol="0" anchor="ctr"/>
          <a:lstStyle/>
          <a:p>
            <a:pPr indent="0" marL="0">
              <a:lnSpc>
                <a:spcPts val="1400"/>
              </a:lnSpc>
              <a:buNone/>
            </a:pPr>
            <a:r>
              <a:rPr lang="en-US" sz="1100" dirty="0">
                <a:solidFill>
                  <a:srgbClr val="EBA98C"/>
                </a:solidFill>
                <a:latin typeface="Consolas" pitchFamily="34" charset="0"/>
                <a:ea typeface="Consolas" pitchFamily="34" charset="-122"/>
                <a:cs typeface="Consolas" pitchFamily="34" charset="-120"/>
              </a:rPr>
              <a:t>1:30</a:t>
            </a:r>
            <a:endParaRPr lang="en-US" sz="1100" dirty="0"/>
          </a:p>
        </p:txBody>
      </p:sp>
      <p:sp>
        <p:nvSpPr>
          <p:cNvPr id="16" name="Text 14"/>
          <p:cNvSpPr/>
          <p:nvPr/>
        </p:nvSpPr>
        <p:spPr>
          <a:xfrm>
            <a:off x="1847088" y="2947111"/>
            <a:ext cx="5413248"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The coach names the failure using the learner's own sentence, then a different scam asks the same question.</a:t>
            </a:r>
            <a:endParaRPr lang="en-US" sz="1100" dirty="0"/>
          </a:p>
        </p:txBody>
      </p:sp>
      <p:sp>
        <p:nvSpPr>
          <p:cNvPr id="17" name="Text 15"/>
          <p:cNvSpPr/>
          <p:nvPr/>
        </p:nvSpPr>
        <p:spPr>
          <a:xfrm>
            <a:off x="7516368" y="2947111"/>
            <a:ext cx="3831336"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Transfer, not recall.</a:t>
            </a:r>
            <a:endParaRPr lang="en-US" sz="1100" dirty="0"/>
          </a:p>
        </p:txBody>
      </p:sp>
      <p:sp>
        <p:nvSpPr>
          <p:cNvPr id="18" name="Text 16"/>
          <p:cNvSpPr/>
          <p:nvPr/>
        </p:nvSpPr>
        <p:spPr>
          <a:xfrm>
            <a:off x="841248" y="3450031"/>
            <a:ext cx="749808" cy="502920"/>
          </a:xfrm>
          <a:prstGeom prst="rect">
            <a:avLst/>
          </a:prstGeom>
          <a:noFill/>
          <a:ln/>
        </p:spPr>
        <p:txBody>
          <a:bodyPr wrap="square" rtlCol="0" anchor="ctr"/>
          <a:lstStyle/>
          <a:p>
            <a:pPr indent="0" marL="0">
              <a:lnSpc>
                <a:spcPts val="1400"/>
              </a:lnSpc>
              <a:buNone/>
            </a:pPr>
            <a:r>
              <a:rPr lang="en-US" sz="1100" dirty="0">
                <a:solidFill>
                  <a:srgbClr val="EBA98C"/>
                </a:solidFill>
                <a:latin typeface="Consolas" pitchFamily="34" charset="0"/>
                <a:ea typeface="Consolas" pitchFamily="34" charset="-122"/>
                <a:cs typeface="Consolas" pitchFamily="34" charset="-120"/>
              </a:rPr>
              <a:t>2:30</a:t>
            </a:r>
            <a:endParaRPr lang="en-US" sz="1100" dirty="0"/>
          </a:p>
        </p:txBody>
      </p:sp>
      <p:sp>
        <p:nvSpPr>
          <p:cNvPr id="19" name="Text 17"/>
          <p:cNvSpPr/>
          <p:nvPr/>
        </p:nvSpPr>
        <p:spPr>
          <a:xfrm>
            <a:off x="1847088" y="3450031"/>
            <a:ext cx="5413248"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Switch to 日本語 mid-session. The loop continues.</a:t>
            </a:r>
            <a:endParaRPr lang="en-US" sz="1100" dirty="0"/>
          </a:p>
        </p:txBody>
      </p:sp>
      <p:sp>
        <p:nvSpPr>
          <p:cNvPr id="20" name="Text 18"/>
          <p:cNvSpPr/>
          <p:nvPr/>
        </p:nvSpPr>
        <p:spPr>
          <a:xfrm>
            <a:off x="7516368" y="3450031"/>
            <a:ext cx="3831336"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205 governed strings per language — including the cues that decide a pass.</a:t>
            </a:r>
            <a:endParaRPr lang="en-US" sz="1100" dirty="0"/>
          </a:p>
        </p:txBody>
      </p:sp>
      <p:sp>
        <p:nvSpPr>
          <p:cNvPr id="21" name="Shape 19"/>
          <p:cNvSpPr/>
          <p:nvPr/>
        </p:nvSpPr>
        <p:spPr>
          <a:xfrm>
            <a:off x="713232" y="3952951"/>
            <a:ext cx="10765231" cy="502920"/>
          </a:xfrm>
          <a:prstGeom prst="rect">
            <a:avLst/>
          </a:prstGeom>
          <a:solidFill>
            <a:srgbClr val="150F35"/>
          </a:solidFill>
          <a:ln/>
        </p:spPr>
      </p:sp>
      <p:sp>
        <p:nvSpPr>
          <p:cNvPr id="22" name="Text 20"/>
          <p:cNvSpPr/>
          <p:nvPr/>
        </p:nvSpPr>
        <p:spPr>
          <a:xfrm>
            <a:off x="841248" y="3952951"/>
            <a:ext cx="749808" cy="502920"/>
          </a:xfrm>
          <a:prstGeom prst="rect">
            <a:avLst/>
          </a:prstGeom>
          <a:noFill/>
          <a:ln/>
        </p:spPr>
        <p:txBody>
          <a:bodyPr wrap="square" rtlCol="0" anchor="ctr"/>
          <a:lstStyle/>
          <a:p>
            <a:pPr indent="0" marL="0">
              <a:lnSpc>
                <a:spcPts val="1400"/>
              </a:lnSpc>
              <a:buNone/>
            </a:pPr>
            <a:r>
              <a:rPr lang="en-US" sz="1100" dirty="0">
                <a:solidFill>
                  <a:srgbClr val="EBA98C"/>
                </a:solidFill>
                <a:latin typeface="Consolas" pitchFamily="34" charset="0"/>
                <a:ea typeface="Consolas" pitchFamily="34" charset="-122"/>
                <a:cs typeface="Consolas" pitchFamily="34" charset="-120"/>
              </a:rPr>
              <a:t>3:00</a:t>
            </a:r>
            <a:endParaRPr lang="en-US" sz="1100" dirty="0"/>
          </a:p>
        </p:txBody>
      </p:sp>
      <p:sp>
        <p:nvSpPr>
          <p:cNvPr id="23" name="Text 21"/>
          <p:cNvSpPr/>
          <p:nvPr/>
        </p:nvSpPr>
        <p:spPr>
          <a:xfrm>
            <a:off x="1847088" y="3952951"/>
            <a:ext cx="5413248"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Nexus: a CNMV training module uploaded, mapped, and put through the publish gate.</a:t>
            </a:r>
            <a:endParaRPr lang="en-US" sz="1100" dirty="0"/>
          </a:p>
        </p:txBody>
      </p:sp>
      <p:sp>
        <p:nvSpPr>
          <p:cNvPr id="24" name="Text 22"/>
          <p:cNvSpPr/>
          <p:nvPr/>
        </p:nvSpPr>
        <p:spPr>
          <a:xfrm>
            <a:off x="7516368" y="3952951"/>
            <a:ext cx="3831336"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The gate refuses. Nothing reaches a learner.</a:t>
            </a:r>
            <a:endParaRPr lang="en-US" sz="1100" dirty="0"/>
          </a:p>
        </p:txBody>
      </p:sp>
      <p:sp>
        <p:nvSpPr>
          <p:cNvPr id="25" name="Text 23"/>
          <p:cNvSpPr/>
          <p:nvPr/>
        </p:nvSpPr>
        <p:spPr>
          <a:xfrm>
            <a:off x="841248" y="4455871"/>
            <a:ext cx="749808" cy="502920"/>
          </a:xfrm>
          <a:prstGeom prst="rect">
            <a:avLst/>
          </a:prstGeom>
          <a:noFill/>
          <a:ln/>
        </p:spPr>
        <p:txBody>
          <a:bodyPr wrap="square" rtlCol="0" anchor="ctr"/>
          <a:lstStyle/>
          <a:p>
            <a:pPr indent="0" marL="0">
              <a:lnSpc>
                <a:spcPts val="1400"/>
              </a:lnSpc>
              <a:buNone/>
            </a:pPr>
            <a:r>
              <a:rPr lang="en-US" sz="1100" dirty="0">
                <a:solidFill>
                  <a:srgbClr val="EBA98C"/>
                </a:solidFill>
                <a:latin typeface="Consolas" pitchFamily="34" charset="0"/>
                <a:ea typeface="Consolas" pitchFamily="34" charset="-122"/>
                <a:cs typeface="Consolas" pitchFamily="34" charset="-120"/>
              </a:rPr>
              <a:t>3:45</a:t>
            </a:r>
            <a:endParaRPr lang="en-US" sz="1100" dirty="0"/>
          </a:p>
        </p:txBody>
      </p:sp>
      <p:sp>
        <p:nvSpPr>
          <p:cNvPr id="26" name="Text 24"/>
          <p:cNvSpPr/>
          <p:nvPr/>
        </p:nvSpPr>
        <p:spPr>
          <a:xfrm>
            <a:off x="1847088" y="4455871"/>
            <a:ext cx="5413248"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The turn contract: eight model returns, six refused, each naming the rule.</a:t>
            </a:r>
            <a:endParaRPr lang="en-US" sz="1100" dirty="0"/>
          </a:p>
        </p:txBody>
      </p:sp>
      <p:sp>
        <p:nvSpPr>
          <p:cNvPr id="27" name="Text 25"/>
          <p:cNvSpPr/>
          <p:nvPr/>
        </p:nvSpPr>
        <p:spPr>
          <a:xfrm>
            <a:off x="7516368" y="4455871"/>
            <a:ext cx="3831336"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What happens when the model does something it should not.</a:t>
            </a:r>
            <a:endParaRPr lang="en-US" sz="1100" dirty="0"/>
          </a:p>
        </p:txBody>
      </p:sp>
      <p:sp>
        <p:nvSpPr>
          <p:cNvPr id="28" name="Shape 26"/>
          <p:cNvSpPr/>
          <p:nvPr/>
        </p:nvSpPr>
        <p:spPr>
          <a:xfrm>
            <a:off x="713232" y="4958791"/>
            <a:ext cx="10765231" cy="502920"/>
          </a:xfrm>
          <a:prstGeom prst="rect">
            <a:avLst/>
          </a:prstGeom>
          <a:solidFill>
            <a:srgbClr val="150F35"/>
          </a:solidFill>
          <a:ln/>
        </p:spPr>
      </p:sp>
      <p:sp>
        <p:nvSpPr>
          <p:cNvPr id="29" name="Text 27"/>
          <p:cNvSpPr/>
          <p:nvPr/>
        </p:nvSpPr>
        <p:spPr>
          <a:xfrm>
            <a:off x="841248" y="4958791"/>
            <a:ext cx="749808" cy="502920"/>
          </a:xfrm>
          <a:prstGeom prst="rect">
            <a:avLst/>
          </a:prstGeom>
          <a:noFill/>
          <a:ln/>
        </p:spPr>
        <p:txBody>
          <a:bodyPr wrap="square" rtlCol="0" anchor="ctr"/>
          <a:lstStyle/>
          <a:p>
            <a:pPr indent="0" marL="0">
              <a:lnSpc>
                <a:spcPts val="1400"/>
              </a:lnSpc>
              <a:buNone/>
            </a:pPr>
            <a:r>
              <a:rPr lang="en-US" sz="1100" dirty="0">
                <a:solidFill>
                  <a:srgbClr val="EBA98C"/>
                </a:solidFill>
                <a:latin typeface="Consolas" pitchFamily="34" charset="0"/>
                <a:ea typeface="Consolas" pitchFamily="34" charset="-122"/>
                <a:cs typeface="Consolas" pitchFamily="34" charset="-120"/>
              </a:rPr>
              <a:t>4:20</a:t>
            </a:r>
            <a:endParaRPr lang="en-US" sz="1100" dirty="0"/>
          </a:p>
        </p:txBody>
      </p:sp>
      <p:sp>
        <p:nvSpPr>
          <p:cNvPr id="30" name="Text 28"/>
          <p:cNvSpPr/>
          <p:nvPr/>
        </p:nvSpPr>
        <p:spPr>
          <a:xfrm>
            <a:off x="1847088" y="4958791"/>
            <a:ext cx="5413248"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The console: a named participant opened to the sentence their score rests on.</a:t>
            </a:r>
            <a:endParaRPr lang="en-US" sz="1100" dirty="0"/>
          </a:p>
        </p:txBody>
      </p:sp>
      <p:sp>
        <p:nvSpPr>
          <p:cNvPr id="31" name="Text 29"/>
          <p:cNvSpPr/>
          <p:nvPr/>
        </p:nvSpPr>
        <p:spPr>
          <a:xfrm>
            <a:off x="7516368" y="4958791"/>
            <a:ext cx="3831336" cy="50292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Evidence, not a rating.</a:t>
            </a:r>
            <a:endParaRPr lang="en-US" sz="1100" dirty="0"/>
          </a:p>
        </p:txBody>
      </p:sp>
      <p:sp>
        <p:nvSpPr>
          <p:cNvPr id="32" name="Text 30"/>
          <p:cNvSpPr/>
          <p:nvPr/>
        </p:nvSpPr>
        <p:spPr>
          <a:xfrm>
            <a:off x="713232" y="5623560"/>
            <a:ext cx="10119317" cy="411480"/>
          </a:xfrm>
          <a:prstGeom prst="rect">
            <a:avLst/>
          </a:prstGeom>
          <a:noFill/>
          <a:ln/>
        </p:spPr>
        <p:txBody>
          <a:bodyPr wrap="square" rtlCol="0" anchor="ctr"/>
          <a:lstStyle/>
          <a:p>
            <a:pPr indent="0" marL="0">
              <a:buNone/>
            </a:pPr>
            <a:r>
              <a:rPr lang="en-US" sz="1200" i="1" dirty="0">
                <a:solidFill>
                  <a:srgbClr val="C7B3F0"/>
                </a:solidFill>
                <a:latin typeface="Trebuchet MS" pitchFamily="34" charset="0"/>
                <a:ea typeface="Trebuchet MS" pitchFamily="34" charset="-122"/>
                <a:cs typeface="Trebuchet MS" pitchFamily="34" charset="-120"/>
              </a:rPr>
              <a:t>If the room has time for one thing only, it is the fourth row. Everything else is a good demo; that one is the thing a competitor cannot show.</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16</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REACH</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Five languages. Not a translated interface.</a:t>
            </a:r>
            <a:endParaRPr lang="en-US" sz="3400" dirty="0"/>
          </a:p>
        </p:txBody>
      </p:sp>
      <p:sp>
        <p:nvSpPr>
          <p:cNvPr id="7" name="Shape 5"/>
          <p:cNvSpPr/>
          <p:nvPr/>
        </p:nvSpPr>
        <p:spPr>
          <a:xfrm>
            <a:off x="713232" y="1874520"/>
            <a:ext cx="1933590" cy="731520"/>
          </a:xfrm>
          <a:prstGeom prst="roundRect">
            <a:avLst>
              <a:gd name="adj" fmla="val 7500"/>
            </a:avLst>
          </a:prstGeom>
          <a:solidFill>
            <a:srgbClr val="241B52"/>
          </a:solidFill>
          <a:ln w="12700">
            <a:solidFill>
              <a:srgbClr val="332758"/>
            </a:solidFill>
            <a:prstDash val="solid"/>
          </a:ln>
        </p:spPr>
      </p:sp>
      <p:sp>
        <p:nvSpPr>
          <p:cNvPr id="8" name="Text 6"/>
          <p:cNvSpPr/>
          <p:nvPr/>
        </p:nvSpPr>
        <p:spPr>
          <a:xfrm>
            <a:off x="896112" y="2011680"/>
            <a:ext cx="1604406" cy="457200"/>
          </a:xfrm>
          <a:prstGeom prst="rect">
            <a:avLst/>
          </a:prstGeom>
          <a:noFill/>
          <a:ln/>
        </p:spPr>
        <p:txBody>
          <a:bodyPr wrap="square" rtlCol="0" anchor="ctr"/>
          <a:lstStyle/>
          <a:p>
            <a:pPr indent="0" marL="0">
              <a:buNone/>
            </a:pPr>
            <a:r>
              <a:rPr lang="en-US" sz="1900" dirty="0">
                <a:solidFill>
                  <a:srgbClr val="F3EDFB"/>
                </a:solidFill>
                <a:latin typeface="Trebuchet MS" pitchFamily="34" charset="0"/>
                <a:ea typeface="Trebuchet MS" pitchFamily="34" charset="-122"/>
                <a:cs typeface="Trebuchet MS" pitchFamily="34" charset="-120"/>
              </a:rPr>
              <a:t>English</a:t>
            </a:r>
            <a:endParaRPr lang="en-US" sz="1900" dirty="0"/>
          </a:p>
        </p:txBody>
      </p:sp>
      <p:sp>
        <p:nvSpPr>
          <p:cNvPr id="9" name="Shape 7"/>
          <p:cNvSpPr/>
          <p:nvPr/>
        </p:nvSpPr>
        <p:spPr>
          <a:xfrm>
            <a:off x="2866278" y="1874520"/>
            <a:ext cx="1933590" cy="731520"/>
          </a:xfrm>
          <a:prstGeom prst="roundRect">
            <a:avLst>
              <a:gd name="adj" fmla="val 7500"/>
            </a:avLst>
          </a:prstGeom>
          <a:solidFill>
            <a:srgbClr val="1A1338"/>
          </a:solidFill>
          <a:ln w="12700">
            <a:solidFill>
              <a:srgbClr val="332758"/>
            </a:solidFill>
            <a:prstDash val="solid"/>
          </a:ln>
        </p:spPr>
      </p:sp>
      <p:sp>
        <p:nvSpPr>
          <p:cNvPr id="10" name="Text 8"/>
          <p:cNvSpPr/>
          <p:nvPr/>
        </p:nvSpPr>
        <p:spPr>
          <a:xfrm>
            <a:off x="3049158" y="2011680"/>
            <a:ext cx="1604406" cy="457200"/>
          </a:xfrm>
          <a:prstGeom prst="rect">
            <a:avLst/>
          </a:prstGeom>
          <a:noFill/>
          <a:ln/>
        </p:spPr>
        <p:txBody>
          <a:bodyPr wrap="square" rtlCol="0" anchor="ctr"/>
          <a:lstStyle/>
          <a:p>
            <a:pPr indent="0" marL="0">
              <a:buNone/>
            </a:pPr>
            <a:r>
              <a:rPr lang="en-US" sz="1900" dirty="0">
                <a:solidFill>
                  <a:srgbClr val="C7B3F0"/>
                </a:solidFill>
                <a:latin typeface="Trebuchet MS" pitchFamily="34" charset="0"/>
                <a:ea typeface="Trebuchet MS" pitchFamily="34" charset="-122"/>
                <a:cs typeface="Trebuchet MS" pitchFamily="34" charset="-120"/>
              </a:rPr>
              <a:t>Español</a:t>
            </a:r>
            <a:endParaRPr lang="en-US" sz="1900" dirty="0"/>
          </a:p>
        </p:txBody>
      </p:sp>
      <p:sp>
        <p:nvSpPr>
          <p:cNvPr id="11" name="Shape 9"/>
          <p:cNvSpPr/>
          <p:nvPr/>
        </p:nvSpPr>
        <p:spPr>
          <a:xfrm>
            <a:off x="5019324" y="1874520"/>
            <a:ext cx="1933590" cy="731520"/>
          </a:xfrm>
          <a:prstGeom prst="roundRect">
            <a:avLst>
              <a:gd name="adj" fmla="val 7500"/>
            </a:avLst>
          </a:prstGeom>
          <a:solidFill>
            <a:srgbClr val="1A1338"/>
          </a:solidFill>
          <a:ln w="12700">
            <a:solidFill>
              <a:srgbClr val="332758"/>
            </a:solidFill>
            <a:prstDash val="solid"/>
          </a:ln>
        </p:spPr>
      </p:sp>
      <p:sp>
        <p:nvSpPr>
          <p:cNvPr id="12" name="Text 10"/>
          <p:cNvSpPr/>
          <p:nvPr/>
        </p:nvSpPr>
        <p:spPr>
          <a:xfrm>
            <a:off x="5202204" y="2011680"/>
            <a:ext cx="1604406" cy="457200"/>
          </a:xfrm>
          <a:prstGeom prst="rect">
            <a:avLst/>
          </a:prstGeom>
          <a:noFill/>
          <a:ln/>
        </p:spPr>
        <p:txBody>
          <a:bodyPr wrap="square" rtlCol="0" anchor="ctr"/>
          <a:lstStyle/>
          <a:p>
            <a:pPr indent="0" marL="0">
              <a:buNone/>
            </a:pPr>
            <a:r>
              <a:rPr lang="en-US" sz="1900" dirty="0">
                <a:solidFill>
                  <a:srgbClr val="C7B3F0"/>
                </a:solidFill>
                <a:latin typeface="Trebuchet MS" pitchFamily="34" charset="0"/>
                <a:ea typeface="Trebuchet MS" pitchFamily="34" charset="-122"/>
                <a:cs typeface="Trebuchet MS" pitchFamily="34" charset="-120"/>
              </a:rPr>
              <a:t>中文</a:t>
            </a:r>
            <a:endParaRPr lang="en-US" sz="1900" dirty="0"/>
          </a:p>
        </p:txBody>
      </p:sp>
      <p:sp>
        <p:nvSpPr>
          <p:cNvPr id="13" name="Shape 11"/>
          <p:cNvSpPr/>
          <p:nvPr/>
        </p:nvSpPr>
        <p:spPr>
          <a:xfrm>
            <a:off x="7172371" y="1874520"/>
            <a:ext cx="1933590" cy="731520"/>
          </a:xfrm>
          <a:prstGeom prst="roundRect">
            <a:avLst>
              <a:gd name="adj" fmla="val 7500"/>
            </a:avLst>
          </a:prstGeom>
          <a:solidFill>
            <a:srgbClr val="1A1338"/>
          </a:solidFill>
          <a:ln w="12700">
            <a:solidFill>
              <a:srgbClr val="332758"/>
            </a:solidFill>
            <a:prstDash val="solid"/>
          </a:ln>
        </p:spPr>
      </p:sp>
      <p:sp>
        <p:nvSpPr>
          <p:cNvPr id="14" name="Text 12"/>
          <p:cNvSpPr/>
          <p:nvPr/>
        </p:nvSpPr>
        <p:spPr>
          <a:xfrm>
            <a:off x="7355251" y="2011680"/>
            <a:ext cx="1604406" cy="457200"/>
          </a:xfrm>
          <a:prstGeom prst="rect">
            <a:avLst/>
          </a:prstGeom>
          <a:noFill/>
          <a:ln/>
        </p:spPr>
        <p:txBody>
          <a:bodyPr wrap="square" rtlCol="0" anchor="ctr"/>
          <a:lstStyle/>
          <a:p>
            <a:pPr indent="0" marL="0">
              <a:buNone/>
            </a:pPr>
            <a:r>
              <a:rPr lang="en-US" sz="1900" dirty="0">
                <a:solidFill>
                  <a:srgbClr val="C7B3F0"/>
                </a:solidFill>
                <a:latin typeface="Trebuchet MS" pitchFamily="34" charset="0"/>
                <a:ea typeface="Trebuchet MS" pitchFamily="34" charset="-122"/>
                <a:cs typeface="Trebuchet MS" pitchFamily="34" charset="-120"/>
              </a:rPr>
              <a:t>العربية</a:t>
            </a:r>
            <a:endParaRPr lang="en-US" sz="1900" dirty="0"/>
          </a:p>
        </p:txBody>
      </p:sp>
      <p:sp>
        <p:nvSpPr>
          <p:cNvPr id="15" name="Shape 13"/>
          <p:cNvSpPr/>
          <p:nvPr/>
        </p:nvSpPr>
        <p:spPr>
          <a:xfrm>
            <a:off x="9325417" y="1874520"/>
            <a:ext cx="1933590" cy="731520"/>
          </a:xfrm>
          <a:prstGeom prst="roundRect">
            <a:avLst>
              <a:gd name="adj" fmla="val 7500"/>
            </a:avLst>
          </a:prstGeom>
          <a:solidFill>
            <a:srgbClr val="1A1338"/>
          </a:solidFill>
          <a:ln w="12700">
            <a:solidFill>
              <a:srgbClr val="332758"/>
            </a:solidFill>
            <a:prstDash val="solid"/>
          </a:ln>
        </p:spPr>
      </p:sp>
      <p:sp>
        <p:nvSpPr>
          <p:cNvPr id="16" name="Text 14"/>
          <p:cNvSpPr/>
          <p:nvPr/>
        </p:nvSpPr>
        <p:spPr>
          <a:xfrm>
            <a:off x="9508297" y="2011680"/>
            <a:ext cx="1604406" cy="457200"/>
          </a:xfrm>
          <a:prstGeom prst="rect">
            <a:avLst/>
          </a:prstGeom>
          <a:noFill/>
          <a:ln/>
        </p:spPr>
        <p:txBody>
          <a:bodyPr wrap="square" rtlCol="0" anchor="ctr"/>
          <a:lstStyle/>
          <a:p>
            <a:pPr indent="0" marL="0">
              <a:buNone/>
            </a:pPr>
            <a:r>
              <a:rPr lang="en-US" sz="1900" dirty="0">
                <a:solidFill>
                  <a:srgbClr val="C7B3F0"/>
                </a:solidFill>
                <a:latin typeface="Trebuchet MS" pitchFamily="34" charset="0"/>
                <a:ea typeface="Trebuchet MS" pitchFamily="34" charset="-122"/>
                <a:cs typeface="Trebuchet MS" pitchFamily="34" charset="-120"/>
              </a:rPr>
              <a:t>日本語</a:t>
            </a:r>
            <a:endParaRPr lang="en-US" sz="1900" dirty="0"/>
          </a:p>
        </p:txBody>
      </p:sp>
      <p:sp>
        <p:nvSpPr>
          <p:cNvPr id="17" name="Text 15"/>
          <p:cNvSpPr/>
          <p:nvPr/>
        </p:nvSpPr>
        <p:spPr>
          <a:xfrm>
            <a:off x="713232" y="2834640"/>
            <a:ext cx="9688708" cy="640080"/>
          </a:xfrm>
          <a:prstGeom prst="rect">
            <a:avLst/>
          </a:prstGeom>
          <a:noFill/>
          <a:ln/>
        </p:spPr>
        <p:txBody>
          <a:bodyPr wrap="square" rtlCol="0" anchor="ctr"/>
          <a:lstStyle/>
          <a:p>
            <a:pPr indent="0" marL="0">
              <a:lnSpc>
                <a:spcPts val="2100"/>
              </a:lnSpc>
              <a:buNone/>
            </a:pPr>
            <a:r>
              <a:rPr lang="en-US" sz="1400" dirty="0">
                <a:solidFill>
                  <a:srgbClr val="F3EDFB"/>
                </a:solidFill>
                <a:latin typeface="Trebuchet MS" pitchFamily="34" charset="0"/>
                <a:ea typeface="Trebuchet MS" pitchFamily="34" charset="-122"/>
                <a:cs typeface="Trebuchet MS" pitchFamily="34" charset="-120"/>
              </a:rPr>
              <a:t>205 governed strings each: every diagnostic question, every escalation ladder, every coaching line, the resistance patterns the retest reads — and the satisfaction cues that decide whether a competency element passed.</a:t>
            </a:r>
            <a:endParaRPr lang="en-US" sz="1400" dirty="0"/>
          </a:p>
        </p:txBody>
      </p:sp>
      <p:sp>
        <p:nvSpPr>
          <p:cNvPr id="18" name="Shape 16"/>
          <p:cNvSpPr/>
          <p:nvPr/>
        </p:nvSpPr>
        <p:spPr>
          <a:xfrm>
            <a:off x="713232" y="3611880"/>
            <a:ext cx="10765231" cy="914400"/>
          </a:xfrm>
          <a:prstGeom prst="roundRect">
            <a:avLst>
              <a:gd name="adj" fmla="val 6000"/>
            </a:avLst>
          </a:prstGeom>
          <a:solidFill>
            <a:srgbClr val="1A1338"/>
          </a:solidFill>
          <a:ln w="12700">
            <a:solidFill>
              <a:srgbClr val="332758"/>
            </a:solidFill>
            <a:prstDash val="solid"/>
          </a:ln>
        </p:spPr>
      </p:sp>
      <p:sp>
        <p:nvSpPr>
          <p:cNvPr id="19" name="Shape 17"/>
          <p:cNvSpPr/>
          <p:nvPr/>
        </p:nvSpPr>
        <p:spPr>
          <a:xfrm>
            <a:off x="713232" y="3611880"/>
            <a:ext cx="41148" cy="914400"/>
          </a:xfrm>
          <a:prstGeom prst="rect">
            <a:avLst/>
          </a:prstGeom>
          <a:solidFill>
            <a:srgbClr val="E88DA0"/>
          </a:solidFill>
          <a:ln/>
        </p:spPr>
      </p:sp>
      <p:sp>
        <p:nvSpPr>
          <p:cNvPr id="20" name="Text 18"/>
          <p:cNvSpPr/>
          <p:nvPr/>
        </p:nvSpPr>
        <p:spPr>
          <a:xfrm>
            <a:off x="1078992" y="3794760"/>
            <a:ext cx="10033711" cy="548640"/>
          </a:xfrm>
          <a:prstGeom prst="rect">
            <a:avLst/>
          </a:prstGeom>
          <a:noFill/>
          <a:ln/>
        </p:spPr>
        <p:txBody>
          <a:bodyPr wrap="square" rtlCol="0" anchor="ctr"/>
          <a:lstStyle/>
          <a:p>
            <a:pPr indent="0" marL="0">
              <a:buNone/>
            </a:pPr>
            <a:r>
              <a:rPr lang="en-US" sz="1500" i="1" dirty="0">
                <a:solidFill>
                  <a:srgbClr val="F3EDFB"/>
                </a:solidFill>
                <a:latin typeface="Georgia" pitchFamily="34" charset="0"/>
                <a:ea typeface="Georgia" pitchFamily="34" charset="-122"/>
                <a:cs typeface="Georgia" pitchFamily="34" charset="-120"/>
              </a:rPr>
              <a:t>Ship English cues only and every element silently fails for every non-English learner, while the screen looks perfectly translated.</a:t>
            </a:r>
            <a:endParaRPr lang="en-US" sz="1500" dirty="0"/>
          </a:p>
        </p:txBody>
      </p:sp>
      <p:sp>
        <p:nvSpPr>
          <p:cNvPr id="21" name="Text 19"/>
          <p:cNvSpPr/>
          <p:nvPr/>
        </p:nvSpPr>
        <p:spPr>
          <a:xfrm>
            <a:off x="713232" y="4754880"/>
            <a:ext cx="10119317" cy="914400"/>
          </a:xfrm>
          <a:prstGeom prst="rect">
            <a:avLst/>
          </a:prstGeom>
          <a:noFill/>
          <a:ln/>
        </p:spPr>
        <p:txBody>
          <a:bodyPr wrap="square" rtlCol="0" anchor="ctr"/>
          <a:lstStyle/>
          <a:p>
            <a:pPr indent="0" marL="0">
              <a:lnSpc>
                <a:spcPts val="1900"/>
              </a:lnSpc>
              <a:buNone/>
            </a:pPr>
            <a:r>
              <a:rPr lang="en-US" sz="1250" dirty="0">
                <a:solidFill>
                  <a:srgbClr val="A394C8"/>
                </a:solidFill>
                <a:latin typeface="Trebuchet MS" pitchFamily="34" charset="0"/>
                <a:ea typeface="Trebuchet MS" pitchFamily="34" charset="-122"/>
                <a:cs typeface="Trebuchet MS" pitchFamily="34" charset="-120"/>
              </a:rPr>
              <a:t>Fidelity is stated, not assumed. Only English has passed native review; the other four ship at review-pending, the publish gate reports every pending variant, and the learner-facing screen says so. Adding Japanese broke the gate — the boundary refusal had been proven in four languages, and a boundary not proven in a language it will be spoken in is not a boundary.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17</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DEPLOYMENT</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One engine. Many operators. One scope rule.</a:t>
            </a:r>
            <a:endParaRPr lang="en-US" sz="3400" dirty="0"/>
          </a:p>
        </p:txBody>
      </p:sp>
      <p:sp>
        <p:nvSpPr>
          <p:cNvPr id="7" name="Text 5"/>
          <p:cNvSpPr/>
          <p:nvPr/>
        </p:nvSpPr>
        <p:spPr>
          <a:xfrm>
            <a:off x="713232" y="1828800"/>
            <a:ext cx="9688708" cy="365760"/>
          </a:xfrm>
          <a:prstGeom prst="rect">
            <a:avLst/>
          </a:prstGeom>
          <a:noFill/>
          <a:ln/>
        </p:spPr>
        <p:txBody>
          <a:bodyPr wrap="square" rtlCol="0" anchor="ctr"/>
          <a:lstStyle/>
          <a:p>
            <a:pPr indent="0" marL="0">
              <a:buNone/>
            </a:pPr>
            <a:r>
              <a:rPr lang="en-US" sz="1400" dirty="0">
                <a:solidFill>
                  <a:srgbClr val="C7B3F0"/>
                </a:solidFill>
                <a:latin typeface="Trebuchet MS" pitchFamily="34" charset="0"/>
                <a:ea typeface="Trebuchet MS" pitchFamily="34" charset="-122"/>
                <a:cs typeface="Trebuchet MS" pitchFamily="34" charset="-120"/>
              </a:rPr>
              <a:t>A securities commission, a bank and a ministry are the same software and three different accountabilities.</a:t>
            </a:r>
            <a:endParaRPr lang="en-US" sz="1400" dirty="0"/>
          </a:p>
        </p:txBody>
      </p:sp>
      <p:sp>
        <p:nvSpPr>
          <p:cNvPr id="8" name="Shape 6"/>
          <p:cNvSpPr/>
          <p:nvPr/>
        </p:nvSpPr>
        <p:spPr>
          <a:xfrm>
            <a:off x="713232" y="2331720"/>
            <a:ext cx="10765231" cy="361737"/>
          </a:xfrm>
          <a:prstGeom prst="rect">
            <a:avLst/>
          </a:prstGeom>
          <a:solidFill>
            <a:srgbClr val="241B52"/>
          </a:solidFill>
          <a:ln/>
        </p:spPr>
      </p:sp>
      <p:sp>
        <p:nvSpPr>
          <p:cNvPr id="9" name="Text 7"/>
          <p:cNvSpPr/>
          <p:nvPr/>
        </p:nvSpPr>
        <p:spPr>
          <a:xfrm>
            <a:off x="841248" y="2331720"/>
            <a:ext cx="2944368" cy="361737"/>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Viewer</a:t>
            </a:r>
            <a:endParaRPr lang="en-US" sz="950" dirty="0"/>
          </a:p>
        </p:txBody>
      </p:sp>
      <p:sp>
        <p:nvSpPr>
          <p:cNvPr id="10" name="Text 8"/>
          <p:cNvSpPr/>
          <p:nvPr/>
        </p:nvSpPr>
        <p:spPr>
          <a:xfrm>
            <a:off x="4041648" y="2331720"/>
            <a:ext cx="3584448" cy="361737"/>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Subject</a:t>
            </a:r>
            <a:endParaRPr lang="en-US" sz="950" dirty="0"/>
          </a:p>
        </p:txBody>
      </p:sp>
      <p:sp>
        <p:nvSpPr>
          <p:cNvPr id="11" name="Text 9"/>
          <p:cNvSpPr/>
          <p:nvPr/>
        </p:nvSpPr>
        <p:spPr>
          <a:xfrm>
            <a:off x="7882128" y="2331720"/>
            <a:ext cx="3465576" cy="361737"/>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What they see</a:t>
            </a:r>
            <a:endParaRPr lang="en-US" sz="950" dirty="0"/>
          </a:p>
        </p:txBody>
      </p:sp>
      <p:sp>
        <p:nvSpPr>
          <p:cNvPr id="12" name="Text 10"/>
          <p:cNvSpPr/>
          <p:nvPr/>
        </p:nvSpPr>
        <p:spPr>
          <a:xfrm>
            <a:off x="841248" y="2693457"/>
            <a:ext cx="29443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Any tenant</a:t>
            </a:r>
            <a:endParaRPr lang="en-US" sz="1150" dirty="0"/>
          </a:p>
        </p:txBody>
      </p:sp>
      <p:sp>
        <p:nvSpPr>
          <p:cNvPr id="13" name="Text 11"/>
          <p:cNvSpPr/>
          <p:nvPr/>
        </p:nvSpPr>
        <p:spPr>
          <a:xfrm>
            <a:off x="4041648" y="2693457"/>
            <a:ext cx="358444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Itself</a:t>
            </a:r>
            <a:endParaRPr lang="en-US" sz="1150" dirty="0"/>
          </a:p>
        </p:txBody>
      </p:sp>
      <p:sp>
        <p:nvSpPr>
          <p:cNvPr id="14" name="Text 12"/>
          <p:cNvSpPr/>
          <p:nvPr/>
        </p:nvSpPr>
        <p:spPr>
          <a:xfrm>
            <a:off x="7882128" y="2693457"/>
            <a:ext cx="3465576" cy="420624"/>
          </a:xfrm>
          <a:prstGeom prst="rect">
            <a:avLst/>
          </a:prstGeom>
          <a:noFill/>
          <a:ln/>
        </p:spPr>
        <p:txBody>
          <a:bodyPr wrap="square" rtlCol="0" anchor="ctr"/>
          <a:lstStyle/>
          <a:p>
            <a:pPr indent="0" marL="0">
              <a:lnSpc>
                <a:spcPts val="1400"/>
              </a:lnSpc>
              <a:buNone/>
            </a:pPr>
            <a:r>
              <a:rPr lang="en-US" sz="1150" dirty="0">
                <a:solidFill>
                  <a:srgbClr val="8FD3BA"/>
                </a:solidFill>
                <a:latin typeface="Trebuchet MS" pitchFamily="34" charset="0"/>
                <a:ea typeface="Trebuchet MS" pitchFamily="34" charset="-122"/>
                <a:cs typeface="Trebuchet MS" pitchFamily="34" charset="-120"/>
              </a:rPr>
              <a:t>Individuals by name</a:t>
            </a:r>
            <a:endParaRPr lang="en-US" sz="1150" dirty="0"/>
          </a:p>
        </p:txBody>
      </p:sp>
      <p:sp>
        <p:nvSpPr>
          <p:cNvPr id="15" name="Shape 13"/>
          <p:cNvSpPr/>
          <p:nvPr/>
        </p:nvSpPr>
        <p:spPr>
          <a:xfrm>
            <a:off x="713232" y="3114081"/>
            <a:ext cx="10765231" cy="420624"/>
          </a:xfrm>
          <a:prstGeom prst="rect">
            <a:avLst/>
          </a:prstGeom>
          <a:solidFill>
            <a:srgbClr val="150F35"/>
          </a:solidFill>
          <a:ln/>
        </p:spPr>
      </p:sp>
      <p:sp>
        <p:nvSpPr>
          <p:cNvPr id="16" name="Text 14"/>
          <p:cNvSpPr/>
          <p:nvPr/>
        </p:nvSpPr>
        <p:spPr>
          <a:xfrm>
            <a:off x="841248" y="3114081"/>
            <a:ext cx="29443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Network body — IOSCO, ESMA</a:t>
            </a:r>
            <a:endParaRPr lang="en-US" sz="1150" dirty="0"/>
          </a:p>
        </p:txBody>
      </p:sp>
      <p:sp>
        <p:nvSpPr>
          <p:cNvPr id="17" name="Text 15"/>
          <p:cNvSpPr/>
          <p:nvPr/>
        </p:nvSpPr>
        <p:spPr>
          <a:xfrm>
            <a:off x="4041648" y="3114081"/>
            <a:ext cx="358444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A tenant in its jurisdictions</a:t>
            </a:r>
            <a:endParaRPr lang="en-US" sz="1150" dirty="0"/>
          </a:p>
        </p:txBody>
      </p:sp>
      <p:sp>
        <p:nvSpPr>
          <p:cNvPr id="18" name="Text 16"/>
          <p:cNvSpPr/>
          <p:nvPr/>
        </p:nvSpPr>
        <p:spPr>
          <a:xfrm>
            <a:off x="7882128" y="3114081"/>
            <a:ext cx="3465576" cy="420624"/>
          </a:xfrm>
          <a:prstGeom prst="rect">
            <a:avLst/>
          </a:prstGeom>
          <a:noFill/>
          <a:ln/>
        </p:spPr>
        <p:txBody>
          <a:bodyPr wrap="square" rtlCol="0" anchor="ctr"/>
          <a:lstStyle/>
          <a:p>
            <a:pPr indent="0" marL="0">
              <a:lnSpc>
                <a:spcPts val="1400"/>
              </a:lnSpc>
              <a:buNone/>
            </a:pPr>
            <a:r>
              <a:rPr lang="en-US" sz="1150" dirty="0">
                <a:solidFill>
                  <a:srgbClr val="EBC98C"/>
                </a:solidFill>
                <a:latin typeface="Trebuchet MS" pitchFamily="34" charset="0"/>
                <a:ea typeface="Trebuchet MS" pitchFamily="34" charset="-122"/>
                <a:cs typeface="Trebuchet MS" pitchFamily="34" charset="-120"/>
              </a:rPr>
              <a:t>Aggregate only</a:t>
            </a:r>
            <a:endParaRPr lang="en-US" sz="1150" dirty="0"/>
          </a:p>
        </p:txBody>
      </p:sp>
      <p:sp>
        <p:nvSpPr>
          <p:cNvPr id="19" name="Text 17"/>
          <p:cNvSpPr/>
          <p:nvPr/>
        </p:nvSpPr>
        <p:spPr>
          <a:xfrm>
            <a:off x="841248" y="3534705"/>
            <a:ext cx="2944368" cy="420624"/>
          </a:xfrm>
          <a:prstGeom prst="rect">
            <a:avLst/>
          </a:prstGeom>
          <a:noFill/>
          <a:ln/>
        </p:spPr>
        <p:txBody>
          <a:bodyPr wrap="square" rtlCol="0" anchor="ctr"/>
          <a:lstStyle/>
          <a:p>
            <a:pPr indent="0" marL="0">
              <a:lnSpc>
                <a:spcPts val="1400"/>
              </a:lnSpc>
              <a:buNone/>
            </a:pPr>
            <a:r>
              <a:rPr lang="en-US" sz="1150" dirty="0">
                <a:solidFill>
                  <a:srgbClr val="EBA98C"/>
                </a:solidFill>
                <a:latin typeface="Trebuchet MS" pitchFamily="34" charset="0"/>
                <a:ea typeface="Trebuchet MS" pitchFamily="34" charset="-122"/>
                <a:cs typeface="Trebuchet MS" pitchFamily="34" charset="-120"/>
              </a:rPr>
              <a:t>Regulator</a:t>
            </a:r>
            <a:endParaRPr lang="en-US" sz="1150" dirty="0"/>
          </a:p>
        </p:txBody>
      </p:sp>
      <p:sp>
        <p:nvSpPr>
          <p:cNvPr id="20" name="Text 18"/>
          <p:cNvSpPr/>
          <p:nvPr/>
        </p:nvSpPr>
        <p:spPr>
          <a:xfrm>
            <a:off x="4041648" y="3534705"/>
            <a:ext cx="3584448" cy="420624"/>
          </a:xfrm>
          <a:prstGeom prst="rect">
            <a:avLst/>
          </a:prstGeom>
          <a:noFill/>
          <a:ln/>
        </p:spPr>
        <p:txBody>
          <a:bodyPr wrap="square" rtlCol="0" anchor="ctr"/>
          <a:lstStyle/>
          <a:p>
            <a:pPr indent="0" marL="0">
              <a:lnSpc>
                <a:spcPts val="1400"/>
              </a:lnSpc>
              <a:buNone/>
            </a:pPr>
            <a:r>
              <a:rPr lang="en-US" sz="1150" dirty="0">
                <a:solidFill>
                  <a:srgbClr val="EBA98C"/>
                </a:solidFill>
                <a:latin typeface="Trebuchet MS" pitchFamily="34" charset="0"/>
                <a:ea typeface="Trebuchet MS" pitchFamily="34" charset="-122"/>
                <a:cs typeface="Trebuchet MS" pitchFamily="34" charset="-120"/>
              </a:rPr>
              <a:t>A bank that reports to it</a:t>
            </a:r>
            <a:endParaRPr lang="en-US" sz="1150" dirty="0"/>
          </a:p>
        </p:txBody>
      </p:sp>
      <p:sp>
        <p:nvSpPr>
          <p:cNvPr id="21" name="Text 19"/>
          <p:cNvSpPr/>
          <p:nvPr/>
        </p:nvSpPr>
        <p:spPr>
          <a:xfrm>
            <a:off x="7882128" y="3534705"/>
            <a:ext cx="3465576" cy="420624"/>
          </a:xfrm>
          <a:prstGeom prst="rect">
            <a:avLst/>
          </a:prstGeom>
          <a:noFill/>
          <a:ln/>
        </p:spPr>
        <p:txBody>
          <a:bodyPr wrap="square" rtlCol="0" anchor="ctr"/>
          <a:lstStyle/>
          <a:p>
            <a:pPr indent="0" marL="0">
              <a:lnSpc>
                <a:spcPts val="1400"/>
              </a:lnSpc>
              <a:buNone/>
            </a:pPr>
            <a:r>
              <a:rPr lang="en-US" sz="1150" dirty="0">
                <a:solidFill>
                  <a:srgbClr val="EBC98C"/>
                </a:solidFill>
                <a:latin typeface="Trebuchet MS" pitchFamily="34" charset="0"/>
                <a:ea typeface="Trebuchet MS" pitchFamily="34" charset="-122"/>
                <a:cs typeface="Trebuchet MS" pitchFamily="34" charset="-120"/>
              </a:rPr>
              <a:t>Aggregate only</a:t>
            </a:r>
            <a:endParaRPr lang="en-US" sz="1150" dirty="0"/>
          </a:p>
        </p:txBody>
      </p:sp>
      <p:sp>
        <p:nvSpPr>
          <p:cNvPr id="22" name="Shape 20"/>
          <p:cNvSpPr/>
          <p:nvPr/>
        </p:nvSpPr>
        <p:spPr>
          <a:xfrm>
            <a:off x="713232" y="3955329"/>
            <a:ext cx="10765231" cy="420624"/>
          </a:xfrm>
          <a:prstGeom prst="rect">
            <a:avLst/>
          </a:prstGeom>
          <a:solidFill>
            <a:srgbClr val="150F35"/>
          </a:solidFill>
          <a:ln/>
        </p:spPr>
      </p:sp>
      <p:sp>
        <p:nvSpPr>
          <p:cNvPr id="23" name="Text 21"/>
          <p:cNvSpPr/>
          <p:nvPr/>
        </p:nvSpPr>
        <p:spPr>
          <a:xfrm>
            <a:off x="841248" y="3955329"/>
            <a:ext cx="29443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Anyone</a:t>
            </a:r>
            <a:endParaRPr lang="en-US" sz="1150" dirty="0"/>
          </a:p>
        </p:txBody>
      </p:sp>
      <p:sp>
        <p:nvSpPr>
          <p:cNvPr id="24" name="Text 22"/>
          <p:cNvSpPr/>
          <p:nvPr/>
        </p:nvSpPr>
        <p:spPr>
          <a:xfrm>
            <a:off x="4041648" y="3955329"/>
            <a:ext cx="358444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Anyone else</a:t>
            </a:r>
            <a:endParaRPr lang="en-US" sz="1150" dirty="0"/>
          </a:p>
        </p:txBody>
      </p:sp>
      <p:sp>
        <p:nvSpPr>
          <p:cNvPr id="25" name="Text 23"/>
          <p:cNvSpPr/>
          <p:nvPr/>
        </p:nvSpPr>
        <p:spPr>
          <a:xfrm>
            <a:off x="7882128" y="3955329"/>
            <a:ext cx="3465576" cy="420624"/>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Nothing</a:t>
            </a:r>
            <a:endParaRPr lang="en-US" sz="1150" dirty="0"/>
          </a:p>
        </p:txBody>
      </p:sp>
      <p:sp>
        <p:nvSpPr>
          <p:cNvPr id="26" name="Shape 24"/>
          <p:cNvSpPr/>
          <p:nvPr/>
        </p:nvSpPr>
        <p:spPr>
          <a:xfrm>
            <a:off x="713232" y="4434840"/>
            <a:ext cx="10765231" cy="1143000"/>
          </a:xfrm>
          <a:prstGeom prst="roundRect">
            <a:avLst>
              <a:gd name="adj" fmla="val 4800"/>
            </a:avLst>
          </a:prstGeom>
          <a:solidFill>
            <a:srgbClr val="1A1338"/>
          </a:solidFill>
          <a:ln w="12700">
            <a:solidFill>
              <a:srgbClr val="332758"/>
            </a:solidFill>
            <a:prstDash val="solid"/>
          </a:ln>
        </p:spPr>
      </p:sp>
      <p:sp>
        <p:nvSpPr>
          <p:cNvPr id="27" name="Shape 25"/>
          <p:cNvSpPr/>
          <p:nvPr/>
        </p:nvSpPr>
        <p:spPr>
          <a:xfrm>
            <a:off x="713232" y="4434840"/>
            <a:ext cx="41148" cy="1143000"/>
          </a:xfrm>
          <a:prstGeom prst="rect">
            <a:avLst/>
          </a:prstGeom>
          <a:solidFill>
            <a:srgbClr val="EBA98C"/>
          </a:solidFill>
          <a:ln/>
        </p:spPr>
      </p:sp>
      <p:sp>
        <p:nvSpPr>
          <p:cNvPr id="28" name="Text 26"/>
          <p:cNvSpPr/>
          <p:nvPr/>
        </p:nvSpPr>
        <p:spPr>
          <a:xfrm>
            <a:off x="1078992" y="4617720"/>
            <a:ext cx="10033711" cy="822960"/>
          </a:xfrm>
          <a:prstGeom prst="rect">
            <a:avLst/>
          </a:prstGeom>
          <a:noFill/>
          <a:ln/>
        </p:spPr>
        <p:txBody>
          <a:bodyPr wrap="square" rtlCol="0" anchor="ctr"/>
          <a:lstStyle/>
          <a:p>
            <a:pPr indent="0" marL="0">
              <a:lnSpc>
                <a:spcPts val="2000"/>
              </a:lnSpc>
              <a:buNone/>
            </a:pPr>
            <a:r>
              <a:rPr lang="en-US" sz="1300" dirty="0">
                <a:solidFill>
                  <a:srgbClr val="F3EDFB"/>
                </a:solidFill>
                <a:latin typeface="Trebuchet MS" pitchFamily="34" charset="0"/>
                <a:ea typeface="Trebuchet MS" pitchFamily="34" charset="-122"/>
                <a:cs typeface="Trebuchet MS" pitchFamily="34" charset="-120"/>
              </a:rPr>
              <a:t>The third row decides deployments. A bank will not put its customers into a platform where its supervisor can read the list — and filtering it in the interface is not an answer, it is the same query with a cosmetic layer over it. The scope decision is made once, in one function, and every read passes through it.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33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EBA98C"/>
          </a:solidFill>
          <a:ln/>
        </p:spPr>
      </p:sp>
      <p:sp>
        <p:nvSpPr>
          <p:cNvPr id="3" name="Text 1"/>
          <p:cNvSpPr/>
          <p:nvPr/>
        </p:nvSpPr>
        <p:spPr>
          <a:xfrm>
            <a:off x="1005840" y="2286000"/>
            <a:ext cx="9144000" cy="320040"/>
          </a:xfrm>
          <a:prstGeom prst="rect">
            <a:avLst/>
          </a:prstGeom>
          <a:noFill/>
          <a:ln/>
        </p:spPr>
        <p:txBody>
          <a:bodyPr wrap="square" rtlCol="0" anchor="ctr"/>
          <a:lstStyle/>
          <a:p>
            <a:pPr indent="0" marL="0">
              <a:buNone/>
            </a:pPr>
            <a:r>
              <a:rPr lang="en-US" sz="1200" b="1" spc="400" kern="0" dirty="0">
                <a:solidFill>
                  <a:srgbClr val="EBA98C"/>
                </a:solidFill>
                <a:latin typeface="Trebuchet MS" pitchFamily="34" charset="0"/>
                <a:ea typeface="Trebuchet MS" pitchFamily="34" charset="-122"/>
                <a:cs typeface="Trebuchet MS" pitchFamily="34" charset="-120"/>
              </a:rPr>
              <a:t>SECTION FIVE</a:t>
            </a:r>
            <a:endParaRPr lang="en-US" sz="1200" dirty="0"/>
          </a:p>
        </p:txBody>
      </p:sp>
      <p:sp>
        <p:nvSpPr>
          <p:cNvPr id="4" name="Text 2"/>
          <p:cNvSpPr/>
          <p:nvPr/>
        </p:nvSpPr>
        <p:spPr>
          <a:xfrm>
            <a:off x="1005840" y="2651760"/>
            <a:ext cx="9692640" cy="1005840"/>
          </a:xfrm>
          <a:prstGeom prst="rect">
            <a:avLst/>
          </a:prstGeom>
          <a:noFill/>
          <a:ln/>
        </p:spPr>
        <p:txBody>
          <a:bodyPr wrap="square" rtlCol="0" anchor="ctr"/>
          <a:lstStyle/>
          <a:p>
            <a:pPr indent="0" marL="0">
              <a:buNone/>
            </a:pPr>
            <a:r>
              <a:rPr lang="en-US" sz="4000" b="1" dirty="0">
                <a:solidFill>
                  <a:srgbClr val="F3EDFB"/>
                </a:solidFill>
                <a:latin typeface="Trebuchet MS" pitchFamily="34" charset="0"/>
                <a:ea typeface="Trebuchet MS" pitchFamily="34" charset="-122"/>
                <a:cs typeface="Trebuchet MS" pitchFamily="34" charset="-120"/>
              </a:rPr>
              <a:t>Evaluation</a:t>
            </a:r>
            <a:endParaRPr lang="en-US" sz="4000" dirty="0"/>
          </a:p>
        </p:txBody>
      </p:sp>
      <p:sp>
        <p:nvSpPr>
          <p:cNvPr id="5" name="Text 3"/>
          <p:cNvSpPr/>
          <p:nvPr/>
        </p:nvSpPr>
        <p:spPr>
          <a:xfrm>
            <a:off x="1005840" y="3703320"/>
            <a:ext cx="8778240" cy="822960"/>
          </a:xfrm>
          <a:prstGeom prst="rect">
            <a:avLst/>
          </a:prstGeom>
          <a:noFill/>
          <a:ln/>
        </p:spPr>
        <p:txBody>
          <a:bodyPr wrap="square" rtlCol="0" anchor="ctr"/>
          <a:lstStyle/>
          <a:p>
            <a:pPr indent="0" marL="0">
              <a:lnSpc>
                <a:spcPts val="2200"/>
              </a:lnSpc>
              <a:buNone/>
            </a:pPr>
            <a:r>
              <a:rPr lang="en-US" sz="1500" dirty="0">
                <a:solidFill>
                  <a:srgbClr val="A394C8"/>
                </a:solidFill>
                <a:latin typeface="Trebuchet MS" pitchFamily="34" charset="0"/>
                <a:ea typeface="Trebuchet MS" pitchFamily="34" charset="-122"/>
                <a:cs typeface="Trebuchet MS" pitchFamily="34" charset="-120"/>
              </a:rPr>
              <a:t>Whether it works — and what we are allowed to claim on the evidence we actually have.</a:t>
            </a:r>
            <a:endParaRPr lang="en-US" sz="1500" dirty="0"/>
          </a:p>
        </p:txBody>
      </p:sp>
      <p:sp>
        <p:nvSpPr>
          <p:cNvPr id="6" name="Text 4"/>
          <p:cNvSpPr/>
          <p:nvPr/>
        </p:nvSpPr>
        <p:spPr>
          <a:xfrm>
            <a:off x="11094415" y="6199632"/>
            <a:ext cx="548640" cy="274320"/>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19</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THE VALUE CHAIN</a:t>
            </a:r>
            <a:endParaRPr lang="en-US" sz="1100" dirty="0"/>
          </a:p>
        </p:txBody>
      </p:sp>
      <p:sp>
        <p:nvSpPr>
          <p:cNvPr id="6" name="Text 4"/>
          <p:cNvSpPr/>
          <p:nvPr/>
        </p:nvSpPr>
        <p:spPr>
          <a:xfrm>
            <a:off x="713232" y="786384"/>
            <a:ext cx="10765231" cy="1097280"/>
          </a:xfrm>
          <a:prstGeom prst="rect">
            <a:avLst/>
          </a:prstGeom>
          <a:noFill/>
          <a:ln/>
        </p:spPr>
        <p:txBody>
          <a:bodyPr wrap="square" rtlCol="0" anchor="t"/>
          <a:lstStyle/>
          <a:p>
            <a:pPr indent="0" marL="0">
              <a:buNone/>
            </a:pPr>
            <a:r>
              <a:rPr lang="en-US" sz="2600" b="1" dirty="0">
                <a:solidFill>
                  <a:srgbClr val="F3EDFB"/>
                </a:solidFill>
                <a:latin typeface="Trebuchet MS" pitchFamily="34" charset="0"/>
                <a:ea typeface="Trebuchet MS" pitchFamily="34" charset="-122"/>
                <a:cs typeface="Trebuchet MS" pitchFamily="34" charset="-120"/>
              </a:rPr>
              <a:t>Most programmes measure level one and report it</a:t>
            </a:r>
            <a:endParaRPr lang="en-US" sz="2600" dirty="0"/>
          </a:p>
          <a:p>
            <a:pPr indent="0" marL="0">
              <a:buNone/>
            </a:pPr>
            <a:r>
              <a:rPr lang="en-US" sz="2600" b="1" dirty="0">
                <a:solidFill>
                  <a:srgbClr val="F3EDFB"/>
                </a:solidFill>
                <a:latin typeface="Trebuchet MS" pitchFamily="34" charset="0"/>
                <a:ea typeface="Trebuchet MS" pitchFamily="34" charset="-122"/>
                <a:cs typeface="Trebuchet MS" pitchFamily="34" charset="-120"/>
              </a:rPr>
              <a:t>in the language of level seven.</a:t>
            </a:r>
            <a:endParaRPr lang="en-US" sz="2600" dirty="0"/>
          </a:p>
        </p:txBody>
      </p:sp>
      <p:sp>
        <p:nvSpPr>
          <p:cNvPr id="7" name="Shape 5"/>
          <p:cNvSpPr/>
          <p:nvPr/>
        </p:nvSpPr>
        <p:spPr>
          <a:xfrm>
            <a:off x="713232" y="2395728"/>
            <a:ext cx="256032" cy="256032"/>
          </a:xfrm>
          <a:prstGeom prst="ellipse">
            <a:avLst/>
          </a:prstGeom>
          <a:solidFill>
            <a:srgbClr val="8FD3BA"/>
          </a:solidFill>
          <a:ln/>
        </p:spPr>
      </p:sp>
      <p:sp>
        <p:nvSpPr>
          <p:cNvPr id="8" name="Text 6"/>
          <p:cNvSpPr/>
          <p:nvPr/>
        </p:nvSpPr>
        <p:spPr>
          <a:xfrm>
            <a:off x="713232" y="2395728"/>
            <a:ext cx="256032" cy="256032"/>
          </a:xfrm>
          <a:prstGeom prst="rect">
            <a:avLst/>
          </a:prstGeom>
          <a:noFill/>
          <a:ln/>
        </p:spPr>
        <p:txBody>
          <a:bodyPr wrap="square" rtlCol="0" anchor="ctr"/>
          <a:lstStyle/>
          <a:p>
            <a:pPr algn="ctr" indent="0" marL="0">
              <a:buNone/>
            </a:pPr>
            <a:r>
              <a:rPr lang="en-US" sz="900" b="1" dirty="0">
                <a:solidFill>
                  <a:srgbClr val="0C0820"/>
                </a:solidFill>
                <a:latin typeface="Consolas" pitchFamily="34" charset="0"/>
                <a:ea typeface="Consolas" pitchFamily="34" charset="-122"/>
                <a:cs typeface="Consolas" pitchFamily="34" charset="-120"/>
              </a:rPr>
              <a:t>1</a:t>
            </a:r>
            <a:endParaRPr lang="en-US" sz="900" dirty="0"/>
          </a:p>
        </p:txBody>
      </p:sp>
      <p:sp>
        <p:nvSpPr>
          <p:cNvPr id="9" name="Text 7"/>
          <p:cNvSpPr/>
          <p:nvPr/>
        </p:nvSpPr>
        <p:spPr>
          <a:xfrm>
            <a:off x="1124712" y="2377440"/>
            <a:ext cx="2743200"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Reach</a:t>
            </a:r>
            <a:endParaRPr lang="en-US" sz="1300" dirty="0"/>
          </a:p>
        </p:txBody>
      </p:sp>
      <p:sp>
        <p:nvSpPr>
          <p:cNvPr id="10" name="Text 8"/>
          <p:cNvSpPr/>
          <p:nvPr/>
        </p:nvSpPr>
        <p:spPr>
          <a:xfrm>
            <a:off x="3913632" y="2377440"/>
            <a:ext cx="5644591" cy="292608"/>
          </a:xfrm>
          <a:prstGeom prst="rect">
            <a:avLst/>
          </a:prstGeom>
          <a:noFill/>
          <a:ln/>
        </p:spPr>
        <p:txBody>
          <a:bodyPr wrap="square" rtlCol="0" anchor="ctr"/>
          <a:lstStyle/>
          <a:p>
            <a:pPr indent="0" marL="0">
              <a:buNone/>
            </a:pPr>
            <a:r>
              <a:rPr lang="en-US" sz="1150" dirty="0">
                <a:solidFill>
                  <a:srgbClr val="A394C8"/>
                </a:solidFill>
                <a:latin typeface="Trebuchet MS" pitchFamily="34" charset="0"/>
                <a:ea typeface="Trebuchet MS" pitchFamily="34" charset="-122"/>
                <a:cs typeface="Trebuchet MS" pitchFamily="34" charset="-120"/>
              </a:rPr>
              <a:t>Counts exposure. The weakest number available.</a:t>
            </a:r>
            <a:endParaRPr lang="en-US" sz="1150" dirty="0"/>
          </a:p>
        </p:txBody>
      </p:sp>
      <p:sp>
        <p:nvSpPr>
          <p:cNvPr id="11" name="Text 9"/>
          <p:cNvSpPr/>
          <p:nvPr/>
        </p:nvSpPr>
        <p:spPr>
          <a:xfrm>
            <a:off x="10015423" y="2377440"/>
            <a:ext cx="1463040" cy="292608"/>
          </a:xfrm>
          <a:prstGeom prst="rect">
            <a:avLst/>
          </a:prstGeom>
          <a:noFill/>
          <a:ln/>
        </p:spPr>
        <p:txBody>
          <a:bodyPr wrap="square" rtlCol="0" anchor="ctr"/>
          <a:lstStyle/>
          <a:p>
            <a:pPr algn="r" indent="0" marL="0">
              <a:buNone/>
            </a:pPr>
            <a:r>
              <a:rPr lang="en-US" sz="1000" dirty="0">
                <a:solidFill>
                  <a:srgbClr val="8FD3BA"/>
                </a:solidFill>
                <a:latin typeface="Consolas" pitchFamily="34" charset="0"/>
                <a:ea typeface="Consolas" pitchFamily="34" charset="-122"/>
                <a:cs typeface="Consolas" pitchFamily="34" charset="-120"/>
              </a:rPr>
              <a:t>measured</a:t>
            </a:r>
            <a:endParaRPr lang="en-US" sz="1000" dirty="0"/>
          </a:p>
        </p:txBody>
      </p:sp>
      <p:sp>
        <p:nvSpPr>
          <p:cNvPr id="12" name="Shape 10"/>
          <p:cNvSpPr/>
          <p:nvPr/>
        </p:nvSpPr>
        <p:spPr>
          <a:xfrm>
            <a:off x="713232" y="2834640"/>
            <a:ext cx="256032" cy="256032"/>
          </a:xfrm>
          <a:prstGeom prst="ellipse">
            <a:avLst/>
          </a:prstGeom>
          <a:solidFill>
            <a:srgbClr val="8FD3BA"/>
          </a:solidFill>
          <a:ln/>
        </p:spPr>
      </p:sp>
      <p:sp>
        <p:nvSpPr>
          <p:cNvPr id="13" name="Text 11"/>
          <p:cNvSpPr/>
          <p:nvPr/>
        </p:nvSpPr>
        <p:spPr>
          <a:xfrm>
            <a:off x="713232" y="2834640"/>
            <a:ext cx="256032" cy="256032"/>
          </a:xfrm>
          <a:prstGeom prst="rect">
            <a:avLst/>
          </a:prstGeom>
          <a:noFill/>
          <a:ln/>
        </p:spPr>
        <p:txBody>
          <a:bodyPr wrap="square" rtlCol="0" anchor="ctr"/>
          <a:lstStyle/>
          <a:p>
            <a:pPr algn="ctr" indent="0" marL="0">
              <a:buNone/>
            </a:pPr>
            <a:r>
              <a:rPr lang="en-US" sz="900" b="1" dirty="0">
                <a:solidFill>
                  <a:srgbClr val="0C0820"/>
                </a:solidFill>
                <a:latin typeface="Consolas" pitchFamily="34" charset="0"/>
                <a:ea typeface="Consolas" pitchFamily="34" charset="-122"/>
                <a:cs typeface="Consolas" pitchFamily="34" charset="-120"/>
              </a:rPr>
              <a:t>2</a:t>
            </a:r>
            <a:endParaRPr lang="en-US" sz="900" dirty="0"/>
          </a:p>
        </p:txBody>
      </p:sp>
      <p:sp>
        <p:nvSpPr>
          <p:cNvPr id="14" name="Text 12"/>
          <p:cNvSpPr/>
          <p:nvPr/>
        </p:nvSpPr>
        <p:spPr>
          <a:xfrm>
            <a:off x="1124712" y="2816352"/>
            <a:ext cx="2743200"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Knowledge</a:t>
            </a:r>
            <a:endParaRPr lang="en-US" sz="1300" dirty="0"/>
          </a:p>
        </p:txBody>
      </p:sp>
      <p:sp>
        <p:nvSpPr>
          <p:cNvPr id="15" name="Text 13"/>
          <p:cNvSpPr/>
          <p:nvPr/>
        </p:nvSpPr>
        <p:spPr>
          <a:xfrm>
            <a:off x="3913632" y="2816352"/>
            <a:ext cx="5644591" cy="292608"/>
          </a:xfrm>
          <a:prstGeom prst="rect">
            <a:avLst/>
          </a:prstGeom>
          <a:noFill/>
          <a:ln/>
        </p:spPr>
        <p:txBody>
          <a:bodyPr wrap="square" rtlCol="0" anchor="ctr"/>
          <a:lstStyle/>
          <a:p>
            <a:pPr indent="0" marL="0">
              <a:buNone/>
            </a:pPr>
            <a:r>
              <a:rPr lang="en-US" sz="1150" dirty="0">
                <a:solidFill>
                  <a:srgbClr val="A394C8"/>
                </a:solidFill>
                <a:latin typeface="Trebuchet MS" pitchFamily="34" charset="0"/>
                <a:ea typeface="Trebuchet MS" pitchFamily="34" charset="-122"/>
                <a:cs typeface="Trebuchet MS" pitchFamily="34" charset="-120"/>
              </a:rPr>
              <a:t>Everyone knows the rules. Uncorrelated with behaviour under pressure.</a:t>
            </a:r>
            <a:endParaRPr lang="en-US" sz="1150" dirty="0"/>
          </a:p>
        </p:txBody>
      </p:sp>
      <p:sp>
        <p:nvSpPr>
          <p:cNvPr id="16" name="Text 14"/>
          <p:cNvSpPr/>
          <p:nvPr/>
        </p:nvSpPr>
        <p:spPr>
          <a:xfrm>
            <a:off x="10015423" y="2816352"/>
            <a:ext cx="1463040" cy="292608"/>
          </a:xfrm>
          <a:prstGeom prst="rect">
            <a:avLst/>
          </a:prstGeom>
          <a:noFill/>
          <a:ln/>
        </p:spPr>
        <p:txBody>
          <a:bodyPr wrap="square" rtlCol="0" anchor="ctr"/>
          <a:lstStyle/>
          <a:p>
            <a:pPr algn="r" indent="0" marL="0">
              <a:buNone/>
            </a:pPr>
            <a:r>
              <a:rPr lang="en-US" sz="1000" dirty="0">
                <a:solidFill>
                  <a:srgbClr val="8FD3BA"/>
                </a:solidFill>
                <a:latin typeface="Consolas" pitchFamily="34" charset="0"/>
                <a:ea typeface="Consolas" pitchFamily="34" charset="-122"/>
                <a:cs typeface="Consolas" pitchFamily="34" charset="-120"/>
              </a:rPr>
              <a:t>measured</a:t>
            </a:r>
            <a:endParaRPr lang="en-US" sz="1000" dirty="0"/>
          </a:p>
        </p:txBody>
      </p:sp>
      <p:sp>
        <p:nvSpPr>
          <p:cNvPr id="17" name="Shape 15"/>
          <p:cNvSpPr/>
          <p:nvPr/>
        </p:nvSpPr>
        <p:spPr>
          <a:xfrm>
            <a:off x="713232" y="3273552"/>
            <a:ext cx="256032" cy="256032"/>
          </a:xfrm>
          <a:prstGeom prst="ellipse">
            <a:avLst/>
          </a:prstGeom>
          <a:solidFill>
            <a:srgbClr val="8FD3BA"/>
          </a:solidFill>
          <a:ln/>
        </p:spPr>
      </p:sp>
      <p:sp>
        <p:nvSpPr>
          <p:cNvPr id="18" name="Text 16"/>
          <p:cNvSpPr/>
          <p:nvPr/>
        </p:nvSpPr>
        <p:spPr>
          <a:xfrm>
            <a:off x="713232" y="3273552"/>
            <a:ext cx="256032" cy="256032"/>
          </a:xfrm>
          <a:prstGeom prst="rect">
            <a:avLst/>
          </a:prstGeom>
          <a:noFill/>
          <a:ln/>
        </p:spPr>
        <p:txBody>
          <a:bodyPr wrap="square" rtlCol="0" anchor="ctr"/>
          <a:lstStyle/>
          <a:p>
            <a:pPr algn="ctr" indent="0" marL="0">
              <a:buNone/>
            </a:pPr>
            <a:r>
              <a:rPr lang="en-US" sz="900" b="1" dirty="0">
                <a:solidFill>
                  <a:srgbClr val="0C0820"/>
                </a:solidFill>
                <a:latin typeface="Consolas" pitchFamily="34" charset="0"/>
                <a:ea typeface="Consolas" pitchFamily="34" charset="-122"/>
                <a:cs typeface="Consolas" pitchFamily="34" charset="-120"/>
              </a:rPr>
              <a:t>3</a:t>
            </a:r>
            <a:endParaRPr lang="en-US" sz="900" dirty="0"/>
          </a:p>
        </p:txBody>
      </p:sp>
      <p:sp>
        <p:nvSpPr>
          <p:cNvPr id="19" name="Text 17"/>
          <p:cNvSpPr/>
          <p:nvPr/>
        </p:nvSpPr>
        <p:spPr>
          <a:xfrm>
            <a:off x="1124712" y="3255264"/>
            <a:ext cx="2743200"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Demonstrated behaviour</a:t>
            </a:r>
            <a:endParaRPr lang="en-US" sz="1300" dirty="0"/>
          </a:p>
        </p:txBody>
      </p:sp>
      <p:sp>
        <p:nvSpPr>
          <p:cNvPr id="20" name="Text 18"/>
          <p:cNvSpPr/>
          <p:nvPr/>
        </p:nvSpPr>
        <p:spPr>
          <a:xfrm>
            <a:off x="3913632" y="3255264"/>
            <a:ext cx="5644591" cy="292608"/>
          </a:xfrm>
          <a:prstGeom prst="rect">
            <a:avLst/>
          </a:prstGeom>
          <a:noFill/>
          <a:ln/>
        </p:spPr>
        <p:txBody>
          <a:bodyPr wrap="square" rtlCol="0" anchor="ctr"/>
          <a:lstStyle/>
          <a:p>
            <a:pPr indent="0" marL="0">
              <a:buNone/>
            </a:pPr>
            <a:r>
              <a:rPr lang="en-US" sz="1150" dirty="0">
                <a:solidFill>
                  <a:srgbClr val="A394C8"/>
                </a:solidFill>
                <a:latin typeface="Trebuchet MS" pitchFamily="34" charset="0"/>
                <a:ea typeface="Trebuchet MS" pitchFamily="34" charset="-122"/>
                <a:cs typeface="Trebuchet MS" pitchFamily="34" charset="-120"/>
              </a:rPr>
              <a:t>What they did in a pressure simulation, bound to their words.</a:t>
            </a:r>
            <a:endParaRPr lang="en-US" sz="1150" dirty="0"/>
          </a:p>
        </p:txBody>
      </p:sp>
      <p:sp>
        <p:nvSpPr>
          <p:cNvPr id="21" name="Text 19"/>
          <p:cNvSpPr/>
          <p:nvPr/>
        </p:nvSpPr>
        <p:spPr>
          <a:xfrm>
            <a:off x="10015423" y="3255264"/>
            <a:ext cx="1463040" cy="292608"/>
          </a:xfrm>
          <a:prstGeom prst="rect">
            <a:avLst/>
          </a:prstGeom>
          <a:noFill/>
          <a:ln/>
        </p:spPr>
        <p:txBody>
          <a:bodyPr wrap="square" rtlCol="0" anchor="ctr"/>
          <a:lstStyle/>
          <a:p>
            <a:pPr algn="r" indent="0" marL="0">
              <a:buNone/>
            </a:pPr>
            <a:r>
              <a:rPr lang="en-US" sz="1000" dirty="0">
                <a:solidFill>
                  <a:srgbClr val="8FD3BA"/>
                </a:solidFill>
                <a:latin typeface="Consolas" pitchFamily="34" charset="0"/>
                <a:ea typeface="Consolas" pitchFamily="34" charset="-122"/>
                <a:cs typeface="Consolas" pitchFamily="34" charset="-120"/>
              </a:rPr>
              <a:t>measured</a:t>
            </a:r>
            <a:endParaRPr lang="en-US" sz="1000" dirty="0"/>
          </a:p>
        </p:txBody>
      </p:sp>
      <p:sp>
        <p:nvSpPr>
          <p:cNvPr id="22" name="Shape 20"/>
          <p:cNvSpPr/>
          <p:nvPr/>
        </p:nvSpPr>
        <p:spPr>
          <a:xfrm>
            <a:off x="713232" y="3712464"/>
            <a:ext cx="256032" cy="256032"/>
          </a:xfrm>
          <a:prstGeom prst="ellipse">
            <a:avLst/>
          </a:prstGeom>
          <a:solidFill>
            <a:srgbClr val="8FD3BA"/>
          </a:solidFill>
          <a:ln/>
        </p:spPr>
      </p:sp>
      <p:sp>
        <p:nvSpPr>
          <p:cNvPr id="23" name="Text 21"/>
          <p:cNvSpPr/>
          <p:nvPr/>
        </p:nvSpPr>
        <p:spPr>
          <a:xfrm>
            <a:off x="713232" y="3712464"/>
            <a:ext cx="256032" cy="256032"/>
          </a:xfrm>
          <a:prstGeom prst="rect">
            <a:avLst/>
          </a:prstGeom>
          <a:noFill/>
          <a:ln/>
        </p:spPr>
        <p:txBody>
          <a:bodyPr wrap="square" rtlCol="0" anchor="ctr"/>
          <a:lstStyle/>
          <a:p>
            <a:pPr algn="ctr" indent="0" marL="0">
              <a:buNone/>
            </a:pPr>
            <a:r>
              <a:rPr lang="en-US" sz="900" b="1" dirty="0">
                <a:solidFill>
                  <a:srgbClr val="0C0820"/>
                </a:solidFill>
                <a:latin typeface="Consolas" pitchFamily="34" charset="0"/>
                <a:ea typeface="Consolas" pitchFamily="34" charset="-122"/>
                <a:cs typeface="Consolas" pitchFamily="34" charset="-120"/>
              </a:rPr>
              <a:t>4</a:t>
            </a:r>
            <a:endParaRPr lang="en-US" sz="900" dirty="0"/>
          </a:p>
        </p:txBody>
      </p:sp>
      <p:sp>
        <p:nvSpPr>
          <p:cNvPr id="24" name="Text 22"/>
          <p:cNvSpPr/>
          <p:nvPr/>
        </p:nvSpPr>
        <p:spPr>
          <a:xfrm>
            <a:off x="1124712" y="3694176"/>
            <a:ext cx="2743200" cy="292608"/>
          </a:xfrm>
          <a:prstGeom prst="rect">
            <a:avLst/>
          </a:prstGeom>
          <a:noFill/>
          <a:ln/>
        </p:spPr>
        <p:txBody>
          <a:bodyPr wrap="square" rtlCol="0" anchor="ctr"/>
          <a:lstStyle/>
          <a:p>
            <a:pPr indent="0" marL="0">
              <a:buNone/>
            </a:pPr>
            <a:r>
              <a:rPr lang="en-US" sz="1300" b="1" dirty="0">
                <a:solidFill>
                  <a:srgbClr val="F3EDFB"/>
                </a:solidFill>
                <a:latin typeface="Trebuchet MS" pitchFamily="34" charset="0"/>
                <a:ea typeface="Trebuchet MS" pitchFamily="34" charset="-122"/>
                <a:cs typeface="Trebuchet MS" pitchFamily="34" charset="-120"/>
              </a:rPr>
              <a:t>Transfer</a:t>
            </a:r>
            <a:endParaRPr lang="en-US" sz="1300" dirty="0"/>
          </a:p>
        </p:txBody>
      </p:sp>
      <p:sp>
        <p:nvSpPr>
          <p:cNvPr id="25" name="Text 23"/>
          <p:cNvSpPr/>
          <p:nvPr/>
        </p:nvSpPr>
        <p:spPr>
          <a:xfrm>
            <a:off x="3913632" y="3694176"/>
            <a:ext cx="5644591" cy="292608"/>
          </a:xfrm>
          <a:prstGeom prst="rect">
            <a:avLst/>
          </a:prstGeom>
          <a:noFill/>
          <a:ln/>
        </p:spPr>
        <p:txBody>
          <a:bodyPr wrap="square" rtlCol="0" anchor="ctr"/>
          <a:lstStyle/>
          <a:p>
            <a:pPr indent="0" marL="0">
              <a:buNone/>
            </a:pPr>
            <a:r>
              <a:rPr lang="en-US" sz="1150" dirty="0">
                <a:solidFill>
                  <a:srgbClr val="A394C8"/>
                </a:solidFill>
                <a:latin typeface="Trebuchet MS" pitchFamily="34" charset="0"/>
                <a:ea typeface="Trebuchet MS" pitchFamily="34" charset="-122"/>
                <a:cs typeface="Trebuchet MS" pitchFamily="34" charset="-120"/>
              </a:rPr>
              <a:t>The same behaviour in a scenario sharing nothing with the first.</a:t>
            </a:r>
            <a:endParaRPr lang="en-US" sz="1150" dirty="0"/>
          </a:p>
        </p:txBody>
      </p:sp>
      <p:sp>
        <p:nvSpPr>
          <p:cNvPr id="26" name="Text 24"/>
          <p:cNvSpPr/>
          <p:nvPr/>
        </p:nvSpPr>
        <p:spPr>
          <a:xfrm>
            <a:off x="10015423" y="3694176"/>
            <a:ext cx="1463040" cy="292608"/>
          </a:xfrm>
          <a:prstGeom prst="rect">
            <a:avLst/>
          </a:prstGeom>
          <a:noFill/>
          <a:ln/>
        </p:spPr>
        <p:txBody>
          <a:bodyPr wrap="square" rtlCol="0" anchor="ctr"/>
          <a:lstStyle/>
          <a:p>
            <a:pPr algn="r" indent="0" marL="0">
              <a:buNone/>
            </a:pPr>
            <a:r>
              <a:rPr lang="en-US" sz="1000" dirty="0">
                <a:solidFill>
                  <a:srgbClr val="8FD3BA"/>
                </a:solidFill>
                <a:latin typeface="Consolas" pitchFamily="34" charset="0"/>
                <a:ea typeface="Consolas" pitchFamily="34" charset="-122"/>
                <a:cs typeface="Consolas" pitchFamily="34" charset="-120"/>
              </a:rPr>
              <a:t>measured</a:t>
            </a:r>
            <a:endParaRPr lang="en-US" sz="1000" dirty="0"/>
          </a:p>
        </p:txBody>
      </p:sp>
      <p:sp>
        <p:nvSpPr>
          <p:cNvPr id="27" name="Shape 25"/>
          <p:cNvSpPr/>
          <p:nvPr/>
        </p:nvSpPr>
        <p:spPr>
          <a:xfrm>
            <a:off x="713232" y="4151376"/>
            <a:ext cx="256032" cy="256032"/>
          </a:xfrm>
          <a:prstGeom prst="ellipse">
            <a:avLst/>
          </a:prstGeom>
          <a:solidFill>
            <a:srgbClr val="2A2059"/>
          </a:solidFill>
          <a:ln/>
        </p:spPr>
      </p:sp>
      <p:sp>
        <p:nvSpPr>
          <p:cNvPr id="28" name="Text 26"/>
          <p:cNvSpPr/>
          <p:nvPr/>
        </p:nvSpPr>
        <p:spPr>
          <a:xfrm>
            <a:off x="713232" y="4151376"/>
            <a:ext cx="256032" cy="256032"/>
          </a:xfrm>
          <a:prstGeom prst="rect">
            <a:avLst/>
          </a:prstGeom>
          <a:noFill/>
          <a:ln/>
        </p:spPr>
        <p:txBody>
          <a:bodyPr wrap="square" rtlCol="0" anchor="ctr"/>
          <a:lstStyle/>
          <a:p>
            <a:pPr algn="ctr" indent="0" marL="0">
              <a:buNone/>
            </a:pPr>
            <a:r>
              <a:rPr lang="en-US" sz="900" b="1" dirty="0">
                <a:solidFill>
                  <a:srgbClr val="7A6AA8"/>
                </a:solidFill>
                <a:latin typeface="Consolas" pitchFamily="34" charset="0"/>
                <a:ea typeface="Consolas" pitchFamily="34" charset="-122"/>
                <a:cs typeface="Consolas" pitchFamily="34" charset="-120"/>
              </a:rPr>
              <a:t>5</a:t>
            </a:r>
            <a:endParaRPr lang="en-US" sz="900" dirty="0"/>
          </a:p>
        </p:txBody>
      </p:sp>
      <p:sp>
        <p:nvSpPr>
          <p:cNvPr id="29" name="Text 27"/>
          <p:cNvSpPr/>
          <p:nvPr/>
        </p:nvSpPr>
        <p:spPr>
          <a:xfrm>
            <a:off x="1124712" y="4133088"/>
            <a:ext cx="2743200" cy="292608"/>
          </a:xfrm>
          <a:prstGeom prst="rect">
            <a:avLst/>
          </a:prstGeom>
          <a:noFill/>
          <a:ln/>
        </p:spPr>
        <p:txBody>
          <a:bodyPr wrap="square" rtlCol="0" anchor="ctr"/>
          <a:lstStyle/>
          <a:p>
            <a:pPr indent="0" marL="0">
              <a:buNone/>
            </a:pPr>
            <a:r>
              <a:rPr lang="en-US" sz="1300" b="1" dirty="0">
                <a:solidFill>
                  <a:srgbClr val="7A6AA8"/>
                </a:solidFill>
                <a:latin typeface="Trebuchet MS" pitchFamily="34" charset="0"/>
                <a:ea typeface="Trebuchet MS" pitchFamily="34" charset="-122"/>
                <a:cs typeface="Trebuchet MS" pitchFamily="34" charset="-120"/>
              </a:rPr>
              <a:t>Persistence</a:t>
            </a:r>
            <a:endParaRPr lang="en-US" sz="1300" dirty="0"/>
          </a:p>
        </p:txBody>
      </p:sp>
      <p:sp>
        <p:nvSpPr>
          <p:cNvPr id="30" name="Text 28"/>
          <p:cNvSpPr/>
          <p:nvPr/>
        </p:nvSpPr>
        <p:spPr>
          <a:xfrm>
            <a:off x="3913632" y="4133088"/>
            <a:ext cx="5644591" cy="292608"/>
          </a:xfrm>
          <a:prstGeom prst="rect">
            <a:avLst/>
          </a:prstGeom>
          <a:noFill/>
          <a:ln/>
        </p:spPr>
        <p:txBody>
          <a:bodyPr wrap="square" rtlCol="0" anchor="ctr"/>
          <a:lstStyle/>
          <a:p>
            <a:pPr indent="0" marL="0">
              <a:buNone/>
            </a:pPr>
            <a:r>
              <a:rPr lang="en-US" sz="1150" dirty="0">
                <a:solidFill>
                  <a:srgbClr val="A394C8"/>
                </a:solidFill>
                <a:latin typeface="Trebuchet MS" pitchFamily="34" charset="0"/>
                <a:ea typeface="Trebuchet MS" pitchFamily="34" charset="-122"/>
                <a:cs typeface="Trebuchet MS" pitchFamily="34" charset="-120"/>
              </a:rPr>
              <a:t>Whether it survives at 30, 60 and 90 days.</a:t>
            </a:r>
            <a:endParaRPr lang="en-US" sz="1150" dirty="0"/>
          </a:p>
        </p:txBody>
      </p:sp>
      <p:sp>
        <p:nvSpPr>
          <p:cNvPr id="31" name="Text 29"/>
          <p:cNvSpPr/>
          <p:nvPr/>
        </p:nvSpPr>
        <p:spPr>
          <a:xfrm>
            <a:off x="10015423" y="4133088"/>
            <a:ext cx="1463040" cy="292608"/>
          </a:xfrm>
          <a:prstGeom prst="rect">
            <a:avLst/>
          </a:prstGeom>
          <a:noFill/>
          <a:ln/>
        </p:spPr>
        <p:txBody>
          <a:bodyPr wrap="square" rtlCol="0" anchor="ctr"/>
          <a:lstStyle/>
          <a:p>
            <a:pPr algn="r" indent="0" marL="0">
              <a:buNone/>
            </a:pPr>
            <a:r>
              <a:rPr lang="en-US" sz="1000" dirty="0">
                <a:solidFill>
                  <a:srgbClr val="7A6AA8"/>
                </a:solidFill>
                <a:latin typeface="Consolas" pitchFamily="34" charset="0"/>
                <a:ea typeface="Consolas" pitchFamily="34" charset="-122"/>
                <a:cs typeface="Consolas" pitchFamily="34" charset="-120"/>
              </a:rPr>
              <a:t>not yet</a:t>
            </a:r>
            <a:endParaRPr lang="en-US" sz="1000" dirty="0"/>
          </a:p>
        </p:txBody>
      </p:sp>
      <p:sp>
        <p:nvSpPr>
          <p:cNvPr id="32" name="Shape 30"/>
          <p:cNvSpPr/>
          <p:nvPr/>
        </p:nvSpPr>
        <p:spPr>
          <a:xfrm>
            <a:off x="713232" y="4590288"/>
            <a:ext cx="256032" cy="256032"/>
          </a:xfrm>
          <a:prstGeom prst="ellipse">
            <a:avLst/>
          </a:prstGeom>
          <a:solidFill>
            <a:srgbClr val="2A2059"/>
          </a:solidFill>
          <a:ln/>
        </p:spPr>
      </p:sp>
      <p:sp>
        <p:nvSpPr>
          <p:cNvPr id="33" name="Text 31"/>
          <p:cNvSpPr/>
          <p:nvPr/>
        </p:nvSpPr>
        <p:spPr>
          <a:xfrm>
            <a:off x="713232" y="4590288"/>
            <a:ext cx="256032" cy="256032"/>
          </a:xfrm>
          <a:prstGeom prst="rect">
            <a:avLst/>
          </a:prstGeom>
          <a:noFill/>
          <a:ln/>
        </p:spPr>
        <p:txBody>
          <a:bodyPr wrap="square" rtlCol="0" anchor="ctr"/>
          <a:lstStyle/>
          <a:p>
            <a:pPr algn="ctr" indent="0" marL="0">
              <a:buNone/>
            </a:pPr>
            <a:r>
              <a:rPr lang="en-US" sz="900" b="1" dirty="0">
                <a:solidFill>
                  <a:srgbClr val="7A6AA8"/>
                </a:solidFill>
                <a:latin typeface="Consolas" pitchFamily="34" charset="0"/>
                <a:ea typeface="Consolas" pitchFamily="34" charset="-122"/>
                <a:cs typeface="Consolas" pitchFamily="34" charset="-120"/>
              </a:rPr>
              <a:t>6</a:t>
            </a:r>
            <a:endParaRPr lang="en-US" sz="900" dirty="0"/>
          </a:p>
        </p:txBody>
      </p:sp>
      <p:sp>
        <p:nvSpPr>
          <p:cNvPr id="34" name="Text 32"/>
          <p:cNvSpPr/>
          <p:nvPr/>
        </p:nvSpPr>
        <p:spPr>
          <a:xfrm>
            <a:off x="1124712" y="4572000"/>
            <a:ext cx="2743200" cy="292608"/>
          </a:xfrm>
          <a:prstGeom prst="rect">
            <a:avLst/>
          </a:prstGeom>
          <a:noFill/>
          <a:ln/>
        </p:spPr>
        <p:txBody>
          <a:bodyPr wrap="square" rtlCol="0" anchor="ctr"/>
          <a:lstStyle/>
          <a:p>
            <a:pPr indent="0" marL="0">
              <a:buNone/>
            </a:pPr>
            <a:r>
              <a:rPr lang="en-US" sz="1300" b="1" dirty="0">
                <a:solidFill>
                  <a:srgbClr val="7A6AA8"/>
                </a:solidFill>
                <a:latin typeface="Trebuchet MS" pitchFamily="34" charset="0"/>
                <a:ea typeface="Trebuchet MS" pitchFamily="34" charset="-122"/>
                <a:cs typeface="Trebuchet MS" pitchFamily="34" charset="-120"/>
              </a:rPr>
              <a:t>Real-world action</a:t>
            </a:r>
            <a:endParaRPr lang="en-US" sz="1300" dirty="0"/>
          </a:p>
        </p:txBody>
      </p:sp>
      <p:sp>
        <p:nvSpPr>
          <p:cNvPr id="35" name="Text 33"/>
          <p:cNvSpPr/>
          <p:nvPr/>
        </p:nvSpPr>
        <p:spPr>
          <a:xfrm>
            <a:off x="3913632" y="4572000"/>
            <a:ext cx="5644591" cy="292608"/>
          </a:xfrm>
          <a:prstGeom prst="rect">
            <a:avLst/>
          </a:prstGeom>
          <a:noFill/>
          <a:ln/>
        </p:spPr>
        <p:txBody>
          <a:bodyPr wrap="square" rtlCol="0" anchor="ctr"/>
          <a:lstStyle/>
          <a:p>
            <a:pPr indent="0" marL="0">
              <a:buNone/>
            </a:pPr>
            <a:r>
              <a:rPr lang="en-US" sz="1150" dirty="0">
                <a:solidFill>
                  <a:srgbClr val="A394C8"/>
                </a:solidFill>
                <a:latin typeface="Trebuchet MS" pitchFamily="34" charset="0"/>
                <a:ea typeface="Trebuchet MS" pitchFamily="34" charset="-122"/>
                <a:cs typeface="Trebuchet MS" pitchFamily="34" charset="-120"/>
              </a:rPr>
              <a:t>Checks run, transfers abandoned. Needs institutional telemetry.</a:t>
            </a:r>
            <a:endParaRPr lang="en-US" sz="1150" dirty="0"/>
          </a:p>
        </p:txBody>
      </p:sp>
      <p:sp>
        <p:nvSpPr>
          <p:cNvPr id="36" name="Text 34"/>
          <p:cNvSpPr/>
          <p:nvPr/>
        </p:nvSpPr>
        <p:spPr>
          <a:xfrm>
            <a:off x="10015423" y="4572000"/>
            <a:ext cx="1463040" cy="292608"/>
          </a:xfrm>
          <a:prstGeom prst="rect">
            <a:avLst/>
          </a:prstGeom>
          <a:noFill/>
          <a:ln/>
        </p:spPr>
        <p:txBody>
          <a:bodyPr wrap="square" rtlCol="0" anchor="ctr"/>
          <a:lstStyle/>
          <a:p>
            <a:pPr algn="r" indent="0" marL="0">
              <a:buNone/>
            </a:pPr>
            <a:r>
              <a:rPr lang="en-US" sz="1000" dirty="0">
                <a:solidFill>
                  <a:srgbClr val="7A6AA8"/>
                </a:solidFill>
                <a:latin typeface="Consolas" pitchFamily="34" charset="0"/>
                <a:ea typeface="Consolas" pitchFamily="34" charset="-122"/>
                <a:cs typeface="Consolas" pitchFamily="34" charset="-120"/>
              </a:rPr>
              <a:t>not yet</a:t>
            </a:r>
            <a:endParaRPr lang="en-US" sz="1000" dirty="0"/>
          </a:p>
        </p:txBody>
      </p:sp>
      <p:sp>
        <p:nvSpPr>
          <p:cNvPr id="37" name="Shape 35"/>
          <p:cNvSpPr/>
          <p:nvPr/>
        </p:nvSpPr>
        <p:spPr>
          <a:xfrm>
            <a:off x="713232" y="5029200"/>
            <a:ext cx="256032" cy="256032"/>
          </a:xfrm>
          <a:prstGeom prst="ellipse">
            <a:avLst/>
          </a:prstGeom>
          <a:solidFill>
            <a:srgbClr val="2A2059"/>
          </a:solidFill>
          <a:ln/>
        </p:spPr>
      </p:sp>
      <p:sp>
        <p:nvSpPr>
          <p:cNvPr id="38" name="Text 36"/>
          <p:cNvSpPr/>
          <p:nvPr/>
        </p:nvSpPr>
        <p:spPr>
          <a:xfrm>
            <a:off x="713232" y="5029200"/>
            <a:ext cx="256032" cy="256032"/>
          </a:xfrm>
          <a:prstGeom prst="rect">
            <a:avLst/>
          </a:prstGeom>
          <a:noFill/>
          <a:ln/>
        </p:spPr>
        <p:txBody>
          <a:bodyPr wrap="square" rtlCol="0" anchor="ctr"/>
          <a:lstStyle/>
          <a:p>
            <a:pPr algn="ctr" indent="0" marL="0">
              <a:buNone/>
            </a:pPr>
            <a:r>
              <a:rPr lang="en-US" sz="900" b="1" dirty="0">
                <a:solidFill>
                  <a:srgbClr val="7A6AA8"/>
                </a:solidFill>
                <a:latin typeface="Consolas" pitchFamily="34" charset="0"/>
                <a:ea typeface="Consolas" pitchFamily="34" charset="-122"/>
                <a:cs typeface="Consolas" pitchFamily="34" charset="-120"/>
              </a:rPr>
              <a:t>7</a:t>
            </a:r>
            <a:endParaRPr lang="en-US" sz="900" dirty="0"/>
          </a:p>
        </p:txBody>
      </p:sp>
      <p:sp>
        <p:nvSpPr>
          <p:cNvPr id="39" name="Text 37"/>
          <p:cNvSpPr/>
          <p:nvPr/>
        </p:nvSpPr>
        <p:spPr>
          <a:xfrm>
            <a:off x="1124712" y="5010912"/>
            <a:ext cx="2743200" cy="292608"/>
          </a:xfrm>
          <a:prstGeom prst="rect">
            <a:avLst/>
          </a:prstGeom>
          <a:noFill/>
          <a:ln/>
        </p:spPr>
        <p:txBody>
          <a:bodyPr wrap="square" rtlCol="0" anchor="ctr"/>
          <a:lstStyle/>
          <a:p>
            <a:pPr indent="0" marL="0">
              <a:buNone/>
            </a:pPr>
            <a:r>
              <a:rPr lang="en-US" sz="1300" b="1" dirty="0">
                <a:solidFill>
                  <a:srgbClr val="7A6AA8"/>
                </a:solidFill>
                <a:latin typeface="Trebuchet MS" pitchFamily="34" charset="0"/>
                <a:ea typeface="Trebuchet MS" pitchFamily="34" charset="-122"/>
                <a:cs typeface="Trebuchet MS" pitchFamily="34" charset="-120"/>
              </a:rPr>
              <a:t>Financial outcome</a:t>
            </a:r>
            <a:endParaRPr lang="en-US" sz="1300" dirty="0"/>
          </a:p>
        </p:txBody>
      </p:sp>
      <p:sp>
        <p:nvSpPr>
          <p:cNvPr id="40" name="Text 38"/>
          <p:cNvSpPr/>
          <p:nvPr/>
        </p:nvSpPr>
        <p:spPr>
          <a:xfrm>
            <a:off x="3913632" y="5010912"/>
            <a:ext cx="5644591" cy="292608"/>
          </a:xfrm>
          <a:prstGeom prst="rect">
            <a:avLst/>
          </a:prstGeom>
          <a:noFill/>
          <a:ln/>
        </p:spPr>
        <p:txBody>
          <a:bodyPr wrap="square" rtlCol="0" anchor="ctr"/>
          <a:lstStyle/>
          <a:p>
            <a:pPr indent="0" marL="0">
              <a:buNone/>
            </a:pPr>
            <a:r>
              <a:rPr lang="en-US" sz="1150" dirty="0">
                <a:solidFill>
                  <a:srgbClr val="A394C8"/>
                </a:solidFill>
                <a:latin typeface="Trebuchet MS" pitchFamily="34" charset="0"/>
                <a:ea typeface="Trebuchet MS" pitchFamily="34" charset="-122"/>
                <a:cs typeface="Trebuchet MS" pitchFamily="34" charset="-120"/>
              </a:rPr>
              <a:t>Losses avoided against a control cohort. Closes the business case.</a:t>
            </a:r>
            <a:endParaRPr lang="en-US" sz="1150" dirty="0"/>
          </a:p>
        </p:txBody>
      </p:sp>
      <p:sp>
        <p:nvSpPr>
          <p:cNvPr id="41" name="Text 39"/>
          <p:cNvSpPr/>
          <p:nvPr/>
        </p:nvSpPr>
        <p:spPr>
          <a:xfrm>
            <a:off x="10015423" y="5010912"/>
            <a:ext cx="1463040" cy="292608"/>
          </a:xfrm>
          <a:prstGeom prst="rect">
            <a:avLst/>
          </a:prstGeom>
          <a:noFill/>
          <a:ln/>
        </p:spPr>
        <p:txBody>
          <a:bodyPr wrap="square" rtlCol="0" anchor="ctr"/>
          <a:lstStyle/>
          <a:p>
            <a:pPr algn="r" indent="0" marL="0">
              <a:buNone/>
            </a:pPr>
            <a:r>
              <a:rPr lang="en-US" sz="1000" dirty="0">
                <a:solidFill>
                  <a:srgbClr val="7A6AA8"/>
                </a:solidFill>
                <a:latin typeface="Consolas" pitchFamily="34" charset="0"/>
                <a:ea typeface="Consolas" pitchFamily="34" charset="-122"/>
                <a:cs typeface="Consolas" pitchFamily="34" charset="-120"/>
              </a:rPr>
              <a:t>not yet</a:t>
            </a:r>
            <a:endParaRPr lang="en-US" sz="1000" dirty="0"/>
          </a:p>
        </p:txBody>
      </p:sp>
      <p:sp>
        <p:nvSpPr>
          <p:cNvPr id="42" name="Text 40"/>
          <p:cNvSpPr/>
          <p:nvPr/>
        </p:nvSpPr>
        <p:spPr>
          <a:xfrm>
            <a:off x="713232" y="5577840"/>
            <a:ext cx="10765231" cy="365760"/>
          </a:xfrm>
          <a:prstGeom prst="rect">
            <a:avLst/>
          </a:prstGeom>
          <a:noFill/>
          <a:ln/>
        </p:spPr>
        <p:txBody>
          <a:bodyPr wrap="square" rtlCol="0" anchor="ctr"/>
          <a:lstStyle/>
          <a:p>
            <a:pPr indent="0" marL="0">
              <a:buNone/>
            </a:pPr>
            <a:r>
              <a:rPr lang="en-US" sz="1600" i="1" dirty="0">
                <a:solidFill>
                  <a:srgbClr val="EBA98C"/>
                </a:solidFill>
                <a:latin typeface="Georgia" pitchFamily="34" charset="0"/>
                <a:ea typeface="Georgia" pitchFamily="34" charset="-122"/>
                <a:cs typeface="Georgia" pitchFamily="34" charset="-120"/>
              </a:rPr>
              <a:t>We are at four. We say four.</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20</a:t>
            </a:r>
            <a:endParaRPr lang="en-US" sz="900" dirty="0"/>
          </a:p>
        </p:txBody>
      </p:sp>
      <p:sp>
        <p:nvSpPr>
          <p:cNvPr id="5" name="Text 3"/>
          <p:cNvSpPr/>
          <p:nvPr/>
        </p:nvSpPr>
        <p:spPr>
          <a:xfrm>
            <a:off x="713232" y="1828800"/>
            <a:ext cx="9904013" cy="2194560"/>
          </a:xfrm>
          <a:prstGeom prst="rect">
            <a:avLst/>
          </a:prstGeom>
          <a:noFill/>
          <a:ln/>
        </p:spPr>
        <p:txBody>
          <a:bodyPr wrap="square" rtlCol="0" anchor="t"/>
          <a:lstStyle/>
          <a:p>
            <a:pPr indent="0" marL="0">
              <a:lnSpc>
                <a:spcPts val="4600"/>
              </a:lnSpc>
              <a:buNone/>
            </a:pPr>
            <a:r>
              <a:rPr lang="en-US" sz="2600" i="1" dirty="0">
                <a:solidFill>
                  <a:srgbClr val="F3EDFB"/>
                </a:solidFill>
                <a:latin typeface="Georgia" pitchFamily="34" charset="0"/>
                <a:ea typeface="Georgia" pitchFamily="34" charset="-122"/>
                <a:cs typeface="Georgia" pitchFamily="34" charset="-120"/>
              </a:rPr>
              <a:t>A failure rate moving 20% → 19% is one percentage point and a five percent relative fall. 20% → 19.8% is 0.2 points and one percent.</a:t>
            </a:r>
            <a:endParaRPr lang="en-US" sz="2600" dirty="0"/>
          </a:p>
        </p:txBody>
      </p:sp>
      <p:sp>
        <p:nvSpPr>
          <p:cNvPr id="6" name="Text 4"/>
          <p:cNvSpPr/>
          <p:nvPr/>
        </p:nvSpPr>
        <p:spPr>
          <a:xfrm>
            <a:off x="713232" y="4206240"/>
            <a:ext cx="8827490" cy="1280160"/>
          </a:xfrm>
          <a:prstGeom prst="rect">
            <a:avLst/>
          </a:prstGeom>
          <a:noFill/>
          <a:ln/>
        </p:spPr>
        <p:txBody>
          <a:bodyPr wrap="square" rtlCol="0" anchor="ctr"/>
          <a:lstStyle/>
          <a:p>
            <a:pPr indent="0" marL="0">
              <a:lnSpc>
                <a:spcPts val="2400"/>
              </a:lnSpc>
              <a:buNone/>
            </a:pPr>
            <a:r>
              <a:rPr lang="en-US" sz="1500" dirty="0">
                <a:solidFill>
                  <a:srgbClr val="A394C8"/>
                </a:solidFill>
                <a:latin typeface="Trebuchet MS" pitchFamily="34" charset="0"/>
                <a:ea typeface="Trebuchet MS" pitchFamily="34" charset="-122"/>
                <a:cs typeface="Trebuchet MS" pitchFamily="34" charset="-120"/>
              </a:rPr>
              <a:t>They differ by a factor of five, they are written identically, and the ambiguity always resolves in the vendor's favour — which is exactly why a procurement officer who has been burned once discounts both readings. In this system an improvement is a type. The only renderer states both, plus the count per ten thousand and the sample size. Nothing here can emit “a five percent improvement” without saying of what.</a:t>
            </a:r>
            <a:endParaRPr lang="en-US" sz="1500" dirty="0"/>
          </a:p>
        </p:txBody>
      </p:sp>
      <p:sp>
        <p:nvSpPr>
          <p:cNvPr id="7" name="Shape 5"/>
          <p:cNvSpPr/>
          <p:nvPr/>
        </p:nvSpPr>
        <p:spPr>
          <a:xfrm>
            <a:off x="713232" y="1517904"/>
            <a:ext cx="1371600" cy="32004"/>
          </a:xfrm>
          <a:prstGeom prst="rect">
            <a:avLst/>
          </a:prstGeom>
          <a:solidFill>
            <a:srgbClr val="EBA98C"/>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21</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TRIAL DESIGN</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The trial has to be far larger than it looks.</a:t>
            </a:r>
            <a:endParaRPr lang="en-US" sz="3400" dirty="0"/>
          </a:p>
        </p:txBody>
      </p:sp>
      <p:sp>
        <p:nvSpPr>
          <p:cNvPr id="7" name="Text 5"/>
          <p:cNvSpPr/>
          <p:nvPr/>
        </p:nvSpPr>
        <p:spPr>
          <a:xfrm>
            <a:off x="713232" y="1828800"/>
            <a:ext cx="9688708" cy="548640"/>
          </a:xfrm>
          <a:prstGeom prst="rect">
            <a:avLst/>
          </a:prstGeom>
          <a:noFill/>
          <a:ln/>
        </p:spPr>
        <p:txBody>
          <a:bodyPr wrap="square" rtlCol="0" anchor="ctr"/>
          <a:lstStyle/>
          <a:p>
            <a:pPr indent="0" marL="0">
              <a:lnSpc>
                <a:spcPts val="2000"/>
              </a:lnSpc>
              <a:buNone/>
            </a:pPr>
            <a:r>
              <a:rPr lang="en-US" sz="1350" dirty="0">
                <a:solidFill>
                  <a:srgbClr val="C7B3F0"/>
                </a:solidFill>
                <a:latin typeface="Trebuchet MS" pitchFamily="34" charset="0"/>
                <a:ea typeface="Trebuchet MS" pitchFamily="34" charset="-122"/>
                <a:cs typeface="Trebuchet MS" pitchFamily="34" charset="-120"/>
              </a:rPr>
              <a:t>Participants per arm, at 80% power. Run a pilot against a one-point hypothesis and it returns “no significant difference” whatever happens — which reads as a failed product and is a failed design.</a:t>
            </a:r>
            <a:endParaRPr lang="en-US" sz="1350" dirty="0"/>
          </a:p>
        </p:txBody>
      </p:sp>
      <p:sp>
        <p:nvSpPr>
          <p:cNvPr id="8" name="Text 6"/>
          <p:cNvSpPr/>
          <p:nvPr/>
        </p:nvSpPr>
        <p:spPr>
          <a:xfrm>
            <a:off x="713232" y="2606040"/>
            <a:ext cx="3108960" cy="274320"/>
          </a:xfrm>
          <a:prstGeom prst="rect">
            <a:avLst/>
          </a:prstGeom>
          <a:noFill/>
          <a:ln/>
        </p:spPr>
        <p:txBody>
          <a:bodyPr wrap="square" rtlCol="0" anchor="ctr"/>
          <a:lstStyle/>
          <a:p>
            <a:pPr indent="0" marL="0">
              <a:buNone/>
            </a:pPr>
            <a:r>
              <a:rPr lang="en-US" sz="1250" dirty="0">
                <a:solidFill>
                  <a:srgbClr val="F3EDFB"/>
                </a:solidFill>
                <a:latin typeface="Trebuchet MS" pitchFamily="34" charset="0"/>
                <a:ea typeface="Trebuchet MS" pitchFamily="34" charset="-122"/>
                <a:cs typeface="Trebuchet MS" pitchFamily="34" charset="-120"/>
              </a:rPr>
              <a:t>1 point   (5% relative)</a:t>
            </a:r>
            <a:endParaRPr lang="en-US" sz="1250" dirty="0"/>
          </a:p>
        </p:txBody>
      </p:sp>
      <p:sp>
        <p:nvSpPr>
          <p:cNvPr id="9" name="Shape 7"/>
          <p:cNvSpPr/>
          <p:nvPr/>
        </p:nvSpPr>
        <p:spPr>
          <a:xfrm>
            <a:off x="3913632" y="2679192"/>
            <a:ext cx="5120640" cy="146304"/>
          </a:xfrm>
          <a:prstGeom prst="rect">
            <a:avLst/>
          </a:prstGeom>
          <a:solidFill>
            <a:srgbClr val="2A2059"/>
          </a:solidFill>
          <a:ln/>
        </p:spPr>
      </p:sp>
      <p:sp>
        <p:nvSpPr>
          <p:cNvPr id="10" name="Shape 8"/>
          <p:cNvSpPr/>
          <p:nvPr/>
        </p:nvSpPr>
        <p:spPr>
          <a:xfrm>
            <a:off x="3913632" y="2679192"/>
            <a:ext cx="5120640" cy="146304"/>
          </a:xfrm>
          <a:prstGeom prst="rect">
            <a:avLst/>
          </a:prstGeom>
          <a:solidFill>
            <a:srgbClr val="EBA98C"/>
          </a:solidFill>
          <a:ln/>
        </p:spPr>
      </p:sp>
      <p:sp>
        <p:nvSpPr>
          <p:cNvPr id="11" name="Text 9"/>
          <p:cNvSpPr/>
          <p:nvPr/>
        </p:nvSpPr>
        <p:spPr>
          <a:xfrm>
            <a:off x="9217152" y="2606040"/>
            <a:ext cx="2194560" cy="274320"/>
          </a:xfrm>
          <a:prstGeom prst="rect">
            <a:avLst/>
          </a:prstGeom>
          <a:noFill/>
          <a:ln/>
        </p:spPr>
        <p:txBody>
          <a:bodyPr wrap="square" rtlCol="0" anchor="ctr"/>
          <a:lstStyle/>
          <a:p>
            <a:pPr indent="0" marL="0">
              <a:buNone/>
            </a:pPr>
            <a:r>
              <a:rPr lang="en-US" sz="1250" dirty="0">
                <a:solidFill>
                  <a:srgbClr val="EBA98C"/>
                </a:solidFill>
                <a:latin typeface="Consolas" pitchFamily="34" charset="0"/>
                <a:ea typeface="Consolas" pitchFamily="34" charset="-122"/>
                <a:cs typeface="Consolas" pitchFamily="34" charset="-120"/>
              </a:rPr>
              <a:t>≈ 24,600 per arm</a:t>
            </a:r>
            <a:endParaRPr lang="en-US" sz="1250" dirty="0"/>
          </a:p>
        </p:txBody>
      </p:sp>
      <p:sp>
        <p:nvSpPr>
          <p:cNvPr id="12" name="Text 10"/>
          <p:cNvSpPr/>
          <p:nvPr/>
        </p:nvSpPr>
        <p:spPr>
          <a:xfrm>
            <a:off x="713232" y="3172968"/>
            <a:ext cx="3108960" cy="274320"/>
          </a:xfrm>
          <a:prstGeom prst="rect">
            <a:avLst/>
          </a:prstGeom>
          <a:noFill/>
          <a:ln/>
        </p:spPr>
        <p:txBody>
          <a:bodyPr wrap="square" rtlCol="0" anchor="ctr"/>
          <a:lstStyle/>
          <a:p>
            <a:pPr indent="0" marL="0">
              <a:buNone/>
            </a:pPr>
            <a:r>
              <a:rPr lang="en-US" sz="1250" dirty="0">
                <a:solidFill>
                  <a:srgbClr val="F3EDFB"/>
                </a:solidFill>
                <a:latin typeface="Trebuchet MS" pitchFamily="34" charset="0"/>
                <a:ea typeface="Trebuchet MS" pitchFamily="34" charset="-122"/>
                <a:cs typeface="Trebuchet MS" pitchFamily="34" charset="-120"/>
              </a:rPr>
              <a:t>3 points  (15% relative)</a:t>
            </a:r>
            <a:endParaRPr lang="en-US" sz="1250" dirty="0"/>
          </a:p>
        </p:txBody>
      </p:sp>
      <p:sp>
        <p:nvSpPr>
          <p:cNvPr id="13" name="Shape 11"/>
          <p:cNvSpPr/>
          <p:nvPr/>
        </p:nvSpPr>
        <p:spPr>
          <a:xfrm>
            <a:off x="3913632" y="3246120"/>
            <a:ext cx="5120640" cy="146304"/>
          </a:xfrm>
          <a:prstGeom prst="rect">
            <a:avLst/>
          </a:prstGeom>
          <a:solidFill>
            <a:srgbClr val="2A2059"/>
          </a:solidFill>
          <a:ln/>
        </p:spPr>
      </p:sp>
      <p:sp>
        <p:nvSpPr>
          <p:cNvPr id="14" name="Shape 12"/>
          <p:cNvSpPr/>
          <p:nvPr/>
        </p:nvSpPr>
        <p:spPr>
          <a:xfrm>
            <a:off x="3913632" y="3246120"/>
            <a:ext cx="542788" cy="146304"/>
          </a:xfrm>
          <a:prstGeom prst="rect">
            <a:avLst/>
          </a:prstGeom>
          <a:solidFill>
            <a:srgbClr val="EBA98C"/>
          </a:solidFill>
          <a:ln/>
        </p:spPr>
      </p:sp>
      <p:sp>
        <p:nvSpPr>
          <p:cNvPr id="15" name="Text 13"/>
          <p:cNvSpPr/>
          <p:nvPr/>
        </p:nvSpPr>
        <p:spPr>
          <a:xfrm>
            <a:off x="9217152" y="3172968"/>
            <a:ext cx="2194560" cy="274320"/>
          </a:xfrm>
          <a:prstGeom prst="rect">
            <a:avLst/>
          </a:prstGeom>
          <a:noFill/>
          <a:ln/>
        </p:spPr>
        <p:txBody>
          <a:bodyPr wrap="square" rtlCol="0" anchor="ctr"/>
          <a:lstStyle/>
          <a:p>
            <a:pPr indent="0" marL="0">
              <a:buNone/>
            </a:pPr>
            <a:r>
              <a:rPr lang="en-US" sz="1250" dirty="0">
                <a:solidFill>
                  <a:srgbClr val="EBA98C"/>
                </a:solidFill>
                <a:latin typeface="Consolas" pitchFamily="34" charset="0"/>
                <a:ea typeface="Consolas" pitchFamily="34" charset="-122"/>
                <a:cs typeface="Consolas" pitchFamily="34" charset="-120"/>
              </a:rPr>
              <a:t>≈ 2,600 per arm</a:t>
            </a:r>
            <a:endParaRPr lang="en-US" sz="1250" dirty="0"/>
          </a:p>
        </p:txBody>
      </p:sp>
      <p:sp>
        <p:nvSpPr>
          <p:cNvPr id="16" name="Text 14"/>
          <p:cNvSpPr/>
          <p:nvPr/>
        </p:nvSpPr>
        <p:spPr>
          <a:xfrm>
            <a:off x="713232" y="3739896"/>
            <a:ext cx="3108960" cy="274320"/>
          </a:xfrm>
          <a:prstGeom prst="rect">
            <a:avLst/>
          </a:prstGeom>
          <a:noFill/>
          <a:ln/>
        </p:spPr>
        <p:txBody>
          <a:bodyPr wrap="square" rtlCol="0" anchor="ctr"/>
          <a:lstStyle/>
          <a:p>
            <a:pPr indent="0" marL="0">
              <a:buNone/>
            </a:pPr>
            <a:r>
              <a:rPr lang="en-US" sz="1250" dirty="0">
                <a:solidFill>
                  <a:srgbClr val="F3EDFB"/>
                </a:solidFill>
                <a:latin typeface="Trebuchet MS" pitchFamily="34" charset="0"/>
                <a:ea typeface="Trebuchet MS" pitchFamily="34" charset="-122"/>
                <a:cs typeface="Trebuchet MS" pitchFamily="34" charset="-120"/>
              </a:rPr>
              <a:t>5 points  (25% relative)</a:t>
            </a:r>
            <a:endParaRPr lang="en-US" sz="1250" dirty="0"/>
          </a:p>
        </p:txBody>
      </p:sp>
      <p:sp>
        <p:nvSpPr>
          <p:cNvPr id="17" name="Shape 15"/>
          <p:cNvSpPr/>
          <p:nvPr/>
        </p:nvSpPr>
        <p:spPr>
          <a:xfrm>
            <a:off x="3913632" y="3813048"/>
            <a:ext cx="5120640" cy="146304"/>
          </a:xfrm>
          <a:prstGeom prst="rect">
            <a:avLst/>
          </a:prstGeom>
          <a:solidFill>
            <a:srgbClr val="2A2059"/>
          </a:solidFill>
          <a:ln/>
        </p:spPr>
      </p:sp>
      <p:sp>
        <p:nvSpPr>
          <p:cNvPr id="18" name="Shape 16"/>
          <p:cNvSpPr/>
          <p:nvPr/>
        </p:nvSpPr>
        <p:spPr>
          <a:xfrm>
            <a:off x="3913632" y="3813048"/>
            <a:ext cx="189464" cy="146304"/>
          </a:xfrm>
          <a:prstGeom prst="rect">
            <a:avLst/>
          </a:prstGeom>
          <a:solidFill>
            <a:srgbClr val="EBA98C"/>
          </a:solidFill>
          <a:ln/>
        </p:spPr>
      </p:sp>
      <p:sp>
        <p:nvSpPr>
          <p:cNvPr id="19" name="Text 17"/>
          <p:cNvSpPr/>
          <p:nvPr/>
        </p:nvSpPr>
        <p:spPr>
          <a:xfrm>
            <a:off x="9217152" y="3739896"/>
            <a:ext cx="2194560" cy="274320"/>
          </a:xfrm>
          <a:prstGeom prst="rect">
            <a:avLst/>
          </a:prstGeom>
          <a:noFill/>
          <a:ln/>
        </p:spPr>
        <p:txBody>
          <a:bodyPr wrap="square" rtlCol="0" anchor="ctr"/>
          <a:lstStyle/>
          <a:p>
            <a:pPr indent="0" marL="0">
              <a:buNone/>
            </a:pPr>
            <a:r>
              <a:rPr lang="en-US" sz="1250" dirty="0">
                <a:solidFill>
                  <a:srgbClr val="EBA98C"/>
                </a:solidFill>
                <a:latin typeface="Consolas" pitchFamily="34" charset="0"/>
                <a:ea typeface="Consolas" pitchFamily="34" charset="-122"/>
                <a:cs typeface="Consolas" pitchFamily="34" charset="-120"/>
              </a:rPr>
              <a:t>≈ 900 per arm</a:t>
            </a:r>
            <a:endParaRPr lang="en-US" sz="1250" dirty="0"/>
          </a:p>
        </p:txBody>
      </p:sp>
      <p:sp>
        <p:nvSpPr>
          <p:cNvPr id="20" name="Text 18"/>
          <p:cNvSpPr/>
          <p:nvPr/>
        </p:nvSpPr>
        <p:spPr>
          <a:xfrm>
            <a:off x="713232" y="4306824"/>
            <a:ext cx="3108960" cy="274320"/>
          </a:xfrm>
          <a:prstGeom prst="rect">
            <a:avLst/>
          </a:prstGeom>
          <a:noFill/>
          <a:ln/>
        </p:spPr>
        <p:txBody>
          <a:bodyPr wrap="square" rtlCol="0" anchor="ctr"/>
          <a:lstStyle/>
          <a:p>
            <a:pPr indent="0" marL="0">
              <a:buNone/>
            </a:pPr>
            <a:r>
              <a:rPr lang="en-US" sz="1250" dirty="0">
                <a:solidFill>
                  <a:srgbClr val="F3EDFB"/>
                </a:solidFill>
                <a:latin typeface="Trebuchet MS" pitchFamily="34" charset="0"/>
                <a:ea typeface="Trebuchet MS" pitchFamily="34" charset="-122"/>
                <a:cs typeface="Trebuchet MS" pitchFamily="34" charset="-120"/>
              </a:rPr>
              <a:t>10 points (50% relative)</a:t>
            </a:r>
            <a:endParaRPr lang="en-US" sz="1250" dirty="0"/>
          </a:p>
        </p:txBody>
      </p:sp>
      <p:sp>
        <p:nvSpPr>
          <p:cNvPr id="21" name="Shape 19"/>
          <p:cNvSpPr/>
          <p:nvPr/>
        </p:nvSpPr>
        <p:spPr>
          <a:xfrm>
            <a:off x="3913632" y="4379976"/>
            <a:ext cx="5120640" cy="146304"/>
          </a:xfrm>
          <a:prstGeom prst="rect">
            <a:avLst/>
          </a:prstGeom>
          <a:solidFill>
            <a:srgbClr val="2A2059"/>
          </a:solidFill>
          <a:ln/>
        </p:spPr>
      </p:sp>
      <p:sp>
        <p:nvSpPr>
          <p:cNvPr id="22" name="Shape 20"/>
          <p:cNvSpPr/>
          <p:nvPr/>
        </p:nvSpPr>
        <p:spPr>
          <a:xfrm>
            <a:off x="3913632" y="4379976"/>
            <a:ext cx="40965" cy="146304"/>
          </a:xfrm>
          <a:prstGeom prst="rect">
            <a:avLst/>
          </a:prstGeom>
          <a:solidFill>
            <a:srgbClr val="EBA98C"/>
          </a:solidFill>
          <a:ln/>
        </p:spPr>
      </p:sp>
      <p:sp>
        <p:nvSpPr>
          <p:cNvPr id="23" name="Text 21"/>
          <p:cNvSpPr/>
          <p:nvPr/>
        </p:nvSpPr>
        <p:spPr>
          <a:xfrm>
            <a:off x="9217152" y="4306824"/>
            <a:ext cx="2194560" cy="274320"/>
          </a:xfrm>
          <a:prstGeom prst="rect">
            <a:avLst/>
          </a:prstGeom>
          <a:noFill/>
          <a:ln/>
        </p:spPr>
        <p:txBody>
          <a:bodyPr wrap="square" rtlCol="0" anchor="ctr"/>
          <a:lstStyle/>
          <a:p>
            <a:pPr indent="0" marL="0">
              <a:buNone/>
            </a:pPr>
            <a:r>
              <a:rPr lang="en-US" sz="1250" dirty="0">
                <a:solidFill>
                  <a:srgbClr val="EBA98C"/>
                </a:solidFill>
                <a:latin typeface="Consolas" pitchFamily="34" charset="0"/>
                <a:ea typeface="Consolas" pitchFamily="34" charset="-122"/>
                <a:cs typeface="Consolas" pitchFamily="34" charset="-120"/>
              </a:rPr>
              <a:t>≈ 200 per arm</a:t>
            </a:r>
            <a:endParaRPr lang="en-US" sz="1250" dirty="0"/>
          </a:p>
        </p:txBody>
      </p:sp>
      <p:sp>
        <p:nvSpPr>
          <p:cNvPr id="24" name="Text 22"/>
          <p:cNvSpPr/>
          <p:nvPr/>
        </p:nvSpPr>
        <p:spPr>
          <a:xfrm>
            <a:off x="713232" y="5029200"/>
            <a:ext cx="9904013" cy="548640"/>
          </a:xfrm>
          <a:prstGeom prst="rect">
            <a:avLst/>
          </a:prstGeom>
          <a:noFill/>
          <a:ln/>
        </p:spPr>
        <p:txBody>
          <a:bodyPr wrap="square" rtlCol="0" anchor="ctr"/>
          <a:lstStyle/>
          <a:p>
            <a:pPr indent="0" marL="0">
              <a:lnSpc>
                <a:spcPts val="1900"/>
              </a:lnSpc>
              <a:buNone/>
            </a:pPr>
            <a:r>
              <a:rPr lang="en-US" sz="1250" dirty="0">
                <a:solidFill>
                  <a:srgbClr val="A394C8"/>
                </a:solidFill>
                <a:latin typeface="Trebuchet MS" pitchFamily="34" charset="0"/>
                <a:ea typeface="Trebuchet MS" pitchFamily="34" charset="-122"/>
                <a:cs typeface="Trebuchet MS" pitchFamily="34" charset="-120"/>
              </a:rPr>
              <a:t>Read the other way: a 400-per-arm pilot detects about seven percentage points. AUREN's premise is behaviour change under pressure, not a nudge — so it should be tested against a hypothesis worth detecting.</a:t>
            </a:r>
            <a:endParaRPr lang="en-US" sz="1250" dirty="0"/>
          </a:p>
        </p:txBody>
      </p:sp>
      <p:sp>
        <p:nvSpPr>
          <p:cNvPr id="25" name="Text 23"/>
          <p:cNvSpPr/>
          <p:nvPr/>
        </p:nvSpPr>
        <p:spPr>
          <a:xfrm>
            <a:off x="713232" y="5623560"/>
            <a:ext cx="9904013" cy="457200"/>
          </a:xfrm>
          <a:prstGeom prst="rect">
            <a:avLst/>
          </a:prstGeom>
          <a:noFill/>
          <a:ln/>
        </p:spPr>
        <p:txBody>
          <a:bodyPr wrap="square" rtlCol="0" anchor="ctr"/>
          <a:lstStyle/>
          <a:p>
            <a:pPr indent="0" marL="0">
              <a:lnSpc>
                <a:spcPts val="1900"/>
              </a:lnSpc>
              <a:buNone/>
            </a:pPr>
            <a:r>
              <a:rPr lang="en-US" sz="1250" dirty="0">
                <a:solidFill>
                  <a:srgbClr val="C7B3F0"/>
                </a:solidFill>
                <a:latin typeface="Trebuchet MS" pitchFamily="34" charset="0"/>
                <a:ea typeface="Trebuchet MS" pitchFamily="34" charset="-122"/>
                <a:cs typeface="Trebuchet MS" pitchFamily="34" charset="-120"/>
              </a:rPr>
              <a:t>Three arms: control, conventional education, AUREN. The second is the one people drop, and it is the one that matters — without it, any effect is arguably just the hour spent thinking about scams.</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22</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THE CLAIM LADDER</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What we may say, on what we have.</a:t>
            </a:r>
            <a:endParaRPr lang="en-US" sz="3400" dirty="0"/>
          </a:p>
        </p:txBody>
      </p:sp>
      <p:sp>
        <p:nvSpPr>
          <p:cNvPr id="7" name="Shape 5"/>
          <p:cNvSpPr/>
          <p:nvPr/>
        </p:nvSpPr>
        <p:spPr>
          <a:xfrm>
            <a:off x="713232" y="2103120"/>
            <a:ext cx="10765231" cy="585216"/>
          </a:xfrm>
          <a:prstGeom prst="roundRect">
            <a:avLst>
              <a:gd name="adj" fmla="val 9375"/>
            </a:avLst>
          </a:prstGeom>
          <a:solidFill>
            <a:srgbClr val="241B52"/>
          </a:solidFill>
          <a:ln w="12700">
            <a:solidFill>
              <a:srgbClr val="332758"/>
            </a:solidFill>
            <a:prstDash val="solid"/>
          </a:ln>
        </p:spPr>
      </p:sp>
      <p:sp>
        <p:nvSpPr>
          <p:cNvPr id="8" name="Shape 6"/>
          <p:cNvSpPr/>
          <p:nvPr/>
        </p:nvSpPr>
        <p:spPr>
          <a:xfrm>
            <a:off x="713232" y="2103120"/>
            <a:ext cx="41148" cy="585216"/>
          </a:xfrm>
          <a:prstGeom prst="rect">
            <a:avLst/>
          </a:prstGeom>
          <a:solidFill>
            <a:srgbClr val="8FD3BA"/>
          </a:solidFill>
          <a:ln/>
        </p:spPr>
      </p:sp>
      <p:sp>
        <p:nvSpPr>
          <p:cNvPr id="9" name="Text 7"/>
          <p:cNvSpPr/>
          <p:nvPr/>
        </p:nvSpPr>
        <p:spPr>
          <a:xfrm>
            <a:off x="1033272" y="2240280"/>
            <a:ext cx="365760" cy="310896"/>
          </a:xfrm>
          <a:prstGeom prst="rect">
            <a:avLst/>
          </a:prstGeom>
          <a:noFill/>
          <a:ln/>
        </p:spPr>
        <p:txBody>
          <a:bodyPr wrap="square" rtlCol="0" anchor="ctr"/>
          <a:lstStyle/>
          <a:p>
            <a:pPr indent="0" marL="0">
              <a:buNone/>
            </a:pPr>
            <a:r>
              <a:rPr lang="en-US" sz="1400" b="1" dirty="0">
                <a:solidFill>
                  <a:srgbClr val="8FD3BA"/>
                </a:solidFill>
                <a:latin typeface="Consolas" pitchFamily="34" charset="0"/>
                <a:ea typeface="Consolas" pitchFamily="34" charset="-122"/>
                <a:cs typeface="Consolas" pitchFamily="34" charset="-120"/>
              </a:rPr>
              <a:t>1</a:t>
            </a:r>
            <a:endParaRPr lang="en-US" sz="1400" dirty="0"/>
          </a:p>
        </p:txBody>
      </p:sp>
      <p:sp>
        <p:nvSpPr>
          <p:cNvPr id="10" name="Text 8"/>
          <p:cNvSpPr/>
          <p:nvPr/>
        </p:nvSpPr>
        <p:spPr>
          <a:xfrm>
            <a:off x="1490472" y="2221992"/>
            <a:ext cx="7839151" cy="347472"/>
          </a:xfrm>
          <a:prstGeom prst="rect">
            <a:avLst/>
          </a:prstGeom>
          <a:noFill/>
          <a:ln/>
        </p:spPr>
        <p:txBody>
          <a:bodyPr wrap="square" rtlCol="0" anchor="ctr"/>
          <a:lstStyle/>
          <a:p>
            <a:pPr indent="0" marL="0">
              <a:buNone/>
            </a:pPr>
            <a:r>
              <a:rPr lang="en-US" sz="1300" dirty="0">
                <a:solidFill>
                  <a:srgbClr val="F3EDFB"/>
                </a:solidFill>
                <a:latin typeface="Trebuchet MS" pitchFamily="34" charset="0"/>
                <a:ea typeface="Trebuchet MS" pitchFamily="34" charset="-122"/>
                <a:cs typeface="Trebuchet MS" pitchFamily="34" charset="-120"/>
              </a:rPr>
              <a:t>N people completed a governed rehearsal with an evidence-bound record</a:t>
            </a:r>
            <a:endParaRPr lang="en-US" sz="1300" dirty="0"/>
          </a:p>
        </p:txBody>
      </p:sp>
      <p:sp>
        <p:nvSpPr>
          <p:cNvPr id="11" name="Text 9"/>
          <p:cNvSpPr/>
          <p:nvPr/>
        </p:nvSpPr>
        <p:spPr>
          <a:xfrm>
            <a:off x="9832543" y="2240280"/>
            <a:ext cx="1371600" cy="310896"/>
          </a:xfrm>
          <a:prstGeom prst="rect">
            <a:avLst/>
          </a:prstGeom>
          <a:noFill/>
          <a:ln/>
        </p:spPr>
        <p:txBody>
          <a:bodyPr wrap="square" rtlCol="0" anchor="ctr"/>
          <a:lstStyle/>
          <a:p>
            <a:pPr algn="r" indent="0" marL="0">
              <a:buNone/>
            </a:pPr>
            <a:r>
              <a:rPr lang="en-US" sz="1050" dirty="0">
                <a:solidFill>
                  <a:srgbClr val="8FD3BA"/>
                </a:solidFill>
                <a:latin typeface="Consolas" pitchFamily="34" charset="0"/>
                <a:ea typeface="Consolas" pitchFamily="34" charset="-122"/>
                <a:cs typeface="Consolas" pitchFamily="34" charset="-120"/>
              </a:rPr>
              <a:t>supported</a:t>
            </a:r>
            <a:endParaRPr lang="en-US" sz="1050" dirty="0"/>
          </a:p>
        </p:txBody>
      </p:sp>
      <p:sp>
        <p:nvSpPr>
          <p:cNvPr id="12" name="Shape 10"/>
          <p:cNvSpPr/>
          <p:nvPr/>
        </p:nvSpPr>
        <p:spPr>
          <a:xfrm>
            <a:off x="713232" y="2761488"/>
            <a:ext cx="10765231" cy="585216"/>
          </a:xfrm>
          <a:prstGeom prst="roundRect">
            <a:avLst>
              <a:gd name="adj" fmla="val 9375"/>
            </a:avLst>
          </a:prstGeom>
          <a:solidFill>
            <a:srgbClr val="241B52"/>
          </a:solidFill>
          <a:ln w="12700">
            <a:solidFill>
              <a:srgbClr val="332758"/>
            </a:solidFill>
            <a:prstDash val="solid"/>
          </a:ln>
        </p:spPr>
      </p:sp>
      <p:sp>
        <p:nvSpPr>
          <p:cNvPr id="13" name="Shape 11"/>
          <p:cNvSpPr/>
          <p:nvPr/>
        </p:nvSpPr>
        <p:spPr>
          <a:xfrm>
            <a:off x="713232" y="2761488"/>
            <a:ext cx="41148" cy="585216"/>
          </a:xfrm>
          <a:prstGeom prst="rect">
            <a:avLst/>
          </a:prstGeom>
          <a:solidFill>
            <a:srgbClr val="8FD3BA"/>
          </a:solidFill>
          <a:ln/>
        </p:spPr>
      </p:sp>
      <p:sp>
        <p:nvSpPr>
          <p:cNvPr id="14" name="Text 12"/>
          <p:cNvSpPr/>
          <p:nvPr/>
        </p:nvSpPr>
        <p:spPr>
          <a:xfrm>
            <a:off x="1033272" y="2898648"/>
            <a:ext cx="365760" cy="310896"/>
          </a:xfrm>
          <a:prstGeom prst="rect">
            <a:avLst/>
          </a:prstGeom>
          <a:noFill/>
          <a:ln/>
        </p:spPr>
        <p:txBody>
          <a:bodyPr wrap="square" rtlCol="0" anchor="ctr"/>
          <a:lstStyle/>
          <a:p>
            <a:pPr indent="0" marL="0">
              <a:buNone/>
            </a:pPr>
            <a:r>
              <a:rPr lang="en-US" sz="1400" b="1" dirty="0">
                <a:solidFill>
                  <a:srgbClr val="8FD3BA"/>
                </a:solidFill>
                <a:latin typeface="Consolas" pitchFamily="34" charset="0"/>
                <a:ea typeface="Consolas" pitchFamily="34" charset="-122"/>
                <a:cs typeface="Consolas" pitchFamily="34" charset="-120"/>
              </a:rPr>
              <a:t>2</a:t>
            </a:r>
            <a:endParaRPr lang="en-US" sz="1400" dirty="0"/>
          </a:p>
        </p:txBody>
      </p:sp>
      <p:sp>
        <p:nvSpPr>
          <p:cNvPr id="15" name="Text 13"/>
          <p:cNvSpPr/>
          <p:nvPr/>
        </p:nvSpPr>
        <p:spPr>
          <a:xfrm>
            <a:off x="1490472" y="2880360"/>
            <a:ext cx="7839151" cy="347472"/>
          </a:xfrm>
          <a:prstGeom prst="rect">
            <a:avLst/>
          </a:prstGeom>
          <a:noFill/>
          <a:ln/>
        </p:spPr>
        <p:txBody>
          <a:bodyPr wrap="square" rtlCol="0" anchor="ctr"/>
          <a:lstStyle/>
          <a:p>
            <a:pPr indent="0" marL="0">
              <a:buNone/>
            </a:pPr>
            <a:r>
              <a:rPr lang="en-US" sz="1300" dirty="0">
                <a:solidFill>
                  <a:srgbClr val="F3EDFB"/>
                </a:solidFill>
                <a:latin typeface="Trebuchet MS" pitchFamily="34" charset="0"/>
                <a:ea typeface="Trebuchet MS" pitchFamily="34" charset="-122"/>
                <a:cs typeface="Trebuchet MS" pitchFamily="34" charset="-120"/>
              </a:rPr>
              <a:t>Reduced unsafe decisions in unfamiliar simulated scams by X% against conventional education</a:t>
            </a:r>
            <a:endParaRPr lang="en-US" sz="1300" dirty="0"/>
          </a:p>
        </p:txBody>
      </p:sp>
      <p:sp>
        <p:nvSpPr>
          <p:cNvPr id="16" name="Text 14"/>
          <p:cNvSpPr/>
          <p:nvPr/>
        </p:nvSpPr>
        <p:spPr>
          <a:xfrm>
            <a:off x="9832543" y="2898648"/>
            <a:ext cx="1371600" cy="310896"/>
          </a:xfrm>
          <a:prstGeom prst="rect">
            <a:avLst/>
          </a:prstGeom>
          <a:noFill/>
          <a:ln/>
        </p:spPr>
        <p:txBody>
          <a:bodyPr wrap="square" rtlCol="0" anchor="ctr"/>
          <a:lstStyle/>
          <a:p>
            <a:pPr algn="r" indent="0" marL="0">
              <a:buNone/>
            </a:pPr>
            <a:r>
              <a:rPr lang="en-US" sz="1050" dirty="0">
                <a:solidFill>
                  <a:srgbClr val="8FD3BA"/>
                </a:solidFill>
                <a:latin typeface="Consolas" pitchFamily="34" charset="0"/>
                <a:ea typeface="Consolas" pitchFamily="34" charset="-122"/>
                <a:cs typeface="Consolas" pitchFamily="34" charset="-120"/>
              </a:rPr>
              <a:t>supported</a:t>
            </a:r>
            <a:endParaRPr lang="en-US" sz="1050" dirty="0"/>
          </a:p>
        </p:txBody>
      </p:sp>
      <p:sp>
        <p:nvSpPr>
          <p:cNvPr id="17" name="Shape 15"/>
          <p:cNvSpPr/>
          <p:nvPr/>
        </p:nvSpPr>
        <p:spPr>
          <a:xfrm>
            <a:off x="713232" y="3419856"/>
            <a:ext cx="10765231" cy="585216"/>
          </a:xfrm>
          <a:prstGeom prst="roundRect">
            <a:avLst>
              <a:gd name="adj" fmla="val 9375"/>
            </a:avLst>
          </a:prstGeom>
          <a:solidFill>
            <a:srgbClr val="1A1338"/>
          </a:solidFill>
          <a:ln w="12700">
            <a:solidFill>
              <a:srgbClr val="332758"/>
            </a:solidFill>
            <a:prstDash val="solid"/>
          </a:ln>
        </p:spPr>
      </p:sp>
      <p:sp>
        <p:nvSpPr>
          <p:cNvPr id="18" name="Shape 16"/>
          <p:cNvSpPr/>
          <p:nvPr/>
        </p:nvSpPr>
        <p:spPr>
          <a:xfrm>
            <a:off x="713232" y="3419856"/>
            <a:ext cx="41148" cy="585216"/>
          </a:xfrm>
          <a:prstGeom prst="rect">
            <a:avLst/>
          </a:prstGeom>
          <a:solidFill>
            <a:srgbClr val="2A2059"/>
          </a:solidFill>
          <a:ln/>
        </p:spPr>
      </p:sp>
      <p:sp>
        <p:nvSpPr>
          <p:cNvPr id="19" name="Text 17"/>
          <p:cNvSpPr/>
          <p:nvPr/>
        </p:nvSpPr>
        <p:spPr>
          <a:xfrm>
            <a:off x="1033272" y="3557016"/>
            <a:ext cx="365760" cy="310896"/>
          </a:xfrm>
          <a:prstGeom prst="rect">
            <a:avLst/>
          </a:prstGeom>
          <a:noFill/>
          <a:ln/>
        </p:spPr>
        <p:txBody>
          <a:bodyPr wrap="square" rtlCol="0" anchor="ctr"/>
          <a:lstStyle/>
          <a:p>
            <a:pPr indent="0" marL="0">
              <a:buNone/>
            </a:pPr>
            <a:r>
              <a:rPr lang="en-US" sz="1400" b="1" dirty="0">
                <a:solidFill>
                  <a:srgbClr val="7A6AA8"/>
                </a:solidFill>
                <a:latin typeface="Consolas" pitchFamily="34" charset="0"/>
                <a:ea typeface="Consolas" pitchFamily="34" charset="-122"/>
                <a:cs typeface="Consolas" pitchFamily="34" charset="-120"/>
              </a:rPr>
              <a:t>3</a:t>
            </a:r>
            <a:endParaRPr lang="en-US" sz="1400" dirty="0"/>
          </a:p>
        </p:txBody>
      </p:sp>
      <p:sp>
        <p:nvSpPr>
          <p:cNvPr id="20" name="Text 18"/>
          <p:cNvSpPr/>
          <p:nvPr/>
        </p:nvSpPr>
        <p:spPr>
          <a:xfrm>
            <a:off x="1490472" y="3538728"/>
            <a:ext cx="7839151" cy="347472"/>
          </a:xfrm>
          <a:prstGeom prst="rect">
            <a:avLst/>
          </a:prstGeom>
          <a:noFill/>
          <a:ln/>
        </p:spPr>
        <p:txBody>
          <a:bodyPr wrap="square" rtlCol="0" anchor="ctr"/>
          <a:lstStyle/>
          <a:p>
            <a:pPr indent="0" marL="0">
              <a:buNone/>
            </a:pPr>
            <a:r>
              <a:rPr lang="en-US" sz="1300" dirty="0">
                <a:solidFill>
                  <a:srgbClr val="7A6AA8"/>
                </a:solidFill>
                <a:latin typeface="Trebuchet MS" pitchFamily="34" charset="0"/>
                <a:ea typeface="Trebuchet MS" pitchFamily="34" charset="-122"/>
                <a:cs typeface="Trebuchet MS" pitchFamily="34" charset="-120"/>
              </a:rPr>
              <a:t>The reduction was sustained at 90 days</a:t>
            </a:r>
            <a:endParaRPr lang="en-US" sz="1300" dirty="0"/>
          </a:p>
        </p:txBody>
      </p:sp>
      <p:sp>
        <p:nvSpPr>
          <p:cNvPr id="21" name="Text 19"/>
          <p:cNvSpPr/>
          <p:nvPr/>
        </p:nvSpPr>
        <p:spPr>
          <a:xfrm>
            <a:off x="9832543" y="3557016"/>
            <a:ext cx="1371600" cy="310896"/>
          </a:xfrm>
          <a:prstGeom prst="rect">
            <a:avLst/>
          </a:prstGeom>
          <a:noFill/>
          <a:ln/>
        </p:spPr>
        <p:txBody>
          <a:bodyPr wrap="square" rtlCol="0" anchor="ctr"/>
          <a:lstStyle/>
          <a:p>
            <a:pPr algn="r" indent="0" marL="0">
              <a:buNone/>
            </a:pPr>
            <a:r>
              <a:rPr lang="en-US" sz="1050" dirty="0">
                <a:solidFill>
                  <a:srgbClr val="7A6AA8"/>
                </a:solidFill>
                <a:latin typeface="Consolas" pitchFamily="34" charset="0"/>
                <a:ea typeface="Consolas" pitchFamily="34" charset="-122"/>
                <a:cs typeface="Consolas" pitchFamily="34" charset="-120"/>
              </a:rPr>
              <a:t>not yet</a:t>
            </a:r>
            <a:endParaRPr lang="en-US" sz="1050" dirty="0"/>
          </a:p>
        </p:txBody>
      </p:sp>
      <p:sp>
        <p:nvSpPr>
          <p:cNvPr id="22" name="Shape 20"/>
          <p:cNvSpPr/>
          <p:nvPr/>
        </p:nvSpPr>
        <p:spPr>
          <a:xfrm>
            <a:off x="713232" y="4078224"/>
            <a:ext cx="10765231" cy="585216"/>
          </a:xfrm>
          <a:prstGeom prst="roundRect">
            <a:avLst>
              <a:gd name="adj" fmla="val 9375"/>
            </a:avLst>
          </a:prstGeom>
          <a:solidFill>
            <a:srgbClr val="1A1338"/>
          </a:solidFill>
          <a:ln w="12700">
            <a:solidFill>
              <a:srgbClr val="332758"/>
            </a:solidFill>
            <a:prstDash val="solid"/>
          </a:ln>
        </p:spPr>
      </p:sp>
      <p:sp>
        <p:nvSpPr>
          <p:cNvPr id="23" name="Shape 21"/>
          <p:cNvSpPr/>
          <p:nvPr/>
        </p:nvSpPr>
        <p:spPr>
          <a:xfrm>
            <a:off x="713232" y="4078224"/>
            <a:ext cx="41148" cy="585216"/>
          </a:xfrm>
          <a:prstGeom prst="rect">
            <a:avLst/>
          </a:prstGeom>
          <a:solidFill>
            <a:srgbClr val="2A2059"/>
          </a:solidFill>
          <a:ln/>
        </p:spPr>
      </p:sp>
      <p:sp>
        <p:nvSpPr>
          <p:cNvPr id="24" name="Text 22"/>
          <p:cNvSpPr/>
          <p:nvPr/>
        </p:nvSpPr>
        <p:spPr>
          <a:xfrm>
            <a:off x="1033272" y="4215384"/>
            <a:ext cx="365760" cy="310896"/>
          </a:xfrm>
          <a:prstGeom prst="rect">
            <a:avLst/>
          </a:prstGeom>
          <a:noFill/>
          <a:ln/>
        </p:spPr>
        <p:txBody>
          <a:bodyPr wrap="square" rtlCol="0" anchor="ctr"/>
          <a:lstStyle/>
          <a:p>
            <a:pPr indent="0" marL="0">
              <a:buNone/>
            </a:pPr>
            <a:r>
              <a:rPr lang="en-US" sz="1400" b="1" dirty="0">
                <a:solidFill>
                  <a:srgbClr val="7A6AA8"/>
                </a:solidFill>
                <a:latin typeface="Consolas" pitchFamily="34" charset="0"/>
                <a:ea typeface="Consolas" pitchFamily="34" charset="-122"/>
                <a:cs typeface="Consolas" pitchFamily="34" charset="-120"/>
              </a:rPr>
              <a:t>4</a:t>
            </a:r>
            <a:endParaRPr lang="en-US" sz="1400" dirty="0"/>
          </a:p>
        </p:txBody>
      </p:sp>
      <p:sp>
        <p:nvSpPr>
          <p:cNvPr id="25" name="Text 23"/>
          <p:cNvSpPr/>
          <p:nvPr/>
        </p:nvSpPr>
        <p:spPr>
          <a:xfrm>
            <a:off x="1490472" y="4197096"/>
            <a:ext cx="7839151" cy="347472"/>
          </a:xfrm>
          <a:prstGeom prst="rect">
            <a:avLst/>
          </a:prstGeom>
          <a:noFill/>
          <a:ln/>
        </p:spPr>
        <p:txBody>
          <a:bodyPr wrap="square" rtlCol="0" anchor="ctr"/>
          <a:lstStyle/>
          <a:p>
            <a:pPr indent="0" marL="0">
              <a:buNone/>
            </a:pPr>
            <a:r>
              <a:rPr lang="en-US" sz="1300" dirty="0">
                <a:solidFill>
                  <a:srgbClr val="7A6AA8"/>
                </a:solidFill>
                <a:latin typeface="Trebuchet MS" pitchFamily="34" charset="0"/>
                <a:ea typeface="Trebuchet MS" pitchFamily="34" charset="-122"/>
                <a:cs typeface="Trebuchet MS" pitchFamily="34" charset="-120"/>
              </a:rPr>
              <a:t>Rehearsed customers performed more protective actions in real conditions</a:t>
            </a:r>
            <a:endParaRPr lang="en-US" sz="1300" dirty="0"/>
          </a:p>
        </p:txBody>
      </p:sp>
      <p:sp>
        <p:nvSpPr>
          <p:cNvPr id="26" name="Text 24"/>
          <p:cNvSpPr/>
          <p:nvPr/>
        </p:nvSpPr>
        <p:spPr>
          <a:xfrm>
            <a:off x="9832543" y="4215384"/>
            <a:ext cx="1371600" cy="310896"/>
          </a:xfrm>
          <a:prstGeom prst="rect">
            <a:avLst/>
          </a:prstGeom>
          <a:noFill/>
          <a:ln/>
        </p:spPr>
        <p:txBody>
          <a:bodyPr wrap="square" rtlCol="0" anchor="ctr"/>
          <a:lstStyle/>
          <a:p>
            <a:pPr algn="r" indent="0" marL="0">
              <a:buNone/>
            </a:pPr>
            <a:r>
              <a:rPr lang="en-US" sz="1050" dirty="0">
                <a:solidFill>
                  <a:srgbClr val="7A6AA8"/>
                </a:solidFill>
                <a:latin typeface="Consolas" pitchFamily="34" charset="0"/>
                <a:ea typeface="Consolas" pitchFamily="34" charset="-122"/>
                <a:cs typeface="Consolas" pitchFamily="34" charset="-120"/>
              </a:rPr>
              <a:t>not yet</a:t>
            </a:r>
            <a:endParaRPr lang="en-US" sz="1050" dirty="0"/>
          </a:p>
        </p:txBody>
      </p:sp>
      <p:sp>
        <p:nvSpPr>
          <p:cNvPr id="27" name="Shape 25"/>
          <p:cNvSpPr/>
          <p:nvPr/>
        </p:nvSpPr>
        <p:spPr>
          <a:xfrm>
            <a:off x="713232" y="4736592"/>
            <a:ext cx="10765231" cy="585216"/>
          </a:xfrm>
          <a:prstGeom prst="roundRect">
            <a:avLst>
              <a:gd name="adj" fmla="val 9375"/>
            </a:avLst>
          </a:prstGeom>
          <a:solidFill>
            <a:srgbClr val="1A1338"/>
          </a:solidFill>
          <a:ln w="12700">
            <a:solidFill>
              <a:srgbClr val="332758"/>
            </a:solidFill>
            <a:prstDash val="solid"/>
          </a:ln>
        </p:spPr>
      </p:sp>
      <p:sp>
        <p:nvSpPr>
          <p:cNvPr id="28" name="Shape 26"/>
          <p:cNvSpPr/>
          <p:nvPr/>
        </p:nvSpPr>
        <p:spPr>
          <a:xfrm>
            <a:off x="713232" y="4736592"/>
            <a:ext cx="41148" cy="585216"/>
          </a:xfrm>
          <a:prstGeom prst="rect">
            <a:avLst/>
          </a:prstGeom>
          <a:solidFill>
            <a:srgbClr val="2A2059"/>
          </a:solidFill>
          <a:ln/>
        </p:spPr>
      </p:sp>
      <p:sp>
        <p:nvSpPr>
          <p:cNvPr id="29" name="Text 27"/>
          <p:cNvSpPr/>
          <p:nvPr/>
        </p:nvSpPr>
        <p:spPr>
          <a:xfrm>
            <a:off x="1033272" y="4873752"/>
            <a:ext cx="365760" cy="310896"/>
          </a:xfrm>
          <a:prstGeom prst="rect">
            <a:avLst/>
          </a:prstGeom>
          <a:noFill/>
          <a:ln/>
        </p:spPr>
        <p:txBody>
          <a:bodyPr wrap="square" rtlCol="0" anchor="ctr"/>
          <a:lstStyle/>
          <a:p>
            <a:pPr indent="0" marL="0">
              <a:buNone/>
            </a:pPr>
            <a:r>
              <a:rPr lang="en-US" sz="1400" b="1" dirty="0">
                <a:solidFill>
                  <a:srgbClr val="7A6AA8"/>
                </a:solidFill>
                <a:latin typeface="Consolas" pitchFamily="34" charset="0"/>
                <a:ea typeface="Consolas" pitchFamily="34" charset="-122"/>
                <a:cs typeface="Consolas" pitchFamily="34" charset="-120"/>
              </a:rPr>
              <a:t>5</a:t>
            </a:r>
            <a:endParaRPr lang="en-US" sz="1400" dirty="0"/>
          </a:p>
        </p:txBody>
      </p:sp>
      <p:sp>
        <p:nvSpPr>
          <p:cNvPr id="30" name="Text 28"/>
          <p:cNvSpPr/>
          <p:nvPr/>
        </p:nvSpPr>
        <p:spPr>
          <a:xfrm>
            <a:off x="1490472" y="4855464"/>
            <a:ext cx="7839151" cy="347472"/>
          </a:xfrm>
          <a:prstGeom prst="rect">
            <a:avLst/>
          </a:prstGeom>
          <a:noFill/>
          <a:ln/>
        </p:spPr>
        <p:txBody>
          <a:bodyPr wrap="square" rtlCol="0" anchor="ctr"/>
          <a:lstStyle/>
          <a:p>
            <a:pPr indent="0" marL="0">
              <a:buNone/>
            </a:pPr>
            <a:r>
              <a:rPr lang="en-US" sz="1300" dirty="0">
                <a:solidFill>
                  <a:srgbClr val="7A6AA8"/>
                </a:solidFill>
                <a:latin typeface="Trebuchet MS" pitchFamily="34" charset="0"/>
                <a:ea typeface="Trebuchet MS" pitchFamily="34" charset="-122"/>
                <a:cs typeface="Trebuchet MS" pitchFamily="34" charset="-120"/>
              </a:rPr>
              <a:t>Reduced actual scam-loss events by X% and avoided Y in losses</a:t>
            </a:r>
            <a:endParaRPr lang="en-US" sz="1300" dirty="0"/>
          </a:p>
        </p:txBody>
      </p:sp>
      <p:sp>
        <p:nvSpPr>
          <p:cNvPr id="31" name="Text 29"/>
          <p:cNvSpPr/>
          <p:nvPr/>
        </p:nvSpPr>
        <p:spPr>
          <a:xfrm>
            <a:off x="9832543" y="4873752"/>
            <a:ext cx="1371600" cy="310896"/>
          </a:xfrm>
          <a:prstGeom prst="rect">
            <a:avLst/>
          </a:prstGeom>
          <a:noFill/>
          <a:ln/>
        </p:spPr>
        <p:txBody>
          <a:bodyPr wrap="square" rtlCol="0" anchor="ctr"/>
          <a:lstStyle/>
          <a:p>
            <a:pPr algn="r" indent="0" marL="0">
              <a:buNone/>
            </a:pPr>
            <a:r>
              <a:rPr lang="en-US" sz="1050" dirty="0">
                <a:solidFill>
                  <a:srgbClr val="7A6AA8"/>
                </a:solidFill>
                <a:latin typeface="Consolas" pitchFamily="34" charset="0"/>
                <a:ea typeface="Consolas" pitchFamily="34" charset="-122"/>
                <a:cs typeface="Consolas" pitchFamily="34" charset="-120"/>
              </a:rPr>
              <a:t>not yet</a:t>
            </a:r>
            <a:endParaRPr lang="en-US" sz="1050" dirty="0"/>
          </a:p>
        </p:txBody>
      </p:sp>
      <p:sp>
        <p:nvSpPr>
          <p:cNvPr id="32" name="Text 30"/>
          <p:cNvSpPr/>
          <p:nvPr/>
        </p:nvSpPr>
        <p:spPr>
          <a:xfrm>
            <a:off x="713232" y="5577840"/>
            <a:ext cx="10119317" cy="640080"/>
          </a:xfrm>
          <a:prstGeom prst="rect">
            <a:avLst/>
          </a:prstGeom>
          <a:noFill/>
          <a:ln/>
        </p:spPr>
        <p:txBody>
          <a:bodyPr wrap="square" rtlCol="0" anchor="ctr"/>
          <a:lstStyle/>
          <a:p>
            <a:pPr indent="0" marL="0">
              <a:lnSpc>
                <a:spcPts val="1900"/>
              </a:lnSpc>
              <a:buNone/>
            </a:pPr>
            <a:r>
              <a:rPr lang="en-US" sz="1250" dirty="0">
                <a:solidFill>
                  <a:srgbClr val="A394C8"/>
                </a:solidFill>
                <a:latin typeface="Trebuchet MS" pitchFamily="34" charset="0"/>
                <a:ea typeface="Trebuchet MS" pitchFamily="34" charset="-122"/>
                <a:cs typeface="Trebuchet MS" pitchFamily="34" charset="-120"/>
              </a:rPr>
              <a:t>Saying rung five while holding rung two evidence is the most common overstatement in this sector, and it is the one a regulator's economist finds. The system refuses a claim above its evidence and names the missing requirement — because “we need more data” gets waved through and “you do not have linked transaction outcomes” does not.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33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EBA98C"/>
          </a:solidFill>
          <a:ln/>
        </p:spPr>
      </p:sp>
      <p:sp>
        <p:nvSpPr>
          <p:cNvPr id="3" name="Text 1"/>
          <p:cNvSpPr/>
          <p:nvPr/>
        </p:nvSpPr>
        <p:spPr>
          <a:xfrm>
            <a:off x="1005840" y="2286000"/>
            <a:ext cx="9144000" cy="320040"/>
          </a:xfrm>
          <a:prstGeom prst="rect">
            <a:avLst/>
          </a:prstGeom>
          <a:noFill/>
          <a:ln/>
        </p:spPr>
        <p:txBody>
          <a:bodyPr wrap="square" rtlCol="0" anchor="ctr"/>
          <a:lstStyle/>
          <a:p>
            <a:pPr indent="0" marL="0">
              <a:buNone/>
            </a:pPr>
            <a:r>
              <a:rPr lang="en-US" sz="1200" b="1" spc="400" kern="0" dirty="0">
                <a:solidFill>
                  <a:srgbClr val="EBA98C"/>
                </a:solidFill>
                <a:latin typeface="Trebuchet MS" pitchFamily="34" charset="0"/>
                <a:ea typeface="Trebuchet MS" pitchFamily="34" charset="-122"/>
                <a:cs typeface="Trebuchet MS" pitchFamily="34" charset="-120"/>
              </a:rPr>
              <a:t>SECTION SIX</a:t>
            </a:r>
            <a:endParaRPr lang="en-US" sz="1200" dirty="0"/>
          </a:p>
        </p:txBody>
      </p:sp>
      <p:sp>
        <p:nvSpPr>
          <p:cNvPr id="4" name="Text 2"/>
          <p:cNvSpPr/>
          <p:nvPr/>
        </p:nvSpPr>
        <p:spPr>
          <a:xfrm>
            <a:off x="1005840" y="2651760"/>
            <a:ext cx="9692640" cy="1005840"/>
          </a:xfrm>
          <a:prstGeom prst="rect">
            <a:avLst/>
          </a:prstGeom>
          <a:noFill/>
          <a:ln/>
        </p:spPr>
        <p:txBody>
          <a:bodyPr wrap="square" rtlCol="0" anchor="ctr"/>
          <a:lstStyle/>
          <a:p>
            <a:pPr indent="0" marL="0">
              <a:buNone/>
            </a:pPr>
            <a:r>
              <a:rPr lang="en-US" sz="4000" b="1" dirty="0">
                <a:solidFill>
                  <a:srgbClr val="F3EDFB"/>
                </a:solidFill>
                <a:latin typeface="Trebuchet MS" pitchFamily="34" charset="0"/>
                <a:ea typeface="Trebuchet MS" pitchFamily="34" charset="-122"/>
                <a:cs typeface="Trebuchet MS" pitchFamily="34" charset="-120"/>
              </a:rPr>
              <a:t>Deep dive</a:t>
            </a:r>
            <a:endParaRPr lang="en-US" sz="4000" dirty="0"/>
          </a:p>
        </p:txBody>
      </p:sp>
      <p:sp>
        <p:nvSpPr>
          <p:cNvPr id="5" name="Text 3"/>
          <p:cNvSpPr/>
          <p:nvPr/>
        </p:nvSpPr>
        <p:spPr>
          <a:xfrm>
            <a:off x="1005840" y="3703320"/>
            <a:ext cx="8778240" cy="822960"/>
          </a:xfrm>
          <a:prstGeom prst="rect">
            <a:avLst/>
          </a:prstGeom>
          <a:noFill/>
          <a:ln/>
        </p:spPr>
        <p:txBody>
          <a:bodyPr wrap="square" rtlCol="0" anchor="ctr"/>
          <a:lstStyle/>
          <a:p>
            <a:pPr indent="0" marL="0">
              <a:lnSpc>
                <a:spcPts val="2200"/>
              </a:lnSpc>
              <a:buNone/>
            </a:pPr>
            <a:r>
              <a:rPr lang="en-US" sz="1500" dirty="0">
                <a:solidFill>
                  <a:srgbClr val="A394C8"/>
                </a:solidFill>
                <a:latin typeface="Trebuchet MS" pitchFamily="34" charset="0"/>
                <a:ea typeface="Trebuchet MS" pitchFamily="34" charset="-122"/>
                <a:cs typeface="Trebuchet MS" pitchFamily="34" charset="-120"/>
              </a:rPr>
              <a:t>One thing, in detail: what happens when the model does something it should not.</a:t>
            </a:r>
            <a:endParaRPr lang="en-US" sz="1500" dirty="0"/>
          </a:p>
        </p:txBody>
      </p:sp>
      <p:sp>
        <p:nvSpPr>
          <p:cNvPr id="6" name="Text 4"/>
          <p:cNvSpPr/>
          <p:nvPr/>
        </p:nvSpPr>
        <p:spPr>
          <a:xfrm>
            <a:off x="11094415" y="6199632"/>
            <a:ext cx="548640" cy="274320"/>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24</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EIGHT MODEL RETURNS, RUN LIVE</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Two admitted. Six refused.</a:t>
            </a:r>
            <a:endParaRPr lang="en-US" sz="3400" dirty="0"/>
          </a:p>
        </p:txBody>
      </p:sp>
      <p:sp>
        <p:nvSpPr>
          <p:cNvPr id="7" name="Shape 5"/>
          <p:cNvSpPr/>
          <p:nvPr/>
        </p:nvSpPr>
        <p:spPr>
          <a:xfrm>
            <a:off x="713232" y="2011680"/>
            <a:ext cx="10765231" cy="361737"/>
          </a:xfrm>
          <a:prstGeom prst="rect">
            <a:avLst/>
          </a:prstGeom>
          <a:solidFill>
            <a:srgbClr val="241B52"/>
          </a:solidFill>
          <a:ln/>
        </p:spPr>
      </p:sp>
      <p:sp>
        <p:nvSpPr>
          <p:cNvPr id="8" name="Text 6"/>
          <p:cNvSpPr/>
          <p:nvPr/>
        </p:nvSpPr>
        <p:spPr>
          <a:xfrm>
            <a:off x="841248" y="2011680"/>
            <a:ext cx="1115568" cy="361737"/>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Mode</a:t>
            </a:r>
            <a:endParaRPr lang="en-US" sz="950" dirty="0"/>
          </a:p>
        </p:txBody>
      </p:sp>
      <p:sp>
        <p:nvSpPr>
          <p:cNvPr id="9" name="Text 7"/>
          <p:cNvSpPr/>
          <p:nvPr/>
        </p:nvSpPr>
        <p:spPr>
          <a:xfrm>
            <a:off x="2212848" y="2011680"/>
            <a:ext cx="6693408" cy="361737"/>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What the model did</a:t>
            </a:r>
            <a:endParaRPr lang="en-US" sz="950" dirty="0"/>
          </a:p>
        </p:txBody>
      </p:sp>
      <p:sp>
        <p:nvSpPr>
          <p:cNvPr id="10" name="Text 8"/>
          <p:cNvSpPr/>
          <p:nvPr/>
        </p:nvSpPr>
        <p:spPr>
          <a:xfrm>
            <a:off x="9162288" y="2011680"/>
            <a:ext cx="2185416" cy="361737"/>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Verdict</a:t>
            </a:r>
            <a:endParaRPr lang="en-US" sz="950" dirty="0"/>
          </a:p>
        </p:txBody>
      </p:sp>
      <p:sp>
        <p:nvSpPr>
          <p:cNvPr id="11" name="Text 9"/>
          <p:cNvSpPr/>
          <p:nvPr/>
        </p:nvSpPr>
        <p:spPr>
          <a:xfrm>
            <a:off x="841248" y="2373417"/>
            <a:ext cx="11155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assess</a:t>
            </a:r>
            <a:endParaRPr lang="en-US" sz="1150" dirty="0"/>
          </a:p>
        </p:txBody>
      </p:sp>
      <p:sp>
        <p:nvSpPr>
          <p:cNvPr id="12" name="Text 10"/>
          <p:cNvSpPr/>
          <p:nvPr/>
        </p:nvSpPr>
        <p:spPr>
          <a:xfrm>
            <a:off x="2212848" y="2373417"/>
            <a:ext cx="669340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Classified against an approved rubric, bound to a substring of what the learner said</a:t>
            </a:r>
            <a:endParaRPr lang="en-US" sz="1150" dirty="0"/>
          </a:p>
        </p:txBody>
      </p:sp>
      <p:sp>
        <p:nvSpPr>
          <p:cNvPr id="13" name="Text 11"/>
          <p:cNvSpPr/>
          <p:nvPr/>
        </p:nvSpPr>
        <p:spPr>
          <a:xfrm>
            <a:off x="9162288" y="2373417"/>
            <a:ext cx="2185416" cy="420624"/>
          </a:xfrm>
          <a:prstGeom prst="rect">
            <a:avLst/>
          </a:prstGeom>
          <a:noFill/>
          <a:ln/>
        </p:spPr>
        <p:txBody>
          <a:bodyPr wrap="square" rtlCol="0" anchor="ctr"/>
          <a:lstStyle/>
          <a:p>
            <a:pPr indent="0" marL="0">
              <a:lnSpc>
                <a:spcPts val="1400"/>
              </a:lnSpc>
              <a:buNone/>
            </a:pPr>
            <a:r>
              <a:rPr lang="en-US" sz="1150" dirty="0">
                <a:solidFill>
                  <a:srgbClr val="8FD3BA"/>
                </a:solidFill>
                <a:latin typeface="Trebuchet MS" pitchFamily="34" charset="0"/>
                <a:ea typeface="Trebuchet MS" pitchFamily="34" charset="-122"/>
                <a:cs typeface="Trebuchet MS" pitchFamily="34" charset="-120"/>
              </a:rPr>
              <a:t>ADMITTED</a:t>
            </a:r>
            <a:endParaRPr lang="en-US" sz="1150" dirty="0"/>
          </a:p>
        </p:txBody>
      </p:sp>
      <p:sp>
        <p:nvSpPr>
          <p:cNvPr id="14" name="Shape 12"/>
          <p:cNvSpPr/>
          <p:nvPr/>
        </p:nvSpPr>
        <p:spPr>
          <a:xfrm>
            <a:off x="713232" y="2794041"/>
            <a:ext cx="10765231" cy="420624"/>
          </a:xfrm>
          <a:prstGeom prst="rect">
            <a:avLst/>
          </a:prstGeom>
          <a:solidFill>
            <a:srgbClr val="150F35"/>
          </a:solidFill>
          <a:ln/>
        </p:spPr>
      </p:sp>
      <p:sp>
        <p:nvSpPr>
          <p:cNvPr id="15" name="Text 13"/>
          <p:cNvSpPr/>
          <p:nvPr/>
        </p:nvSpPr>
        <p:spPr>
          <a:xfrm>
            <a:off x="841248" y="2794041"/>
            <a:ext cx="11155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coach</a:t>
            </a:r>
            <a:endParaRPr lang="en-US" sz="1150" dirty="0"/>
          </a:p>
        </p:txBody>
      </p:sp>
      <p:sp>
        <p:nvSpPr>
          <p:cNvPr id="16" name="Text 14"/>
          <p:cNvSpPr/>
          <p:nvPr/>
        </p:nvSpPr>
        <p:spPr>
          <a:xfrm>
            <a:off x="2212848" y="2794041"/>
            <a:ext cx="669340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Cited an object outside the candidate set</a:t>
            </a:r>
            <a:endParaRPr lang="en-US" sz="1150" dirty="0"/>
          </a:p>
        </p:txBody>
      </p:sp>
      <p:sp>
        <p:nvSpPr>
          <p:cNvPr id="17" name="Text 15"/>
          <p:cNvSpPr/>
          <p:nvPr/>
        </p:nvSpPr>
        <p:spPr>
          <a:xfrm>
            <a:off x="9162288" y="2794041"/>
            <a:ext cx="2185416" cy="420624"/>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closed_set</a:t>
            </a:r>
            <a:endParaRPr lang="en-US" sz="1150" dirty="0"/>
          </a:p>
        </p:txBody>
      </p:sp>
      <p:sp>
        <p:nvSpPr>
          <p:cNvPr id="18" name="Text 16"/>
          <p:cNvSpPr/>
          <p:nvPr/>
        </p:nvSpPr>
        <p:spPr>
          <a:xfrm>
            <a:off x="841248" y="3214665"/>
            <a:ext cx="11155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assess</a:t>
            </a:r>
            <a:endParaRPr lang="en-US" sz="1150" dirty="0"/>
          </a:p>
        </p:txBody>
      </p:sp>
      <p:sp>
        <p:nvSpPr>
          <p:cNvPr id="19" name="Text 17"/>
          <p:cNvSpPr/>
          <p:nvPr/>
        </p:nvSpPr>
        <p:spPr>
          <a:xfrm>
            <a:off x="2212848" y="3214665"/>
            <a:ext cx="669340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Bound the finding to a paraphrase — a fair summary, not in the transcript</a:t>
            </a:r>
            <a:endParaRPr lang="en-US" sz="1150" dirty="0"/>
          </a:p>
        </p:txBody>
      </p:sp>
      <p:sp>
        <p:nvSpPr>
          <p:cNvPr id="20" name="Text 18"/>
          <p:cNvSpPr/>
          <p:nvPr/>
        </p:nvSpPr>
        <p:spPr>
          <a:xfrm>
            <a:off x="9162288" y="3214665"/>
            <a:ext cx="2185416" cy="420624"/>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span_fidelity</a:t>
            </a:r>
            <a:endParaRPr lang="en-US" sz="1150" dirty="0"/>
          </a:p>
        </p:txBody>
      </p:sp>
      <p:sp>
        <p:nvSpPr>
          <p:cNvPr id="21" name="Shape 19"/>
          <p:cNvSpPr/>
          <p:nvPr/>
        </p:nvSpPr>
        <p:spPr>
          <a:xfrm>
            <a:off x="713232" y="3635289"/>
            <a:ext cx="10765231" cy="420624"/>
          </a:xfrm>
          <a:prstGeom prst="rect">
            <a:avLst/>
          </a:prstGeom>
          <a:solidFill>
            <a:srgbClr val="150F35"/>
          </a:solidFill>
          <a:ln/>
        </p:spPr>
      </p:sp>
      <p:sp>
        <p:nvSpPr>
          <p:cNvPr id="22" name="Text 20"/>
          <p:cNvSpPr/>
          <p:nvPr/>
        </p:nvSpPr>
        <p:spPr>
          <a:xfrm>
            <a:off x="841248" y="3635289"/>
            <a:ext cx="11155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coach</a:t>
            </a:r>
            <a:endParaRPr lang="en-US" sz="1150" dirty="0"/>
          </a:p>
        </p:txBody>
      </p:sp>
      <p:sp>
        <p:nvSpPr>
          <p:cNvPr id="23" name="Text 21"/>
          <p:cNvSpPr/>
          <p:nvPr/>
        </p:nvSpPr>
        <p:spPr>
          <a:xfrm>
            <a:off x="2212848" y="3635289"/>
            <a:ext cx="669340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Returned a determination from a coaching turn</a:t>
            </a:r>
            <a:endParaRPr lang="en-US" sz="1150" dirty="0"/>
          </a:p>
        </p:txBody>
      </p:sp>
      <p:sp>
        <p:nvSpPr>
          <p:cNvPr id="24" name="Text 22"/>
          <p:cNvSpPr/>
          <p:nvPr/>
        </p:nvSpPr>
        <p:spPr>
          <a:xfrm>
            <a:off x="9162288" y="3635289"/>
            <a:ext cx="2185416" cy="420624"/>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classify</a:t>
            </a:r>
            <a:endParaRPr lang="en-US" sz="1150" dirty="0"/>
          </a:p>
        </p:txBody>
      </p:sp>
      <p:sp>
        <p:nvSpPr>
          <p:cNvPr id="25" name="Text 23"/>
          <p:cNvSpPr/>
          <p:nvPr/>
        </p:nvSpPr>
        <p:spPr>
          <a:xfrm>
            <a:off x="841248" y="4055913"/>
            <a:ext cx="11155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roleplay</a:t>
            </a:r>
            <a:endParaRPr lang="en-US" sz="1150" dirty="0"/>
          </a:p>
        </p:txBody>
      </p:sp>
      <p:sp>
        <p:nvSpPr>
          <p:cNvPr id="26" name="Text 24"/>
          <p:cNvSpPr/>
          <p:nvPr/>
        </p:nvSpPr>
        <p:spPr>
          <a:xfrm>
            <a:off x="2212848" y="4055913"/>
            <a:ext cx="669340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Jumped from rung 1 to rung 3</a:t>
            </a:r>
            <a:endParaRPr lang="en-US" sz="1150" dirty="0"/>
          </a:p>
        </p:txBody>
      </p:sp>
      <p:sp>
        <p:nvSpPr>
          <p:cNvPr id="27" name="Text 25"/>
          <p:cNvSpPr/>
          <p:nvPr/>
        </p:nvSpPr>
        <p:spPr>
          <a:xfrm>
            <a:off x="9162288" y="4055913"/>
            <a:ext cx="2185416" cy="420624"/>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ladder_step</a:t>
            </a:r>
            <a:endParaRPr lang="en-US" sz="1150" dirty="0"/>
          </a:p>
        </p:txBody>
      </p:sp>
      <p:sp>
        <p:nvSpPr>
          <p:cNvPr id="28" name="Shape 26"/>
          <p:cNvSpPr/>
          <p:nvPr/>
        </p:nvSpPr>
        <p:spPr>
          <a:xfrm>
            <a:off x="713232" y="4476537"/>
            <a:ext cx="10765231" cy="420624"/>
          </a:xfrm>
          <a:prstGeom prst="rect">
            <a:avLst/>
          </a:prstGeom>
          <a:solidFill>
            <a:srgbClr val="150F35"/>
          </a:solidFill>
          <a:ln/>
        </p:spPr>
      </p:sp>
      <p:sp>
        <p:nvSpPr>
          <p:cNvPr id="29" name="Text 27"/>
          <p:cNvSpPr/>
          <p:nvPr/>
        </p:nvSpPr>
        <p:spPr>
          <a:xfrm>
            <a:off x="841248" y="4476537"/>
            <a:ext cx="11155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roleplay</a:t>
            </a:r>
            <a:endParaRPr lang="en-US" sz="1150" dirty="0"/>
          </a:p>
        </p:txBody>
      </p:sp>
      <p:sp>
        <p:nvSpPr>
          <p:cNvPr id="30" name="Text 28"/>
          <p:cNvSpPr/>
          <p:nvPr/>
        </p:nvSpPr>
        <p:spPr>
          <a:xfrm>
            <a:off x="2212848" y="4476537"/>
            <a:ext cx="669340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Requested rung 4 on a scenario with a ceiling of 3</a:t>
            </a:r>
            <a:endParaRPr lang="en-US" sz="1150" dirty="0"/>
          </a:p>
        </p:txBody>
      </p:sp>
      <p:sp>
        <p:nvSpPr>
          <p:cNvPr id="31" name="Text 29"/>
          <p:cNvSpPr/>
          <p:nvPr/>
        </p:nvSpPr>
        <p:spPr>
          <a:xfrm>
            <a:off x="9162288" y="4476537"/>
            <a:ext cx="2185416" cy="420624"/>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ceiling</a:t>
            </a:r>
            <a:endParaRPr lang="en-US" sz="1150" dirty="0"/>
          </a:p>
        </p:txBody>
      </p:sp>
      <p:sp>
        <p:nvSpPr>
          <p:cNvPr id="32" name="Text 30"/>
          <p:cNvSpPr/>
          <p:nvPr/>
        </p:nvSpPr>
        <p:spPr>
          <a:xfrm>
            <a:off x="841248" y="4897161"/>
            <a:ext cx="11155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high-risk</a:t>
            </a:r>
            <a:endParaRPr lang="en-US" sz="1150" dirty="0"/>
          </a:p>
        </p:txBody>
      </p:sp>
      <p:sp>
        <p:nvSpPr>
          <p:cNvPr id="33" name="Text 31"/>
          <p:cNvSpPr/>
          <p:nvPr/>
        </p:nvSpPr>
        <p:spPr>
          <a:xfrm>
            <a:off x="2212848" y="4897161"/>
            <a:ext cx="669340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Answered “is this firm a scam?” instead of refusing</a:t>
            </a:r>
            <a:endParaRPr lang="en-US" sz="1150" dirty="0"/>
          </a:p>
        </p:txBody>
      </p:sp>
      <p:sp>
        <p:nvSpPr>
          <p:cNvPr id="34" name="Text 32"/>
          <p:cNvSpPr/>
          <p:nvPr/>
        </p:nvSpPr>
        <p:spPr>
          <a:xfrm>
            <a:off x="9162288" y="4897161"/>
            <a:ext cx="2185416" cy="420624"/>
          </a:xfrm>
          <a:prstGeom prst="rect">
            <a:avLst/>
          </a:prstGeom>
          <a:noFill/>
          <a:ln/>
        </p:spPr>
        <p:txBody>
          <a:bodyPr wrap="square" rtlCol="0" anchor="ctr"/>
          <a:lstStyle/>
          <a:p>
            <a:pPr indent="0" marL="0">
              <a:lnSpc>
                <a:spcPts val="1400"/>
              </a:lnSpc>
              <a:buNone/>
            </a:pPr>
            <a:r>
              <a:rPr lang="en-US" sz="1150" dirty="0">
                <a:solidFill>
                  <a:srgbClr val="E88DA0"/>
                </a:solidFill>
                <a:latin typeface="Trebuchet MS" pitchFamily="34" charset="0"/>
                <a:ea typeface="Trebuchet MS" pitchFamily="34" charset="-122"/>
                <a:cs typeface="Trebuchet MS" pitchFamily="34" charset="-120"/>
              </a:rPr>
              <a:t>refusal</a:t>
            </a:r>
            <a:endParaRPr lang="en-US" sz="1150" dirty="0"/>
          </a:p>
        </p:txBody>
      </p:sp>
      <p:sp>
        <p:nvSpPr>
          <p:cNvPr id="35" name="Shape 33"/>
          <p:cNvSpPr/>
          <p:nvPr/>
        </p:nvSpPr>
        <p:spPr>
          <a:xfrm>
            <a:off x="713232" y="5317785"/>
            <a:ext cx="10765231" cy="420624"/>
          </a:xfrm>
          <a:prstGeom prst="rect">
            <a:avLst/>
          </a:prstGeom>
          <a:solidFill>
            <a:srgbClr val="150F35"/>
          </a:solidFill>
          <a:ln/>
        </p:spPr>
      </p:sp>
      <p:sp>
        <p:nvSpPr>
          <p:cNvPr id="36" name="Text 34"/>
          <p:cNvSpPr/>
          <p:nvPr/>
        </p:nvSpPr>
        <p:spPr>
          <a:xfrm>
            <a:off x="841248" y="5317785"/>
            <a:ext cx="111556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high-risk</a:t>
            </a:r>
            <a:endParaRPr lang="en-US" sz="1150" dirty="0"/>
          </a:p>
        </p:txBody>
      </p:sp>
      <p:sp>
        <p:nvSpPr>
          <p:cNvPr id="37" name="Text 35"/>
          <p:cNvSpPr/>
          <p:nvPr/>
        </p:nvSpPr>
        <p:spPr>
          <a:xfrm>
            <a:off x="2212848" y="5317785"/>
            <a:ext cx="6693408" cy="420624"/>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Refused, said what it could not determine, routed to a human</a:t>
            </a:r>
            <a:endParaRPr lang="en-US" sz="1150" dirty="0"/>
          </a:p>
        </p:txBody>
      </p:sp>
      <p:sp>
        <p:nvSpPr>
          <p:cNvPr id="38" name="Text 36"/>
          <p:cNvSpPr/>
          <p:nvPr/>
        </p:nvSpPr>
        <p:spPr>
          <a:xfrm>
            <a:off x="9162288" y="5317785"/>
            <a:ext cx="2185416" cy="420624"/>
          </a:xfrm>
          <a:prstGeom prst="rect">
            <a:avLst/>
          </a:prstGeom>
          <a:noFill/>
          <a:ln/>
        </p:spPr>
        <p:txBody>
          <a:bodyPr wrap="square" rtlCol="0" anchor="ctr"/>
          <a:lstStyle/>
          <a:p>
            <a:pPr indent="0" marL="0">
              <a:lnSpc>
                <a:spcPts val="1400"/>
              </a:lnSpc>
              <a:buNone/>
            </a:pPr>
            <a:r>
              <a:rPr lang="en-US" sz="1150" dirty="0">
                <a:solidFill>
                  <a:srgbClr val="8FD3BA"/>
                </a:solidFill>
                <a:latin typeface="Trebuchet MS" pitchFamily="34" charset="0"/>
                <a:ea typeface="Trebuchet MS" pitchFamily="34" charset="-122"/>
                <a:cs typeface="Trebuchet MS" pitchFamily="34" charset="-120"/>
              </a:rPr>
              <a:t>ADMITTED</a:t>
            </a:r>
            <a:endParaRPr lang="en-US" sz="1150" dirty="0"/>
          </a:p>
        </p:txBody>
      </p:sp>
      <p:sp>
        <p:nvSpPr>
          <p:cNvPr id="39" name="Text 37"/>
          <p:cNvSpPr/>
          <p:nvPr/>
        </p:nvSpPr>
        <p:spPr>
          <a:xfrm>
            <a:off x="713232" y="5623560"/>
            <a:ext cx="10119317" cy="457200"/>
          </a:xfrm>
          <a:prstGeom prst="rect">
            <a:avLst/>
          </a:prstGeom>
          <a:noFill/>
          <a:ln/>
        </p:spPr>
        <p:txBody>
          <a:bodyPr wrap="square" rtlCol="0" anchor="ctr"/>
          <a:lstStyle/>
          <a:p>
            <a:pPr indent="0" marL="0">
              <a:lnSpc>
                <a:spcPts val="1900"/>
              </a:lnSpc>
              <a:buNone/>
            </a:pPr>
            <a:r>
              <a:rPr lang="en-US" sz="1300" i="1" dirty="0">
                <a:solidFill>
                  <a:srgbClr val="C7B3F0"/>
                </a:solidFill>
                <a:latin typeface="Trebuchet MS" pitchFamily="34" charset="0"/>
                <a:ea typeface="Trebuchet MS" pitchFamily="34" charset="-122"/>
                <a:cs typeface="Trebuchet MS" pitchFamily="34" charset="-120"/>
              </a:rPr>
              <a:t>Anyone can demonstrate a system working. What a regulator asks is what happens when it does not — and that question has to be answerable by watching rather than by assurance.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25</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THE ONE THAT MATTERS MOST</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A fair summary is still fatal.</a:t>
            </a:r>
            <a:endParaRPr lang="en-US" sz="3400" dirty="0"/>
          </a:p>
        </p:txBody>
      </p:sp>
      <p:sp>
        <p:nvSpPr>
          <p:cNvPr id="7" name="Shape 5"/>
          <p:cNvSpPr/>
          <p:nvPr/>
        </p:nvSpPr>
        <p:spPr>
          <a:xfrm>
            <a:off x="713232" y="1828800"/>
            <a:ext cx="10765231" cy="1051560"/>
          </a:xfrm>
          <a:prstGeom prst="roundRect">
            <a:avLst>
              <a:gd name="adj" fmla="val 5217"/>
            </a:avLst>
          </a:prstGeom>
          <a:solidFill>
            <a:srgbClr val="1A1338"/>
          </a:solidFill>
          <a:ln w="12700">
            <a:solidFill>
              <a:srgbClr val="332758"/>
            </a:solidFill>
            <a:prstDash val="solid"/>
          </a:ln>
        </p:spPr>
      </p:sp>
      <p:sp>
        <p:nvSpPr>
          <p:cNvPr id="8" name="Shape 6"/>
          <p:cNvSpPr/>
          <p:nvPr/>
        </p:nvSpPr>
        <p:spPr>
          <a:xfrm>
            <a:off x="713232" y="1828800"/>
            <a:ext cx="41148" cy="1051560"/>
          </a:xfrm>
          <a:prstGeom prst="rect">
            <a:avLst/>
          </a:prstGeom>
          <a:solidFill>
            <a:srgbClr val="C7B3F0"/>
          </a:solidFill>
          <a:ln/>
        </p:spPr>
      </p:sp>
      <p:sp>
        <p:nvSpPr>
          <p:cNvPr id="9" name="Text 7"/>
          <p:cNvSpPr/>
          <p:nvPr/>
        </p:nvSpPr>
        <p:spPr>
          <a:xfrm>
            <a:off x="1033272" y="1993392"/>
            <a:ext cx="3657600" cy="256032"/>
          </a:xfrm>
          <a:prstGeom prst="rect">
            <a:avLst/>
          </a:prstGeom>
          <a:noFill/>
          <a:ln/>
        </p:spPr>
        <p:txBody>
          <a:bodyPr wrap="square" rtlCol="0" anchor="ctr"/>
          <a:lstStyle/>
          <a:p>
            <a:pPr indent="0" marL="0">
              <a:buNone/>
            </a:pPr>
            <a:r>
              <a:rPr lang="en-US" sz="950" b="1" spc="200" kern="0" dirty="0">
                <a:solidFill>
                  <a:srgbClr val="C7B3F0"/>
                </a:solidFill>
                <a:latin typeface="Trebuchet MS" pitchFamily="34" charset="0"/>
                <a:ea typeface="Trebuchet MS" pitchFamily="34" charset="-122"/>
                <a:cs typeface="Trebuchet MS" pitchFamily="34" charset="-120"/>
              </a:rPr>
              <a:t>THE LEARNER SAID</a:t>
            </a:r>
            <a:endParaRPr lang="en-US" sz="950" dirty="0"/>
          </a:p>
        </p:txBody>
      </p:sp>
      <p:sp>
        <p:nvSpPr>
          <p:cNvPr id="10" name="Text 8"/>
          <p:cNvSpPr/>
          <p:nvPr/>
        </p:nvSpPr>
        <p:spPr>
          <a:xfrm>
            <a:off x="1033272" y="2286000"/>
            <a:ext cx="10125151" cy="457200"/>
          </a:xfrm>
          <a:prstGeom prst="rect">
            <a:avLst/>
          </a:prstGeom>
          <a:noFill/>
          <a:ln/>
        </p:spPr>
        <p:txBody>
          <a:bodyPr wrap="square" rtlCol="0" anchor="ctr"/>
          <a:lstStyle/>
          <a:p>
            <a:pPr indent="0" marL="0">
              <a:buNone/>
            </a:pPr>
            <a:r>
              <a:rPr lang="en-US" sz="1600" i="1" dirty="0">
                <a:solidFill>
                  <a:srgbClr val="F3EDFB"/>
                </a:solidFill>
                <a:latin typeface="Georgia" pitchFamily="34" charset="0"/>
                <a:ea typeface="Georgia" pitchFamily="34" charset="-122"/>
                <a:cs typeface="Georgia" pitchFamily="34" charset="-120"/>
              </a:rPr>
              <a:t>“Their website says they're regulated, and it looks professional, so I assumed that was fine.”</a:t>
            </a:r>
            <a:endParaRPr lang="en-US" sz="1600" dirty="0"/>
          </a:p>
        </p:txBody>
      </p:sp>
      <p:sp>
        <p:nvSpPr>
          <p:cNvPr id="11" name="Shape 9"/>
          <p:cNvSpPr/>
          <p:nvPr/>
        </p:nvSpPr>
        <p:spPr>
          <a:xfrm>
            <a:off x="713232" y="3063240"/>
            <a:ext cx="5221137" cy="1508760"/>
          </a:xfrm>
          <a:prstGeom prst="roundRect">
            <a:avLst>
              <a:gd name="adj" fmla="val 3636"/>
            </a:avLst>
          </a:prstGeom>
          <a:solidFill>
            <a:srgbClr val="1A1338"/>
          </a:solidFill>
          <a:ln w="12700">
            <a:solidFill>
              <a:srgbClr val="332758"/>
            </a:solidFill>
            <a:prstDash val="solid"/>
          </a:ln>
        </p:spPr>
      </p:sp>
      <p:sp>
        <p:nvSpPr>
          <p:cNvPr id="12" name="Shape 10"/>
          <p:cNvSpPr/>
          <p:nvPr/>
        </p:nvSpPr>
        <p:spPr>
          <a:xfrm>
            <a:off x="713232" y="3063240"/>
            <a:ext cx="41148" cy="1508760"/>
          </a:xfrm>
          <a:prstGeom prst="rect">
            <a:avLst/>
          </a:prstGeom>
          <a:solidFill>
            <a:srgbClr val="E88DA0"/>
          </a:solidFill>
          <a:ln/>
        </p:spPr>
      </p:sp>
      <p:sp>
        <p:nvSpPr>
          <p:cNvPr id="13" name="Text 11"/>
          <p:cNvSpPr/>
          <p:nvPr/>
        </p:nvSpPr>
        <p:spPr>
          <a:xfrm>
            <a:off x="1033272" y="3227832"/>
            <a:ext cx="3657600" cy="256032"/>
          </a:xfrm>
          <a:prstGeom prst="rect">
            <a:avLst/>
          </a:prstGeom>
          <a:noFill/>
          <a:ln/>
        </p:spPr>
        <p:txBody>
          <a:bodyPr wrap="square" rtlCol="0" anchor="ctr"/>
          <a:lstStyle/>
          <a:p>
            <a:pPr indent="0" marL="0">
              <a:buNone/>
            </a:pPr>
            <a:r>
              <a:rPr lang="en-US" sz="950" b="1" spc="200" kern="0" dirty="0">
                <a:solidFill>
                  <a:srgbClr val="E88DA0"/>
                </a:solidFill>
                <a:latin typeface="Trebuchet MS" pitchFamily="34" charset="0"/>
                <a:ea typeface="Trebuchet MS" pitchFamily="34" charset="-122"/>
                <a:cs typeface="Trebuchet MS" pitchFamily="34" charset="-120"/>
              </a:rPr>
              <a:t>THE MODEL RETURNED</a:t>
            </a:r>
            <a:endParaRPr lang="en-US" sz="950" dirty="0"/>
          </a:p>
        </p:txBody>
      </p:sp>
      <p:sp>
        <p:nvSpPr>
          <p:cNvPr id="14" name="Text 12"/>
          <p:cNvSpPr/>
          <p:nvPr/>
        </p:nvSpPr>
        <p:spPr>
          <a:xfrm>
            <a:off x="1033272" y="3520440"/>
            <a:ext cx="4581057" cy="548640"/>
          </a:xfrm>
          <a:prstGeom prst="rect">
            <a:avLst/>
          </a:prstGeom>
          <a:noFill/>
          <a:ln/>
        </p:spPr>
        <p:txBody>
          <a:bodyPr wrap="square" rtlCol="0" anchor="ctr"/>
          <a:lstStyle/>
          <a:p>
            <a:pPr indent="0" marL="0">
              <a:lnSpc>
                <a:spcPts val="1800"/>
              </a:lnSpc>
              <a:buNone/>
            </a:pPr>
            <a:r>
              <a:rPr lang="en-US" sz="1250" dirty="0">
                <a:solidFill>
                  <a:srgbClr val="F3EDFB"/>
                </a:solidFill>
                <a:latin typeface="Consolas" pitchFamily="34" charset="0"/>
                <a:ea typeface="Consolas" pitchFamily="34" charset="-122"/>
                <a:cs typeface="Consolas" pitchFamily="34" charset="-120"/>
              </a:rPr>
              <a:t>span: “the learner relied on the promoter's own website”</a:t>
            </a:r>
            <a:endParaRPr lang="en-US" sz="1250" dirty="0"/>
          </a:p>
        </p:txBody>
      </p:sp>
      <p:sp>
        <p:nvSpPr>
          <p:cNvPr id="15" name="Text 13"/>
          <p:cNvSpPr/>
          <p:nvPr/>
        </p:nvSpPr>
        <p:spPr>
          <a:xfrm>
            <a:off x="1033272" y="4160520"/>
            <a:ext cx="4581057" cy="274320"/>
          </a:xfrm>
          <a:prstGeom prst="rect">
            <a:avLst/>
          </a:prstGeom>
          <a:noFill/>
          <a:ln/>
        </p:spPr>
        <p:txBody>
          <a:bodyPr wrap="square" rtlCol="0" anchor="ctr"/>
          <a:lstStyle/>
          <a:p>
            <a:pPr indent="0" marL="0">
              <a:buNone/>
            </a:pPr>
            <a:r>
              <a:rPr lang="en-US" sz="1200" i="1" dirty="0">
                <a:solidFill>
                  <a:srgbClr val="A394C8"/>
                </a:solidFill>
                <a:latin typeface="Trebuchet MS" pitchFamily="34" charset="0"/>
                <a:ea typeface="Trebuchet MS" pitchFamily="34" charset="-122"/>
                <a:cs typeface="Trebuchet MS" pitchFamily="34" charset="-120"/>
              </a:rPr>
              <a:t>Accurate. Well written. Not in the transcript.</a:t>
            </a:r>
            <a:endParaRPr lang="en-US" sz="1200" dirty="0"/>
          </a:p>
        </p:txBody>
      </p:sp>
      <p:sp>
        <p:nvSpPr>
          <p:cNvPr id="16" name="Shape 14"/>
          <p:cNvSpPr/>
          <p:nvPr/>
        </p:nvSpPr>
        <p:spPr>
          <a:xfrm>
            <a:off x="6257326" y="3063240"/>
            <a:ext cx="5221137" cy="1508760"/>
          </a:xfrm>
          <a:prstGeom prst="roundRect">
            <a:avLst>
              <a:gd name="adj" fmla="val 3636"/>
            </a:avLst>
          </a:prstGeom>
          <a:solidFill>
            <a:srgbClr val="1A1338"/>
          </a:solidFill>
          <a:ln w="12700">
            <a:solidFill>
              <a:srgbClr val="332758"/>
            </a:solidFill>
            <a:prstDash val="solid"/>
          </a:ln>
        </p:spPr>
      </p:sp>
      <p:sp>
        <p:nvSpPr>
          <p:cNvPr id="17" name="Shape 15"/>
          <p:cNvSpPr/>
          <p:nvPr/>
        </p:nvSpPr>
        <p:spPr>
          <a:xfrm>
            <a:off x="6257326" y="3063240"/>
            <a:ext cx="41148" cy="1508760"/>
          </a:xfrm>
          <a:prstGeom prst="rect">
            <a:avLst/>
          </a:prstGeom>
          <a:solidFill>
            <a:srgbClr val="8FD3BA"/>
          </a:solidFill>
          <a:ln/>
        </p:spPr>
      </p:sp>
      <p:sp>
        <p:nvSpPr>
          <p:cNvPr id="18" name="Text 16"/>
          <p:cNvSpPr/>
          <p:nvPr/>
        </p:nvSpPr>
        <p:spPr>
          <a:xfrm>
            <a:off x="6577366" y="3227832"/>
            <a:ext cx="3657600" cy="256032"/>
          </a:xfrm>
          <a:prstGeom prst="rect">
            <a:avLst/>
          </a:prstGeom>
          <a:noFill/>
          <a:ln/>
        </p:spPr>
        <p:txBody>
          <a:bodyPr wrap="square" rtlCol="0" anchor="ctr"/>
          <a:lstStyle/>
          <a:p>
            <a:pPr indent="0" marL="0">
              <a:buNone/>
            </a:pPr>
            <a:r>
              <a:rPr lang="en-US" sz="950" b="1" spc="200" kern="0" dirty="0">
                <a:solidFill>
                  <a:srgbClr val="8FD3BA"/>
                </a:solidFill>
                <a:latin typeface="Trebuchet MS" pitchFamily="34" charset="0"/>
                <a:ea typeface="Trebuchet MS" pitchFamily="34" charset="-122"/>
                <a:cs typeface="Trebuchet MS" pitchFamily="34" charset="-120"/>
              </a:rPr>
              <a:t>THE CONTRACT SAID</a:t>
            </a:r>
            <a:endParaRPr lang="en-US" sz="950" dirty="0"/>
          </a:p>
        </p:txBody>
      </p:sp>
      <p:sp>
        <p:nvSpPr>
          <p:cNvPr id="19" name="Text 17"/>
          <p:cNvSpPr/>
          <p:nvPr/>
        </p:nvSpPr>
        <p:spPr>
          <a:xfrm>
            <a:off x="6577366" y="3520440"/>
            <a:ext cx="4581057" cy="274320"/>
          </a:xfrm>
          <a:prstGeom prst="rect">
            <a:avLst/>
          </a:prstGeom>
          <a:noFill/>
          <a:ln/>
        </p:spPr>
        <p:txBody>
          <a:bodyPr wrap="square" rtlCol="0" anchor="ctr"/>
          <a:lstStyle/>
          <a:p>
            <a:pPr indent="0" marL="0">
              <a:buNone/>
            </a:pPr>
            <a:r>
              <a:rPr lang="en-US" sz="1250" dirty="0">
                <a:solidFill>
                  <a:srgbClr val="F3EDFB"/>
                </a:solidFill>
                <a:latin typeface="Consolas" pitchFamily="34" charset="0"/>
                <a:ea typeface="Consolas" pitchFamily="34" charset="-122"/>
                <a:cs typeface="Consolas" pitchFamily="34" charset="-120"/>
              </a:rPr>
              <a:t>span_fidelity · blocking</a:t>
            </a:r>
            <a:endParaRPr lang="en-US" sz="1250" dirty="0"/>
          </a:p>
        </p:txBody>
      </p:sp>
      <p:sp>
        <p:nvSpPr>
          <p:cNvPr id="20" name="Text 18"/>
          <p:cNvSpPr/>
          <p:nvPr/>
        </p:nvSpPr>
        <p:spPr>
          <a:xfrm>
            <a:off x="6577366" y="3822192"/>
            <a:ext cx="4581057" cy="640080"/>
          </a:xfrm>
          <a:prstGeom prst="rect">
            <a:avLst/>
          </a:prstGeom>
          <a:noFill/>
          <a:ln/>
        </p:spPr>
        <p:txBody>
          <a:bodyPr wrap="square" rtlCol="0" anchor="ctr"/>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Either it was paraphrased — which assessment refuses — or it was invented. Both end the finding.</a:t>
            </a:r>
            <a:endParaRPr lang="en-US" sz="1200" dirty="0"/>
          </a:p>
        </p:txBody>
      </p:sp>
      <p:sp>
        <p:nvSpPr>
          <p:cNvPr id="21" name="Text 19"/>
          <p:cNvSpPr/>
          <p:nvPr/>
        </p:nvSpPr>
        <p:spPr>
          <a:xfrm>
            <a:off x="713232" y="4892040"/>
            <a:ext cx="10119317" cy="731520"/>
          </a:xfrm>
          <a:prstGeom prst="rect">
            <a:avLst/>
          </a:prstGeom>
          <a:noFill/>
          <a:ln/>
        </p:spPr>
        <p:txBody>
          <a:bodyPr wrap="square" rtlCol="0" anchor="ctr"/>
          <a:lstStyle/>
          <a:p>
            <a:pPr indent="0" marL="0">
              <a:lnSpc>
                <a:spcPts val="2100"/>
              </a:lnSpc>
              <a:buNone/>
            </a:pPr>
            <a:r>
              <a:rPr lang="en-US" sz="1400" dirty="0">
                <a:solidFill>
                  <a:srgbClr val="F3EDFB"/>
                </a:solidFill>
                <a:latin typeface="Trebuchet MS" pitchFamily="34" charset="0"/>
                <a:ea typeface="Trebuchet MS" pitchFamily="34" charset="-122"/>
                <a:cs typeface="Trebuchet MS" pitchFamily="34" charset="-120"/>
              </a:rPr>
              <a:t>The determination would have been correct. It would also have been bound to the model's restatement rather than to the person — and a year later, in front of an ombudsman, that is the difference between evidence and an opinion with an object identifier attached.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33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EBA98C"/>
          </a:solidFill>
          <a:ln/>
        </p:spPr>
      </p:sp>
      <p:sp>
        <p:nvSpPr>
          <p:cNvPr id="3" name="Text 1"/>
          <p:cNvSpPr/>
          <p:nvPr/>
        </p:nvSpPr>
        <p:spPr>
          <a:xfrm>
            <a:off x="1005840" y="2286000"/>
            <a:ext cx="9144000" cy="320040"/>
          </a:xfrm>
          <a:prstGeom prst="rect">
            <a:avLst/>
          </a:prstGeom>
          <a:noFill/>
          <a:ln/>
        </p:spPr>
        <p:txBody>
          <a:bodyPr wrap="square" rtlCol="0" anchor="ctr"/>
          <a:lstStyle/>
          <a:p>
            <a:pPr indent="0" marL="0">
              <a:buNone/>
            </a:pPr>
            <a:r>
              <a:rPr lang="en-US" sz="1200" b="1" spc="400" kern="0" dirty="0">
                <a:solidFill>
                  <a:srgbClr val="EBA98C"/>
                </a:solidFill>
                <a:latin typeface="Trebuchet MS" pitchFamily="34" charset="0"/>
                <a:ea typeface="Trebuchet MS" pitchFamily="34" charset="-122"/>
                <a:cs typeface="Trebuchet MS" pitchFamily="34" charset="-120"/>
              </a:rPr>
              <a:t>SECTION SEVEN</a:t>
            </a:r>
            <a:endParaRPr lang="en-US" sz="1200" dirty="0"/>
          </a:p>
        </p:txBody>
      </p:sp>
      <p:sp>
        <p:nvSpPr>
          <p:cNvPr id="4" name="Text 2"/>
          <p:cNvSpPr/>
          <p:nvPr/>
        </p:nvSpPr>
        <p:spPr>
          <a:xfrm>
            <a:off x="1005840" y="2651760"/>
            <a:ext cx="9692640" cy="1005840"/>
          </a:xfrm>
          <a:prstGeom prst="rect">
            <a:avLst/>
          </a:prstGeom>
          <a:noFill/>
          <a:ln/>
        </p:spPr>
        <p:txBody>
          <a:bodyPr wrap="square" rtlCol="0" anchor="ctr"/>
          <a:lstStyle/>
          <a:p>
            <a:pPr indent="0" marL="0">
              <a:buNone/>
            </a:pPr>
            <a:r>
              <a:rPr lang="en-US" sz="4000" b="1" dirty="0">
                <a:solidFill>
                  <a:srgbClr val="F3EDFB"/>
                </a:solidFill>
                <a:latin typeface="Trebuchet MS" pitchFamily="34" charset="0"/>
                <a:ea typeface="Trebuchet MS" pitchFamily="34" charset="-122"/>
                <a:cs typeface="Trebuchet MS" pitchFamily="34" charset="-120"/>
              </a:rPr>
              <a:t>Looking to the future</a:t>
            </a:r>
            <a:endParaRPr lang="en-US" sz="4000" dirty="0"/>
          </a:p>
        </p:txBody>
      </p:sp>
      <p:sp>
        <p:nvSpPr>
          <p:cNvPr id="5" name="Text 3"/>
          <p:cNvSpPr/>
          <p:nvPr/>
        </p:nvSpPr>
        <p:spPr>
          <a:xfrm>
            <a:off x="1005840" y="3703320"/>
            <a:ext cx="8778240" cy="822960"/>
          </a:xfrm>
          <a:prstGeom prst="rect">
            <a:avLst/>
          </a:prstGeom>
          <a:noFill/>
          <a:ln/>
        </p:spPr>
        <p:txBody>
          <a:bodyPr wrap="square" rtlCol="0" anchor="ctr"/>
          <a:lstStyle/>
          <a:p>
            <a:pPr indent="0" marL="0">
              <a:lnSpc>
                <a:spcPts val="2200"/>
              </a:lnSpc>
              <a:buNone/>
            </a:pPr>
            <a:r>
              <a:rPr lang="en-US" sz="1500" dirty="0">
                <a:solidFill>
                  <a:srgbClr val="A394C8"/>
                </a:solidFill>
                <a:latin typeface="Trebuchet MS" pitchFamily="34" charset="0"/>
                <a:ea typeface="Trebuchet MS" pitchFamily="34" charset="-122"/>
                <a:cs typeface="Trebuchet MS" pitchFamily="34" charset="-120"/>
              </a:rPr>
              <a:t>What it is worth, what compounds, and what we need from the room.</a:t>
            </a:r>
            <a:endParaRPr lang="en-US" sz="1500" dirty="0"/>
          </a:p>
        </p:txBody>
      </p:sp>
      <p:sp>
        <p:nvSpPr>
          <p:cNvPr id="6" name="Text 4"/>
          <p:cNvSpPr/>
          <p:nvPr/>
        </p:nvSpPr>
        <p:spPr>
          <a:xfrm>
            <a:off x="11094415" y="6199632"/>
            <a:ext cx="548640" cy="274320"/>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27</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THE ECONOMICS</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We model the addressable pool, not the headline.</a:t>
            </a:r>
            <a:endParaRPr lang="en-US" sz="3400" dirty="0"/>
          </a:p>
        </p:txBody>
      </p:sp>
      <p:sp>
        <p:nvSpPr>
          <p:cNvPr id="7" name="Text 5"/>
          <p:cNvSpPr/>
          <p:nvPr/>
        </p:nvSpPr>
        <p:spPr>
          <a:xfrm>
            <a:off x="713232" y="1828800"/>
            <a:ext cx="9688708" cy="548640"/>
          </a:xfrm>
          <a:prstGeom prst="rect">
            <a:avLst/>
          </a:prstGeom>
          <a:noFill/>
          <a:ln/>
        </p:spPr>
        <p:txBody>
          <a:bodyPr wrap="square" rtlCol="0" anchor="ctr"/>
          <a:lstStyle/>
          <a:p>
            <a:pPr indent="0" marL="0">
              <a:lnSpc>
                <a:spcPts val="2000"/>
              </a:lnSpc>
              <a:buNone/>
            </a:pPr>
            <a:r>
              <a:rPr lang="en-US" sz="1350" dirty="0">
                <a:solidFill>
                  <a:srgbClr val="C7B3F0"/>
                </a:solidFill>
                <a:latin typeface="Trebuchet MS" pitchFamily="34" charset="0"/>
                <a:ea typeface="Trebuchet MS" pitchFamily="34" charset="-122"/>
                <a:cs typeface="Trebuchet MS" pitchFamily="34" charset="-120"/>
              </a:rPr>
              <a:t>Malaysia is the proof market: the only one in our set with a published loss aggregate, PDRM typologies, SC content validation and banks able to supply payment data. A proof needs a denominator.</a:t>
            </a:r>
            <a:endParaRPr lang="en-US" sz="1350" dirty="0"/>
          </a:p>
        </p:txBody>
      </p:sp>
      <p:sp>
        <p:nvSpPr>
          <p:cNvPr id="8" name="Shape 6"/>
          <p:cNvSpPr/>
          <p:nvPr/>
        </p:nvSpPr>
        <p:spPr>
          <a:xfrm>
            <a:off x="713232" y="2514600"/>
            <a:ext cx="10765231" cy="377464"/>
          </a:xfrm>
          <a:prstGeom prst="rect">
            <a:avLst/>
          </a:prstGeom>
          <a:solidFill>
            <a:srgbClr val="241B52"/>
          </a:solidFill>
          <a:ln/>
        </p:spPr>
      </p:sp>
      <p:sp>
        <p:nvSpPr>
          <p:cNvPr id="9" name="Text 7"/>
          <p:cNvSpPr/>
          <p:nvPr/>
        </p:nvSpPr>
        <p:spPr>
          <a:xfrm>
            <a:off x="841248" y="2514600"/>
            <a:ext cx="3950208" cy="377464"/>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Scenario</a:t>
            </a:r>
            <a:endParaRPr lang="en-US" sz="950" dirty="0"/>
          </a:p>
        </p:txBody>
      </p:sp>
      <p:sp>
        <p:nvSpPr>
          <p:cNvPr id="10" name="Text 8"/>
          <p:cNvSpPr/>
          <p:nvPr/>
        </p:nvSpPr>
        <p:spPr>
          <a:xfrm>
            <a:off x="5047488" y="2514600"/>
            <a:ext cx="2852928" cy="377464"/>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Modelled</a:t>
            </a:r>
            <a:endParaRPr lang="en-US" sz="950" dirty="0"/>
          </a:p>
        </p:txBody>
      </p:sp>
      <p:sp>
        <p:nvSpPr>
          <p:cNvPr id="11" name="Text 9"/>
          <p:cNvSpPr/>
          <p:nvPr/>
        </p:nvSpPr>
        <p:spPr>
          <a:xfrm>
            <a:off x="8156448" y="2514600"/>
            <a:ext cx="3191256" cy="377464"/>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Range</a:t>
            </a:r>
            <a:endParaRPr lang="en-US" sz="950" dirty="0"/>
          </a:p>
        </p:txBody>
      </p:sp>
      <p:sp>
        <p:nvSpPr>
          <p:cNvPr id="12" name="Text 10"/>
          <p:cNvSpPr/>
          <p:nvPr/>
        </p:nvSpPr>
        <p:spPr>
          <a:xfrm>
            <a:off x="841248" y="2892064"/>
            <a:ext cx="3950208" cy="43891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Conservative pilot</a:t>
            </a:r>
            <a:endParaRPr lang="en-US" sz="1150" dirty="0"/>
          </a:p>
        </p:txBody>
      </p:sp>
      <p:sp>
        <p:nvSpPr>
          <p:cNvPr id="13" name="Text 11"/>
          <p:cNvSpPr/>
          <p:nvPr/>
        </p:nvSpPr>
        <p:spPr>
          <a:xfrm>
            <a:off x="5047488" y="2892064"/>
            <a:ext cx="2852928" cy="438912"/>
          </a:xfrm>
          <a:prstGeom prst="rect">
            <a:avLst/>
          </a:prstGeom>
          <a:noFill/>
          <a:ln/>
        </p:spPr>
        <p:txBody>
          <a:bodyPr wrap="square" rtlCol="0" anchor="ctr"/>
          <a:lstStyle/>
          <a:p>
            <a:pPr indent="0" marL="0">
              <a:lnSpc>
                <a:spcPts val="1400"/>
              </a:lnSpc>
              <a:buNone/>
            </a:pPr>
            <a:r>
              <a:rPr lang="en-US" sz="1150" dirty="0">
                <a:solidFill>
                  <a:srgbClr val="F3EDFB"/>
                </a:solidFill>
                <a:latin typeface="Consolas" pitchFamily="34" charset="0"/>
                <a:ea typeface="Consolas" pitchFamily="34" charset="-122"/>
                <a:cs typeface="Consolas" pitchFamily="34" charset="-120"/>
              </a:rPr>
              <a:t>RM840k</a:t>
            </a:r>
            <a:endParaRPr lang="en-US" sz="1150" dirty="0"/>
          </a:p>
        </p:txBody>
      </p:sp>
      <p:sp>
        <p:nvSpPr>
          <p:cNvPr id="14" name="Text 12"/>
          <p:cNvSpPr/>
          <p:nvPr/>
        </p:nvSpPr>
        <p:spPr>
          <a:xfrm>
            <a:off x="8156448" y="2892064"/>
            <a:ext cx="3191256" cy="438912"/>
          </a:xfrm>
          <a:prstGeom prst="rect">
            <a:avLst/>
          </a:prstGeom>
          <a:noFill/>
          <a:ln/>
        </p:spPr>
        <p:txBody>
          <a:bodyPr wrap="square" rtlCol="0" anchor="ctr"/>
          <a:lstStyle/>
          <a:p>
            <a:pPr indent="0" marL="0">
              <a:lnSpc>
                <a:spcPts val="1400"/>
              </a:lnSpc>
              <a:buNone/>
            </a:pPr>
            <a:r>
              <a:rPr lang="en-US" sz="1150" dirty="0">
                <a:solidFill>
                  <a:srgbClr val="A394C8"/>
                </a:solidFill>
                <a:latin typeface="Consolas" pitchFamily="34" charset="0"/>
                <a:ea typeface="Consolas" pitchFamily="34" charset="-122"/>
                <a:cs typeface="Consolas" pitchFamily="34" charset="-120"/>
              </a:rPr>
              <a:t>RM202k – RM2.4m</a:t>
            </a:r>
            <a:endParaRPr lang="en-US" sz="1150" dirty="0"/>
          </a:p>
        </p:txBody>
      </p:sp>
      <p:sp>
        <p:nvSpPr>
          <p:cNvPr id="15" name="Shape 13"/>
          <p:cNvSpPr/>
          <p:nvPr/>
        </p:nvSpPr>
        <p:spPr>
          <a:xfrm>
            <a:off x="713232" y="3330976"/>
            <a:ext cx="10765231" cy="438912"/>
          </a:xfrm>
          <a:prstGeom prst="rect">
            <a:avLst/>
          </a:prstGeom>
          <a:solidFill>
            <a:srgbClr val="150F35"/>
          </a:solidFill>
          <a:ln/>
        </p:spPr>
      </p:sp>
      <p:sp>
        <p:nvSpPr>
          <p:cNvPr id="16" name="Text 14"/>
          <p:cNvSpPr/>
          <p:nvPr/>
        </p:nvSpPr>
        <p:spPr>
          <a:xfrm>
            <a:off x="841248" y="3330976"/>
            <a:ext cx="3950208" cy="43891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National institutional rollout</a:t>
            </a:r>
            <a:endParaRPr lang="en-US" sz="1150" dirty="0"/>
          </a:p>
        </p:txBody>
      </p:sp>
      <p:sp>
        <p:nvSpPr>
          <p:cNvPr id="17" name="Text 15"/>
          <p:cNvSpPr/>
          <p:nvPr/>
        </p:nvSpPr>
        <p:spPr>
          <a:xfrm>
            <a:off x="5047488" y="3330976"/>
            <a:ext cx="2852928" cy="438912"/>
          </a:xfrm>
          <a:prstGeom prst="rect">
            <a:avLst/>
          </a:prstGeom>
          <a:noFill/>
          <a:ln/>
        </p:spPr>
        <p:txBody>
          <a:bodyPr wrap="square" rtlCol="0" anchor="ctr"/>
          <a:lstStyle/>
          <a:p>
            <a:pPr indent="0" marL="0">
              <a:lnSpc>
                <a:spcPts val="1400"/>
              </a:lnSpc>
              <a:buNone/>
            </a:pPr>
            <a:r>
              <a:rPr lang="en-US" sz="1150" dirty="0">
                <a:solidFill>
                  <a:srgbClr val="F3EDFB"/>
                </a:solidFill>
                <a:latin typeface="Consolas" pitchFamily="34" charset="0"/>
                <a:ea typeface="Consolas" pitchFamily="34" charset="-122"/>
                <a:cs typeface="Consolas" pitchFamily="34" charset="-120"/>
              </a:rPr>
              <a:t>RM11.2m</a:t>
            </a:r>
            <a:endParaRPr lang="en-US" sz="1150" dirty="0"/>
          </a:p>
        </p:txBody>
      </p:sp>
      <p:sp>
        <p:nvSpPr>
          <p:cNvPr id="18" name="Text 16"/>
          <p:cNvSpPr/>
          <p:nvPr/>
        </p:nvSpPr>
        <p:spPr>
          <a:xfrm>
            <a:off x="8156448" y="3330976"/>
            <a:ext cx="3191256" cy="438912"/>
          </a:xfrm>
          <a:prstGeom prst="rect">
            <a:avLst/>
          </a:prstGeom>
          <a:noFill/>
          <a:ln/>
        </p:spPr>
        <p:txBody>
          <a:bodyPr wrap="square" rtlCol="0" anchor="ctr"/>
          <a:lstStyle/>
          <a:p>
            <a:pPr indent="0" marL="0">
              <a:lnSpc>
                <a:spcPts val="1400"/>
              </a:lnSpc>
              <a:buNone/>
            </a:pPr>
            <a:r>
              <a:rPr lang="en-US" sz="1150" dirty="0">
                <a:solidFill>
                  <a:srgbClr val="A394C8"/>
                </a:solidFill>
                <a:latin typeface="Consolas" pitchFamily="34" charset="0"/>
                <a:ea typeface="Consolas" pitchFamily="34" charset="-122"/>
                <a:cs typeface="Consolas" pitchFamily="34" charset="-120"/>
              </a:rPr>
              <a:t>RM2.7m – RM32.0m</a:t>
            </a:r>
            <a:endParaRPr lang="en-US" sz="1150" dirty="0"/>
          </a:p>
        </p:txBody>
      </p:sp>
      <p:sp>
        <p:nvSpPr>
          <p:cNvPr id="19" name="Text 17"/>
          <p:cNvSpPr/>
          <p:nvPr/>
        </p:nvSpPr>
        <p:spPr>
          <a:xfrm>
            <a:off x="841248" y="3769888"/>
            <a:ext cx="3950208" cy="438912"/>
          </a:xfrm>
          <a:prstGeom prst="rect">
            <a:avLst/>
          </a:prstGeom>
          <a:noFill/>
          <a:ln/>
        </p:spPr>
        <p:txBody>
          <a:bodyPr wrap="square" rtlCol="0" anchor="ctr"/>
          <a:lstStyle/>
          <a:p>
            <a:pPr indent="0" marL="0">
              <a:lnSpc>
                <a:spcPts val="1400"/>
              </a:lnSpc>
              <a:buNone/>
            </a:pPr>
            <a:r>
              <a:rPr lang="en-US" sz="1150" dirty="0">
                <a:solidFill>
                  <a:srgbClr val="F3EDFB"/>
                </a:solidFill>
                <a:latin typeface="Trebuchet MS" pitchFamily="34" charset="0"/>
                <a:ea typeface="Trebuchet MS" pitchFamily="34" charset="-122"/>
                <a:cs typeface="Trebuchet MS" pitchFamily="34" charset="-120"/>
              </a:rPr>
              <a:t>Scaled national programme</a:t>
            </a:r>
            <a:endParaRPr lang="en-US" sz="1150" dirty="0"/>
          </a:p>
        </p:txBody>
      </p:sp>
      <p:sp>
        <p:nvSpPr>
          <p:cNvPr id="20" name="Text 18"/>
          <p:cNvSpPr/>
          <p:nvPr/>
        </p:nvSpPr>
        <p:spPr>
          <a:xfrm>
            <a:off x="5047488" y="3769888"/>
            <a:ext cx="2852928" cy="438912"/>
          </a:xfrm>
          <a:prstGeom prst="rect">
            <a:avLst/>
          </a:prstGeom>
          <a:noFill/>
          <a:ln/>
        </p:spPr>
        <p:txBody>
          <a:bodyPr wrap="square" rtlCol="0" anchor="ctr"/>
          <a:lstStyle/>
          <a:p>
            <a:pPr indent="0" marL="0">
              <a:lnSpc>
                <a:spcPts val="1400"/>
              </a:lnSpc>
              <a:buNone/>
            </a:pPr>
            <a:r>
              <a:rPr lang="en-US" sz="1150" dirty="0">
                <a:solidFill>
                  <a:srgbClr val="F3EDFB"/>
                </a:solidFill>
                <a:latin typeface="Consolas" pitchFamily="34" charset="0"/>
                <a:ea typeface="Consolas" pitchFamily="34" charset="-122"/>
                <a:cs typeface="Consolas" pitchFamily="34" charset="-120"/>
              </a:rPr>
              <a:t>RM94.5m</a:t>
            </a:r>
            <a:endParaRPr lang="en-US" sz="1150" dirty="0"/>
          </a:p>
        </p:txBody>
      </p:sp>
      <p:sp>
        <p:nvSpPr>
          <p:cNvPr id="21" name="Text 19"/>
          <p:cNvSpPr/>
          <p:nvPr/>
        </p:nvSpPr>
        <p:spPr>
          <a:xfrm>
            <a:off x="8156448" y="3769888"/>
            <a:ext cx="3191256" cy="438912"/>
          </a:xfrm>
          <a:prstGeom prst="rect">
            <a:avLst/>
          </a:prstGeom>
          <a:noFill/>
          <a:ln/>
        </p:spPr>
        <p:txBody>
          <a:bodyPr wrap="square" rtlCol="0" anchor="ctr"/>
          <a:lstStyle/>
          <a:p>
            <a:pPr indent="0" marL="0">
              <a:lnSpc>
                <a:spcPts val="1400"/>
              </a:lnSpc>
              <a:buNone/>
            </a:pPr>
            <a:r>
              <a:rPr lang="en-US" sz="1150" dirty="0">
                <a:solidFill>
                  <a:srgbClr val="A394C8"/>
                </a:solidFill>
                <a:latin typeface="Consolas" pitchFamily="34" charset="0"/>
                <a:ea typeface="Consolas" pitchFamily="34" charset="-122"/>
                <a:cs typeface="Consolas" pitchFamily="34" charset="-120"/>
              </a:rPr>
              <a:t>RM22.7m – RM269.9m</a:t>
            </a:r>
            <a:endParaRPr lang="en-US" sz="1150" dirty="0"/>
          </a:p>
        </p:txBody>
      </p:sp>
      <p:sp>
        <p:nvSpPr>
          <p:cNvPr id="22" name="Shape 20"/>
          <p:cNvSpPr/>
          <p:nvPr/>
        </p:nvSpPr>
        <p:spPr>
          <a:xfrm>
            <a:off x="713232" y="4208800"/>
            <a:ext cx="10765231" cy="438912"/>
          </a:xfrm>
          <a:prstGeom prst="rect">
            <a:avLst/>
          </a:prstGeom>
          <a:solidFill>
            <a:srgbClr val="150F35"/>
          </a:solidFill>
          <a:ln/>
        </p:spPr>
      </p:sp>
      <p:sp>
        <p:nvSpPr>
          <p:cNvPr id="23" name="Text 21"/>
          <p:cNvSpPr/>
          <p:nvPr/>
        </p:nvSpPr>
        <p:spPr>
          <a:xfrm>
            <a:off x="841248" y="4208800"/>
            <a:ext cx="3950208" cy="438912"/>
          </a:xfrm>
          <a:prstGeom prst="rect">
            <a:avLst/>
          </a:prstGeom>
          <a:noFill/>
          <a:ln/>
        </p:spPr>
        <p:txBody>
          <a:bodyPr wrap="square" rtlCol="0" anchor="ctr"/>
          <a:lstStyle/>
          <a:p>
            <a:pPr indent="0" marL="0">
              <a:lnSpc>
                <a:spcPts val="1400"/>
              </a:lnSpc>
              <a:buNone/>
            </a:pPr>
            <a:r>
              <a:rPr lang="en-US" sz="1150" dirty="0">
                <a:solidFill>
                  <a:srgbClr val="7A6AA8"/>
                </a:solidFill>
                <a:latin typeface="Trebuchet MS" pitchFamily="34" charset="0"/>
                <a:ea typeface="Trebuchet MS" pitchFamily="34" charset="-122"/>
                <a:cs typeface="Trebuchet MS" pitchFamily="34" charset="-120"/>
              </a:rPr>
              <a:t>The headline we are not using</a:t>
            </a:r>
            <a:endParaRPr lang="en-US" sz="1150" dirty="0"/>
          </a:p>
        </p:txBody>
      </p:sp>
      <p:sp>
        <p:nvSpPr>
          <p:cNvPr id="24" name="Text 22"/>
          <p:cNvSpPr/>
          <p:nvPr/>
        </p:nvSpPr>
        <p:spPr>
          <a:xfrm>
            <a:off x="5047488" y="4208800"/>
            <a:ext cx="2852928" cy="438912"/>
          </a:xfrm>
          <a:prstGeom prst="rect">
            <a:avLst/>
          </a:prstGeom>
          <a:noFill/>
          <a:ln/>
        </p:spPr>
        <p:txBody>
          <a:bodyPr wrap="square" rtlCol="0" anchor="ctr"/>
          <a:lstStyle/>
          <a:p>
            <a:pPr indent="0" marL="0">
              <a:lnSpc>
                <a:spcPts val="1400"/>
              </a:lnSpc>
              <a:buNone/>
            </a:pPr>
            <a:r>
              <a:rPr lang="en-US" sz="1150" dirty="0">
                <a:solidFill>
                  <a:srgbClr val="7A6AA8"/>
                </a:solidFill>
                <a:latin typeface="Consolas" pitchFamily="34" charset="0"/>
                <a:ea typeface="Consolas" pitchFamily="34" charset="-122"/>
                <a:cs typeface="Consolas" pitchFamily="34" charset="-120"/>
              </a:rPr>
              <a:t>RM28.0m</a:t>
            </a:r>
            <a:endParaRPr lang="en-US" sz="1150" dirty="0"/>
          </a:p>
        </p:txBody>
      </p:sp>
      <p:sp>
        <p:nvSpPr>
          <p:cNvPr id="25" name="Text 23"/>
          <p:cNvSpPr/>
          <p:nvPr/>
        </p:nvSpPr>
        <p:spPr>
          <a:xfrm>
            <a:off x="8156448" y="4208800"/>
            <a:ext cx="3191256" cy="438912"/>
          </a:xfrm>
          <a:prstGeom prst="rect">
            <a:avLst/>
          </a:prstGeom>
          <a:noFill/>
          <a:ln/>
        </p:spPr>
        <p:txBody>
          <a:bodyPr wrap="square" rtlCol="0" anchor="ctr"/>
          <a:lstStyle/>
          <a:p>
            <a:pPr indent="0" marL="0">
              <a:lnSpc>
                <a:spcPts val="1400"/>
              </a:lnSpc>
              <a:buNone/>
            </a:pPr>
            <a:r>
              <a:rPr lang="en-US" sz="1150" dirty="0">
                <a:solidFill>
                  <a:srgbClr val="7A6AA8"/>
                </a:solidFill>
                <a:latin typeface="Trebuchet MS" pitchFamily="34" charset="0"/>
                <a:ea typeface="Trebuchet MS" pitchFamily="34" charset="-122"/>
                <a:cs typeface="Trebuchet MS" pitchFamily="34" charset="-120"/>
              </a:rPr>
              <a:t>1% of the national total</a:t>
            </a:r>
            <a:endParaRPr lang="en-US" sz="1150" dirty="0"/>
          </a:p>
        </p:txBody>
      </p:sp>
      <p:sp>
        <p:nvSpPr>
          <p:cNvPr id="26" name="Shape 24"/>
          <p:cNvSpPr/>
          <p:nvPr/>
        </p:nvSpPr>
        <p:spPr>
          <a:xfrm>
            <a:off x="713232" y="4754880"/>
            <a:ext cx="10765231" cy="1005840"/>
          </a:xfrm>
          <a:prstGeom prst="roundRect">
            <a:avLst>
              <a:gd name="adj" fmla="val 5455"/>
            </a:avLst>
          </a:prstGeom>
          <a:solidFill>
            <a:srgbClr val="1A1338"/>
          </a:solidFill>
          <a:ln w="12700">
            <a:solidFill>
              <a:srgbClr val="332758"/>
            </a:solidFill>
            <a:prstDash val="solid"/>
          </a:ln>
        </p:spPr>
      </p:sp>
      <p:sp>
        <p:nvSpPr>
          <p:cNvPr id="27" name="Shape 25"/>
          <p:cNvSpPr/>
          <p:nvPr/>
        </p:nvSpPr>
        <p:spPr>
          <a:xfrm>
            <a:off x="713232" y="4754880"/>
            <a:ext cx="41148" cy="1005840"/>
          </a:xfrm>
          <a:prstGeom prst="rect">
            <a:avLst/>
          </a:prstGeom>
          <a:solidFill>
            <a:srgbClr val="EBA98C"/>
          </a:solidFill>
          <a:ln/>
        </p:spPr>
      </p:sp>
      <p:sp>
        <p:nvSpPr>
          <p:cNvPr id="28" name="Text 26"/>
          <p:cNvSpPr/>
          <p:nvPr/>
        </p:nvSpPr>
        <p:spPr>
          <a:xfrm>
            <a:off x="1078992" y="4919472"/>
            <a:ext cx="10033711" cy="731520"/>
          </a:xfrm>
          <a:prstGeom prst="rect">
            <a:avLst/>
          </a:prstGeom>
          <a:noFill/>
          <a:ln/>
        </p:spPr>
        <p:txBody>
          <a:bodyPr wrap="square" rtlCol="0" anchor="ctr"/>
          <a:lstStyle/>
          <a:p>
            <a:pPr indent="0" marL="0">
              <a:lnSpc>
                <a:spcPts val="1900"/>
              </a:lnSpc>
              <a:buNone/>
            </a:pPr>
            <a:r>
              <a:rPr lang="en-US" sz="1250" dirty="0">
                <a:solidFill>
                  <a:srgbClr val="F3EDFB"/>
                </a:solidFill>
                <a:latin typeface="Trebuchet MS" pitchFamily="34" charset="0"/>
                <a:ea typeface="Trebuchet MS" pitchFamily="34" charset="-122"/>
                <a:cs typeface="Trebuchet MS" pitchFamily="34" charset="-120"/>
              </a:rPr>
              <a:t>The ranges are the honest width. Four shares multiplied compound their uncertainty — a single figure is false precision, and it is the first number a sceptical finance director attacks. Attribution rises with the evidence: 50% without a control arm, 90% with one, because a control arm already removes the counterfactual and discounting it twice argues the next renewal against half the real number.</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28</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WHAT COMPOUNDS</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The moat is not the model. It is what the model leaves behind.</a:t>
            </a:r>
            <a:endParaRPr lang="en-US" sz="3400" dirty="0"/>
          </a:p>
        </p:txBody>
      </p:sp>
      <p:sp>
        <p:nvSpPr>
          <p:cNvPr id="7" name="Shape 5"/>
          <p:cNvSpPr/>
          <p:nvPr/>
        </p:nvSpPr>
        <p:spPr>
          <a:xfrm>
            <a:off x="713232" y="1965960"/>
            <a:ext cx="10765231" cy="841248"/>
          </a:xfrm>
          <a:prstGeom prst="roundRect">
            <a:avLst>
              <a:gd name="adj" fmla="val 6522"/>
            </a:avLst>
          </a:prstGeom>
          <a:solidFill>
            <a:srgbClr val="1A1338"/>
          </a:solidFill>
          <a:ln w="12700">
            <a:solidFill>
              <a:srgbClr val="332758"/>
            </a:solidFill>
            <a:prstDash val="solid"/>
          </a:ln>
        </p:spPr>
      </p:sp>
      <p:sp>
        <p:nvSpPr>
          <p:cNvPr id="8" name="Shape 6"/>
          <p:cNvSpPr/>
          <p:nvPr/>
        </p:nvSpPr>
        <p:spPr>
          <a:xfrm>
            <a:off x="713232" y="1965960"/>
            <a:ext cx="41148" cy="841248"/>
          </a:xfrm>
          <a:prstGeom prst="rect">
            <a:avLst/>
          </a:prstGeom>
          <a:solidFill>
            <a:srgbClr val="C7B3F0"/>
          </a:solidFill>
          <a:ln/>
        </p:spPr>
      </p:sp>
      <p:sp>
        <p:nvSpPr>
          <p:cNvPr id="9" name="Text 7"/>
          <p:cNvSpPr/>
          <p:nvPr/>
        </p:nvSpPr>
        <p:spPr>
          <a:xfrm>
            <a:off x="1033272" y="2093976"/>
            <a:ext cx="3108960" cy="292608"/>
          </a:xfrm>
          <a:prstGeom prst="rect">
            <a:avLst/>
          </a:prstGeom>
          <a:noFill/>
          <a:ln/>
        </p:spPr>
        <p:txBody>
          <a:bodyPr wrap="square" rtlCol="0" anchor="ctr"/>
          <a:lstStyle/>
          <a:p>
            <a:pPr indent="0" marL="0">
              <a:buNone/>
            </a:pPr>
            <a:r>
              <a:rPr lang="en-US" sz="1400" b="1" dirty="0">
                <a:solidFill>
                  <a:srgbClr val="F3EDFB"/>
                </a:solidFill>
                <a:latin typeface="Trebuchet MS" pitchFamily="34" charset="0"/>
                <a:ea typeface="Trebuchet MS" pitchFamily="34" charset="-122"/>
                <a:cs typeface="Trebuchet MS" pitchFamily="34" charset="-120"/>
              </a:rPr>
              <a:t>The corpus</a:t>
            </a:r>
            <a:endParaRPr lang="en-US" sz="1400" dirty="0"/>
          </a:p>
        </p:txBody>
      </p:sp>
      <p:sp>
        <p:nvSpPr>
          <p:cNvPr id="10" name="Text 8"/>
          <p:cNvSpPr/>
          <p:nvPr/>
        </p:nvSpPr>
        <p:spPr>
          <a:xfrm>
            <a:off x="4279392" y="2084832"/>
            <a:ext cx="6833311" cy="64008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Multiple authorities classifying the same typologies the same way, with anchored clauses and a publish gate behind them. Buildable in a year by nobody working alone.</a:t>
            </a:r>
            <a:endParaRPr lang="en-US" sz="1200" dirty="0"/>
          </a:p>
        </p:txBody>
      </p:sp>
      <p:sp>
        <p:nvSpPr>
          <p:cNvPr id="11" name="Shape 9"/>
          <p:cNvSpPr/>
          <p:nvPr/>
        </p:nvSpPr>
        <p:spPr>
          <a:xfrm>
            <a:off x="713232" y="2898648"/>
            <a:ext cx="10765231" cy="841248"/>
          </a:xfrm>
          <a:prstGeom prst="roundRect">
            <a:avLst>
              <a:gd name="adj" fmla="val 6522"/>
            </a:avLst>
          </a:prstGeom>
          <a:solidFill>
            <a:srgbClr val="1A1338"/>
          </a:solidFill>
          <a:ln w="12700">
            <a:solidFill>
              <a:srgbClr val="332758"/>
            </a:solidFill>
            <a:prstDash val="solid"/>
          </a:ln>
        </p:spPr>
      </p:sp>
      <p:sp>
        <p:nvSpPr>
          <p:cNvPr id="12" name="Shape 10"/>
          <p:cNvSpPr/>
          <p:nvPr/>
        </p:nvSpPr>
        <p:spPr>
          <a:xfrm>
            <a:off x="713232" y="2898648"/>
            <a:ext cx="41148" cy="841248"/>
          </a:xfrm>
          <a:prstGeom prst="rect">
            <a:avLst/>
          </a:prstGeom>
          <a:solidFill>
            <a:srgbClr val="C7B3F0"/>
          </a:solidFill>
          <a:ln/>
        </p:spPr>
      </p:sp>
      <p:sp>
        <p:nvSpPr>
          <p:cNvPr id="13" name="Text 11"/>
          <p:cNvSpPr/>
          <p:nvPr/>
        </p:nvSpPr>
        <p:spPr>
          <a:xfrm>
            <a:off x="1033272" y="3026664"/>
            <a:ext cx="3108960" cy="292608"/>
          </a:xfrm>
          <a:prstGeom prst="rect">
            <a:avLst/>
          </a:prstGeom>
          <a:noFill/>
          <a:ln/>
        </p:spPr>
        <p:txBody>
          <a:bodyPr wrap="square" rtlCol="0" anchor="ctr"/>
          <a:lstStyle/>
          <a:p>
            <a:pPr indent="0" marL="0">
              <a:buNone/>
            </a:pPr>
            <a:r>
              <a:rPr lang="en-US" sz="1400" b="1" dirty="0">
                <a:solidFill>
                  <a:srgbClr val="F3EDFB"/>
                </a:solidFill>
                <a:latin typeface="Trebuchet MS" pitchFamily="34" charset="0"/>
                <a:ea typeface="Trebuchet MS" pitchFamily="34" charset="-122"/>
                <a:cs typeface="Trebuchet MS" pitchFamily="34" charset="-120"/>
              </a:rPr>
              <a:t>The evidence chain</a:t>
            </a:r>
            <a:endParaRPr lang="en-US" sz="1400" dirty="0"/>
          </a:p>
        </p:txBody>
      </p:sp>
      <p:sp>
        <p:nvSpPr>
          <p:cNvPr id="14" name="Text 12"/>
          <p:cNvSpPr/>
          <p:nvPr/>
        </p:nvSpPr>
        <p:spPr>
          <a:xfrm>
            <a:off x="4279392" y="3017520"/>
            <a:ext cx="6833311" cy="64008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Every determination bound to a verbatim span, an object version and a signed bundle. This is the export a regulator's own system can read.</a:t>
            </a:r>
            <a:endParaRPr lang="en-US" sz="1200" dirty="0"/>
          </a:p>
        </p:txBody>
      </p:sp>
      <p:sp>
        <p:nvSpPr>
          <p:cNvPr id="15" name="Shape 13"/>
          <p:cNvSpPr/>
          <p:nvPr/>
        </p:nvSpPr>
        <p:spPr>
          <a:xfrm>
            <a:off x="713232" y="3831336"/>
            <a:ext cx="10765231" cy="841248"/>
          </a:xfrm>
          <a:prstGeom prst="roundRect">
            <a:avLst>
              <a:gd name="adj" fmla="val 6522"/>
            </a:avLst>
          </a:prstGeom>
          <a:solidFill>
            <a:srgbClr val="1A1338"/>
          </a:solidFill>
          <a:ln w="12700">
            <a:solidFill>
              <a:srgbClr val="332758"/>
            </a:solidFill>
            <a:prstDash val="solid"/>
          </a:ln>
        </p:spPr>
      </p:sp>
      <p:sp>
        <p:nvSpPr>
          <p:cNvPr id="16" name="Shape 14"/>
          <p:cNvSpPr/>
          <p:nvPr/>
        </p:nvSpPr>
        <p:spPr>
          <a:xfrm>
            <a:off x="713232" y="3831336"/>
            <a:ext cx="41148" cy="841248"/>
          </a:xfrm>
          <a:prstGeom prst="rect">
            <a:avLst/>
          </a:prstGeom>
          <a:solidFill>
            <a:srgbClr val="C7B3F0"/>
          </a:solidFill>
          <a:ln/>
        </p:spPr>
      </p:sp>
      <p:sp>
        <p:nvSpPr>
          <p:cNvPr id="17" name="Text 15"/>
          <p:cNvSpPr/>
          <p:nvPr/>
        </p:nvSpPr>
        <p:spPr>
          <a:xfrm>
            <a:off x="1033272" y="3959352"/>
            <a:ext cx="3108960" cy="292608"/>
          </a:xfrm>
          <a:prstGeom prst="rect">
            <a:avLst/>
          </a:prstGeom>
          <a:noFill/>
          <a:ln/>
        </p:spPr>
        <p:txBody>
          <a:bodyPr wrap="square" rtlCol="0" anchor="ctr"/>
          <a:lstStyle/>
          <a:p>
            <a:pPr indent="0" marL="0">
              <a:buNone/>
            </a:pPr>
            <a:r>
              <a:rPr lang="en-US" sz="1400" b="1" dirty="0">
                <a:solidFill>
                  <a:srgbClr val="F3EDFB"/>
                </a:solidFill>
                <a:latin typeface="Trebuchet MS" pitchFamily="34" charset="0"/>
                <a:ea typeface="Trebuchet MS" pitchFamily="34" charset="-122"/>
                <a:cs typeface="Trebuchet MS" pitchFamily="34" charset="-120"/>
              </a:rPr>
              <a:t>The behavioural dataset</a:t>
            </a:r>
            <a:endParaRPr lang="en-US" sz="1400" dirty="0"/>
          </a:p>
        </p:txBody>
      </p:sp>
      <p:sp>
        <p:nvSpPr>
          <p:cNvPr id="18" name="Text 16"/>
          <p:cNvSpPr/>
          <p:nvPr/>
        </p:nvSpPr>
        <p:spPr>
          <a:xfrm>
            <a:off x="4279392" y="3950208"/>
            <a:ext cx="6833311" cy="64008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What people actually say under pressure, in five languages, by cohort and tactic. It has no public equivalent.</a:t>
            </a:r>
            <a:endParaRPr lang="en-US" sz="1200" dirty="0"/>
          </a:p>
        </p:txBody>
      </p:sp>
      <p:sp>
        <p:nvSpPr>
          <p:cNvPr id="19" name="Shape 17"/>
          <p:cNvSpPr/>
          <p:nvPr/>
        </p:nvSpPr>
        <p:spPr>
          <a:xfrm>
            <a:off x="713232" y="4764024"/>
            <a:ext cx="10765231" cy="841248"/>
          </a:xfrm>
          <a:prstGeom prst="roundRect">
            <a:avLst>
              <a:gd name="adj" fmla="val 6522"/>
            </a:avLst>
          </a:prstGeom>
          <a:solidFill>
            <a:srgbClr val="241B52"/>
          </a:solidFill>
          <a:ln w="12700">
            <a:solidFill>
              <a:srgbClr val="332758"/>
            </a:solidFill>
            <a:prstDash val="solid"/>
          </a:ln>
        </p:spPr>
      </p:sp>
      <p:sp>
        <p:nvSpPr>
          <p:cNvPr id="20" name="Shape 18"/>
          <p:cNvSpPr/>
          <p:nvPr/>
        </p:nvSpPr>
        <p:spPr>
          <a:xfrm>
            <a:off x="713232" y="4764024"/>
            <a:ext cx="41148" cy="841248"/>
          </a:xfrm>
          <a:prstGeom prst="rect">
            <a:avLst/>
          </a:prstGeom>
          <a:solidFill>
            <a:srgbClr val="EBA98C"/>
          </a:solidFill>
          <a:ln/>
        </p:spPr>
      </p:sp>
      <p:sp>
        <p:nvSpPr>
          <p:cNvPr id="21" name="Text 19"/>
          <p:cNvSpPr/>
          <p:nvPr/>
        </p:nvSpPr>
        <p:spPr>
          <a:xfrm>
            <a:off x="1033272" y="4892040"/>
            <a:ext cx="3108960" cy="292608"/>
          </a:xfrm>
          <a:prstGeom prst="rect">
            <a:avLst/>
          </a:prstGeom>
          <a:noFill/>
          <a:ln/>
        </p:spPr>
        <p:txBody>
          <a:bodyPr wrap="square" rtlCol="0" anchor="ctr"/>
          <a:lstStyle/>
          <a:p>
            <a:pPr indent="0" marL="0">
              <a:buNone/>
            </a:pPr>
            <a:r>
              <a:rPr lang="en-US" sz="1400" b="1" dirty="0">
                <a:solidFill>
                  <a:srgbClr val="EBA98C"/>
                </a:solidFill>
                <a:latin typeface="Trebuchet MS" pitchFamily="34" charset="0"/>
                <a:ea typeface="Trebuchet MS" pitchFamily="34" charset="-122"/>
                <a:cs typeface="Trebuchet MS" pitchFamily="34" charset="-120"/>
              </a:rPr>
              <a:t>Longitudinal outcome evidence</a:t>
            </a:r>
            <a:endParaRPr lang="en-US" sz="1400" dirty="0"/>
          </a:p>
        </p:txBody>
      </p:sp>
      <p:sp>
        <p:nvSpPr>
          <p:cNvPr id="22" name="Text 20"/>
          <p:cNvSpPr/>
          <p:nvPr/>
        </p:nvSpPr>
        <p:spPr>
          <a:xfrm>
            <a:off x="4279392" y="4882896"/>
            <a:ext cx="6833311" cy="64008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That rehearsal reduces real-world losses. It cannot be bought, hired or copied — only accumulated. Every month of unmeasured operation is a month it does not accrue.</a:t>
            </a:r>
            <a:endParaRPr lang="en-US" sz="1200" dirty="0"/>
          </a:p>
        </p:txBody>
      </p:sp>
      <p:sp>
        <p:nvSpPr>
          <p:cNvPr id="23" name="Text 21"/>
          <p:cNvSpPr/>
          <p:nvPr/>
        </p:nvSpPr>
        <p:spPr>
          <a:xfrm>
            <a:off x="713232" y="5760720"/>
            <a:ext cx="10119317" cy="411480"/>
          </a:xfrm>
          <a:prstGeom prst="rect">
            <a:avLst/>
          </a:prstGeom>
          <a:noFill/>
          <a:ln/>
        </p:spPr>
        <p:txBody>
          <a:bodyPr wrap="square" rtlCol="0" anchor="ctr"/>
          <a:lstStyle/>
          <a:p>
            <a:pPr indent="0" marL="0">
              <a:buNone/>
            </a:pPr>
            <a:r>
              <a:rPr lang="en-US" sz="1250" i="1" dirty="0">
                <a:solidFill>
                  <a:srgbClr val="C7B3F0"/>
                </a:solidFill>
                <a:latin typeface="Trebuchet MS" pitchFamily="34" charset="0"/>
                <a:ea typeface="Trebuchet MS" pitchFamily="34" charset="-122"/>
                <a:cs typeface="Trebuchet MS" pitchFamily="34" charset="-120"/>
              </a:rPr>
              <a:t>Which has a sequencing consequence: outcome follow-up has to be instrumented from the first pilot, because the most valuable asset only starts accruing on the day measurement starts.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29</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WHAT WE NEED</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Four things, in the order they unblock the others.</a:t>
            </a:r>
            <a:endParaRPr lang="en-US" sz="3400" dirty="0"/>
          </a:p>
        </p:txBody>
      </p:sp>
      <p:sp>
        <p:nvSpPr>
          <p:cNvPr id="7" name="Text 5"/>
          <p:cNvSpPr/>
          <p:nvPr/>
        </p:nvSpPr>
        <p:spPr>
          <a:xfrm>
            <a:off x="713232" y="1920240"/>
            <a:ext cx="365760" cy="320040"/>
          </a:xfrm>
          <a:prstGeom prst="rect">
            <a:avLst/>
          </a:prstGeom>
          <a:noFill/>
          <a:ln/>
        </p:spPr>
        <p:txBody>
          <a:bodyPr wrap="square" rtlCol="0" anchor="ctr"/>
          <a:lstStyle/>
          <a:p>
            <a:pPr indent="0" marL="0">
              <a:buNone/>
            </a:pPr>
            <a:r>
              <a:rPr lang="en-US" sz="1700" b="1" dirty="0">
                <a:solidFill>
                  <a:srgbClr val="EBA98C"/>
                </a:solidFill>
                <a:latin typeface="Consolas" pitchFamily="34" charset="0"/>
                <a:ea typeface="Consolas" pitchFamily="34" charset="-122"/>
                <a:cs typeface="Consolas" pitchFamily="34" charset="-120"/>
              </a:rPr>
              <a:t>1</a:t>
            </a:r>
            <a:endParaRPr lang="en-US" sz="1700" dirty="0"/>
          </a:p>
        </p:txBody>
      </p:sp>
      <p:sp>
        <p:nvSpPr>
          <p:cNvPr id="8" name="Text 6"/>
          <p:cNvSpPr/>
          <p:nvPr/>
        </p:nvSpPr>
        <p:spPr>
          <a:xfrm>
            <a:off x="1170432" y="1920240"/>
            <a:ext cx="3840480" cy="365760"/>
          </a:xfrm>
          <a:prstGeom prst="rect">
            <a:avLst/>
          </a:prstGeom>
          <a:noFill/>
          <a:ln/>
        </p:spPr>
        <p:txBody>
          <a:bodyPr wrap="square" rtlCol="0" anchor="ctr"/>
          <a:lstStyle/>
          <a:p>
            <a:pPr indent="0" marL="0">
              <a:buNone/>
            </a:pPr>
            <a:r>
              <a:rPr lang="en-US" sz="1450" b="1" dirty="0">
                <a:solidFill>
                  <a:srgbClr val="F3EDFB"/>
                </a:solidFill>
                <a:latin typeface="Trebuchet MS" pitchFamily="34" charset="0"/>
                <a:ea typeface="Trebuchet MS" pitchFamily="34" charset="-122"/>
                <a:cs typeface="Trebuchet MS" pitchFamily="34" charset="-120"/>
              </a:rPr>
              <a:t>An authority to anchor the corpus</a:t>
            </a:r>
            <a:endParaRPr lang="en-US" sz="1450" dirty="0"/>
          </a:p>
        </p:txBody>
      </p:sp>
      <p:sp>
        <p:nvSpPr>
          <p:cNvPr id="9" name="Text 7"/>
          <p:cNvSpPr/>
          <p:nvPr/>
        </p:nvSpPr>
        <p:spPr>
          <a:xfrm>
            <a:off x="5193792" y="1938528"/>
            <a:ext cx="6193231" cy="73152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A commission that contributes its existing investor-education curriculum closes the most expensive gap in the system on day one — its clauses arrive as anchors rather than having to be sourced.</a:t>
            </a:r>
            <a:endParaRPr lang="en-US" sz="1200" dirty="0"/>
          </a:p>
        </p:txBody>
      </p:sp>
      <p:sp>
        <p:nvSpPr>
          <p:cNvPr id="10" name="Shape 8"/>
          <p:cNvSpPr/>
          <p:nvPr/>
        </p:nvSpPr>
        <p:spPr>
          <a:xfrm>
            <a:off x="713232" y="2724912"/>
            <a:ext cx="10765231" cy="7315"/>
          </a:xfrm>
          <a:prstGeom prst="rect">
            <a:avLst/>
          </a:prstGeom>
          <a:solidFill>
            <a:srgbClr val="332758"/>
          </a:solidFill>
          <a:ln/>
        </p:spPr>
      </p:sp>
      <p:sp>
        <p:nvSpPr>
          <p:cNvPr id="11" name="Text 9"/>
          <p:cNvSpPr/>
          <p:nvPr/>
        </p:nvSpPr>
        <p:spPr>
          <a:xfrm>
            <a:off x="713232" y="2907792"/>
            <a:ext cx="365760" cy="320040"/>
          </a:xfrm>
          <a:prstGeom prst="rect">
            <a:avLst/>
          </a:prstGeom>
          <a:noFill/>
          <a:ln/>
        </p:spPr>
        <p:txBody>
          <a:bodyPr wrap="square" rtlCol="0" anchor="ctr"/>
          <a:lstStyle/>
          <a:p>
            <a:pPr indent="0" marL="0">
              <a:buNone/>
            </a:pPr>
            <a:r>
              <a:rPr lang="en-US" sz="1700" b="1" dirty="0">
                <a:solidFill>
                  <a:srgbClr val="EBA98C"/>
                </a:solidFill>
                <a:latin typeface="Consolas" pitchFamily="34" charset="0"/>
                <a:ea typeface="Consolas" pitchFamily="34" charset="-122"/>
                <a:cs typeface="Consolas" pitchFamily="34" charset="-120"/>
              </a:rPr>
              <a:t>2</a:t>
            </a:r>
            <a:endParaRPr lang="en-US" sz="1700" dirty="0"/>
          </a:p>
        </p:txBody>
      </p:sp>
      <p:sp>
        <p:nvSpPr>
          <p:cNvPr id="12" name="Text 10"/>
          <p:cNvSpPr/>
          <p:nvPr/>
        </p:nvSpPr>
        <p:spPr>
          <a:xfrm>
            <a:off x="1170432" y="2907792"/>
            <a:ext cx="3840480" cy="365760"/>
          </a:xfrm>
          <a:prstGeom prst="rect">
            <a:avLst/>
          </a:prstGeom>
          <a:noFill/>
          <a:ln/>
        </p:spPr>
        <p:txBody>
          <a:bodyPr wrap="square" rtlCol="0" anchor="ctr"/>
          <a:lstStyle/>
          <a:p>
            <a:pPr indent="0" marL="0">
              <a:buNone/>
            </a:pPr>
            <a:r>
              <a:rPr lang="en-US" sz="1450" b="1" dirty="0">
                <a:solidFill>
                  <a:srgbClr val="F3EDFB"/>
                </a:solidFill>
                <a:latin typeface="Trebuchet MS" pitchFamily="34" charset="0"/>
                <a:ea typeface="Trebuchet MS" pitchFamily="34" charset="-122"/>
                <a:cs typeface="Trebuchet MS" pitchFamily="34" charset="-120"/>
              </a:rPr>
              <a:t>An institution with a loss book</a:t>
            </a:r>
            <a:endParaRPr lang="en-US" sz="1450" dirty="0"/>
          </a:p>
        </p:txBody>
      </p:sp>
      <p:sp>
        <p:nvSpPr>
          <p:cNvPr id="13" name="Text 11"/>
          <p:cNvSpPr/>
          <p:nvPr/>
        </p:nvSpPr>
        <p:spPr>
          <a:xfrm>
            <a:off x="5193792" y="2926080"/>
            <a:ext cx="6193231" cy="73152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The economic case is computed from a real denominator or it is not computed. One bank converts every figure in this deck from a scenario into a measurement.</a:t>
            </a:r>
            <a:endParaRPr lang="en-US" sz="1200" dirty="0"/>
          </a:p>
        </p:txBody>
      </p:sp>
      <p:sp>
        <p:nvSpPr>
          <p:cNvPr id="14" name="Shape 12"/>
          <p:cNvSpPr/>
          <p:nvPr/>
        </p:nvSpPr>
        <p:spPr>
          <a:xfrm>
            <a:off x="713232" y="3712464"/>
            <a:ext cx="10765231" cy="7315"/>
          </a:xfrm>
          <a:prstGeom prst="rect">
            <a:avLst/>
          </a:prstGeom>
          <a:solidFill>
            <a:srgbClr val="332758"/>
          </a:solidFill>
          <a:ln/>
        </p:spPr>
      </p:sp>
      <p:sp>
        <p:nvSpPr>
          <p:cNvPr id="15" name="Text 13"/>
          <p:cNvSpPr/>
          <p:nvPr/>
        </p:nvSpPr>
        <p:spPr>
          <a:xfrm>
            <a:off x="713232" y="3895344"/>
            <a:ext cx="365760" cy="320040"/>
          </a:xfrm>
          <a:prstGeom prst="rect">
            <a:avLst/>
          </a:prstGeom>
          <a:noFill/>
          <a:ln/>
        </p:spPr>
        <p:txBody>
          <a:bodyPr wrap="square" rtlCol="0" anchor="ctr"/>
          <a:lstStyle/>
          <a:p>
            <a:pPr indent="0" marL="0">
              <a:buNone/>
            </a:pPr>
            <a:r>
              <a:rPr lang="en-US" sz="1700" b="1" dirty="0">
                <a:solidFill>
                  <a:srgbClr val="EBA98C"/>
                </a:solidFill>
                <a:latin typeface="Consolas" pitchFamily="34" charset="0"/>
                <a:ea typeface="Consolas" pitchFamily="34" charset="-122"/>
                <a:cs typeface="Consolas" pitchFamily="34" charset="-120"/>
              </a:rPr>
              <a:t>3</a:t>
            </a:r>
            <a:endParaRPr lang="en-US" sz="1700" dirty="0"/>
          </a:p>
        </p:txBody>
      </p:sp>
      <p:sp>
        <p:nvSpPr>
          <p:cNvPr id="16" name="Text 14"/>
          <p:cNvSpPr/>
          <p:nvPr/>
        </p:nvSpPr>
        <p:spPr>
          <a:xfrm>
            <a:off x="1170432" y="3895344"/>
            <a:ext cx="3840480" cy="365760"/>
          </a:xfrm>
          <a:prstGeom prst="rect">
            <a:avLst/>
          </a:prstGeom>
          <a:noFill/>
          <a:ln/>
        </p:spPr>
        <p:txBody>
          <a:bodyPr wrap="square" rtlCol="0" anchor="ctr"/>
          <a:lstStyle/>
          <a:p>
            <a:pPr indent="0" marL="0">
              <a:buNone/>
            </a:pPr>
            <a:r>
              <a:rPr lang="en-US" sz="1450" b="1" dirty="0">
                <a:solidFill>
                  <a:srgbClr val="F3EDFB"/>
                </a:solidFill>
                <a:latin typeface="Trebuchet MS" pitchFamily="34" charset="0"/>
                <a:ea typeface="Trebuchet MS" pitchFamily="34" charset="-122"/>
                <a:cs typeface="Trebuchet MS" pitchFamily="34" charset="-120"/>
              </a:rPr>
              <a:t>A cohort worth measuring</a:t>
            </a:r>
            <a:endParaRPr lang="en-US" sz="1450" dirty="0"/>
          </a:p>
        </p:txBody>
      </p:sp>
      <p:sp>
        <p:nvSpPr>
          <p:cNvPr id="17" name="Text 15"/>
          <p:cNvSpPr/>
          <p:nvPr/>
        </p:nvSpPr>
        <p:spPr>
          <a:xfrm>
            <a:off x="5193792" y="3913632"/>
            <a:ext cx="6193231" cy="73152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900 per arm detects a five-point effect. 200 per arm detects ten. Below that the trial cannot answer the question, whatever the product does.</a:t>
            </a:r>
            <a:endParaRPr lang="en-US" sz="1200" dirty="0"/>
          </a:p>
        </p:txBody>
      </p:sp>
      <p:sp>
        <p:nvSpPr>
          <p:cNvPr id="18" name="Shape 16"/>
          <p:cNvSpPr/>
          <p:nvPr/>
        </p:nvSpPr>
        <p:spPr>
          <a:xfrm>
            <a:off x="713232" y="4700016"/>
            <a:ext cx="10765231" cy="7315"/>
          </a:xfrm>
          <a:prstGeom prst="rect">
            <a:avLst/>
          </a:prstGeom>
          <a:solidFill>
            <a:srgbClr val="332758"/>
          </a:solidFill>
          <a:ln/>
        </p:spPr>
      </p:sp>
      <p:sp>
        <p:nvSpPr>
          <p:cNvPr id="19" name="Text 17"/>
          <p:cNvSpPr/>
          <p:nvPr/>
        </p:nvSpPr>
        <p:spPr>
          <a:xfrm>
            <a:off x="713232" y="4882896"/>
            <a:ext cx="365760" cy="320040"/>
          </a:xfrm>
          <a:prstGeom prst="rect">
            <a:avLst/>
          </a:prstGeom>
          <a:noFill/>
          <a:ln/>
        </p:spPr>
        <p:txBody>
          <a:bodyPr wrap="square" rtlCol="0" anchor="ctr"/>
          <a:lstStyle/>
          <a:p>
            <a:pPr indent="0" marL="0">
              <a:buNone/>
            </a:pPr>
            <a:r>
              <a:rPr lang="en-US" sz="1700" b="1" dirty="0">
                <a:solidFill>
                  <a:srgbClr val="EBA98C"/>
                </a:solidFill>
                <a:latin typeface="Consolas" pitchFamily="34" charset="0"/>
                <a:ea typeface="Consolas" pitchFamily="34" charset="-122"/>
                <a:cs typeface="Consolas" pitchFamily="34" charset="-120"/>
              </a:rPr>
              <a:t>4</a:t>
            </a:r>
            <a:endParaRPr lang="en-US" sz="1700" dirty="0"/>
          </a:p>
        </p:txBody>
      </p:sp>
      <p:sp>
        <p:nvSpPr>
          <p:cNvPr id="20" name="Text 18"/>
          <p:cNvSpPr/>
          <p:nvPr/>
        </p:nvSpPr>
        <p:spPr>
          <a:xfrm>
            <a:off x="1170432" y="4882896"/>
            <a:ext cx="3840480" cy="365760"/>
          </a:xfrm>
          <a:prstGeom prst="rect">
            <a:avLst/>
          </a:prstGeom>
          <a:noFill/>
          <a:ln/>
        </p:spPr>
        <p:txBody>
          <a:bodyPr wrap="square" rtlCol="0" anchor="ctr"/>
          <a:lstStyle/>
          <a:p>
            <a:pPr indent="0" marL="0">
              <a:buNone/>
            </a:pPr>
            <a:r>
              <a:rPr lang="en-US" sz="1450" b="1" dirty="0">
                <a:solidFill>
                  <a:srgbClr val="F3EDFB"/>
                </a:solidFill>
                <a:latin typeface="Trebuchet MS" pitchFamily="34" charset="0"/>
                <a:ea typeface="Trebuchet MS" pitchFamily="34" charset="-122"/>
                <a:cs typeface="Trebuchet MS" pitchFamily="34" charset="-120"/>
              </a:rPr>
              <a:t>Permission to follow the outcome</a:t>
            </a:r>
            <a:endParaRPr lang="en-US" sz="1450" dirty="0"/>
          </a:p>
        </p:txBody>
      </p:sp>
      <p:sp>
        <p:nvSpPr>
          <p:cNvPr id="21" name="Text 19"/>
          <p:cNvSpPr/>
          <p:nvPr/>
        </p:nvSpPr>
        <p:spPr>
          <a:xfrm>
            <a:off x="5193792" y="4901184"/>
            <a:ext cx="6193231" cy="731520"/>
          </a:xfrm>
          <a:prstGeom prst="rect">
            <a:avLst/>
          </a:prstGeom>
          <a:noFill/>
          <a:ln/>
        </p:spPr>
        <p:txBody>
          <a:bodyPr wrap="square" rtlCol="0" anchor="t"/>
          <a:lstStyle/>
          <a:p>
            <a:pPr indent="0" marL="0">
              <a:lnSpc>
                <a:spcPts val="1700"/>
              </a:lnSpc>
              <a:buNone/>
            </a:pPr>
            <a:r>
              <a:rPr lang="en-US" sz="1200" dirty="0">
                <a:solidFill>
                  <a:srgbClr val="A394C8"/>
                </a:solidFill>
                <a:latin typeface="Trebuchet MS" pitchFamily="34" charset="0"/>
                <a:ea typeface="Trebuchet MS" pitchFamily="34" charset="-122"/>
                <a:cs typeface="Trebuchet MS" pitchFamily="34" charset="-120"/>
              </a:rPr>
              <a:t>Transaction outcomes linked to cohort membership, with consent captured at enrolment. It has to be designed into the first enrolment — it cannot be retrofitted to people who already finished.</a:t>
            </a:r>
            <a:endParaRPr lang="en-US" sz="1200" dirty="0"/>
          </a:p>
        </p:txBody>
      </p:sp>
      <p:sp>
        <p:nvSpPr>
          <p:cNvPr id="22" name="Shape 20"/>
          <p:cNvSpPr/>
          <p:nvPr/>
        </p:nvSpPr>
        <p:spPr>
          <a:xfrm>
            <a:off x="713232" y="5687568"/>
            <a:ext cx="10765231" cy="7315"/>
          </a:xfrm>
          <a:prstGeom prst="rect">
            <a:avLst/>
          </a:prstGeom>
          <a:solidFill>
            <a:srgbClr val="332758"/>
          </a:solidFill>
          <a:ln/>
        </p:spPr>
      </p:sp>
      <p:sp>
        <p:nvSpPr>
          <p:cNvPr id="23" name="Text 21"/>
          <p:cNvSpPr/>
          <p:nvPr/>
        </p:nvSpPr>
        <p:spPr>
          <a:xfrm>
            <a:off x="713232" y="5806440"/>
            <a:ext cx="10119317" cy="365760"/>
          </a:xfrm>
          <a:prstGeom prst="rect">
            <a:avLst/>
          </a:prstGeom>
          <a:noFill/>
          <a:ln/>
        </p:spPr>
        <p:txBody>
          <a:bodyPr wrap="square" rtlCol="0" anchor="ctr"/>
          <a:lstStyle/>
          <a:p>
            <a:pPr indent="0" marL="0">
              <a:buNone/>
            </a:pPr>
            <a:r>
              <a:rPr lang="en-US" sz="1400" i="1" dirty="0">
                <a:solidFill>
                  <a:srgbClr val="C7B3F0"/>
                </a:solidFill>
                <a:latin typeface="Georgia" pitchFamily="34" charset="0"/>
                <a:ea typeface="Georgia" pitchFamily="34" charset="-122"/>
                <a:cs typeface="Georgia" pitchFamily="34" charset="-120"/>
              </a:rPr>
              <a:t>We are not asking the room to believe the outcome claim. We are asking for the conditions under which it becomes testable.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30</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HONESTY AS A DESIGN PROPERTY</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What we will not claim.</a:t>
            </a:r>
            <a:endParaRPr lang="en-US" sz="3400" dirty="0"/>
          </a:p>
        </p:txBody>
      </p:sp>
      <p:sp>
        <p:nvSpPr>
          <p:cNvPr id="7" name="Text 5"/>
          <p:cNvSpPr/>
          <p:nvPr/>
        </p:nvSpPr>
        <p:spPr>
          <a:xfrm>
            <a:off x="713232" y="1965960"/>
            <a:ext cx="274320" cy="274320"/>
          </a:xfrm>
          <a:prstGeom prst="rect">
            <a:avLst/>
          </a:prstGeom>
          <a:noFill/>
          <a:ln/>
        </p:spPr>
        <p:txBody>
          <a:bodyPr wrap="square" rtlCol="0" anchor="ctr"/>
          <a:lstStyle/>
          <a:p>
            <a:pPr indent="0" marL="0">
              <a:buNone/>
            </a:pPr>
            <a:r>
              <a:rPr lang="en-US" sz="1300" dirty="0">
                <a:solidFill>
                  <a:srgbClr val="E88DA0"/>
                </a:solidFill>
                <a:latin typeface="Trebuchet MS" pitchFamily="34" charset="0"/>
                <a:ea typeface="Trebuchet MS" pitchFamily="34" charset="-122"/>
                <a:cs typeface="Trebuchet MS" pitchFamily="34" charset="-120"/>
              </a:rPr>
              <a:t>✕</a:t>
            </a:r>
            <a:endParaRPr lang="en-US" sz="1300" dirty="0"/>
          </a:p>
        </p:txBody>
      </p:sp>
      <p:sp>
        <p:nvSpPr>
          <p:cNvPr id="8" name="Text 6"/>
          <p:cNvSpPr/>
          <p:nvPr/>
        </p:nvSpPr>
        <p:spPr>
          <a:xfrm>
            <a:off x="1078992" y="1965960"/>
            <a:ext cx="10308031" cy="658368"/>
          </a:xfrm>
          <a:prstGeom prst="rect">
            <a:avLst/>
          </a:prstGeom>
          <a:noFill/>
          <a:ln/>
        </p:spPr>
        <p:txBody>
          <a:bodyPr wrap="square" rtlCol="0" anchor="t"/>
          <a:lstStyle/>
          <a:p>
            <a:pPr indent="0" marL="0">
              <a:lnSpc>
                <a:spcPts val="1900"/>
              </a:lnSpc>
              <a:buNone/>
            </a:pPr>
            <a:r>
              <a:rPr lang="en-US" sz="1300" dirty="0">
                <a:solidFill>
                  <a:srgbClr val="F3EDFB"/>
                </a:solidFill>
                <a:latin typeface="Trebuchet MS" pitchFamily="34" charset="0"/>
                <a:ea typeface="Trebuchet MS" pitchFamily="34" charset="-122"/>
                <a:cs typeface="Trebuchet MS" pitchFamily="34" charset="-120"/>
              </a:rPr>
              <a:t>That AUREN saves one percent of global scam losses. We model the addressable pool, the population reached and a conservative attribution, and we publish the range.</a:t>
            </a:r>
            <a:endParaRPr lang="en-US" sz="1300" dirty="0"/>
          </a:p>
        </p:txBody>
      </p:sp>
      <p:sp>
        <p:nvSpPr>
          <p:cNvPr id="9" name="Text 7"/>
          <p:cNvSpPr/>
          <p:nvPr/>
        </p:nvSpPr>
        <p:spPr>
          <a:xfrm>
            <a:off x="713232" y="2715768"/>
            <a:ext cx="274320" cy="274320"/>
          </a:xfrm>
          <a:prstGeom prst="rect">
            <a:avLst/>
          </a:prstGeom>
          <a:noFill/>
          <a:ln/>
        </p:spPr>
        <p:txBody>
          <a:bodyPr wrap="square" rtlCol="0" anchor="ctr"/>
          <a:lstStyle/>
          <a:p>
            <a:pPr indent="0" marL="0">
              <a:buNone/>
            </a:pPr>
            <a:r>
              <a:rPr lang="en-US" sz="1300" dirty="0">
                <a:solidFill>
                  <a:srgbClr val="E88DA0"/>
                </a:solidFill>
                <a:latin typeface="Trebuchet MS" pitchFamily="34" charset="0"/>
                <a:ea typeface="Trebuchet MS" pitchFamily="34" charset="-122"/>
                <a:cs typeface="Trebuchet MS" pitchFamily="34" charset="-120"/>
              </a:rPr>
              <a:t>✕</a:t>
            </a:r>
            <a:endParaRPr lang="en-US" sz="1300" dirty="0"/>
          </a:p>
        </p:txBody>
      </p:sp>
      <p:sp>
        <p:nvSpPr>
          <p:cNvPr id="10" name="Text 8"/>
          <p:cNvSpPr/>
          <p:nvPr/>
        </p:nvSpPr>
        <p:spPr>
          <a:xfrm>
            <a:off x="1078992" y="2715768"/>
            <a:ext cx="10308031" cy="658368"/>
          </a:xfrm>
          <a:prstGeom prst="rect">
            <a:avLst/>
          </a:prstGeom>
          <a:noFill/>
          <a:ln/>
        </p:spPr>
        <p:txBody>
          <a:bodyPr wrap="square" rtlCol="0" anchor="t"/>
          <a:lstStyle/>
          <a:p>
            <a:pPr indent="0" marL="0">
              <a:lnSpc>
                <a:spcPts val="1900"/>
              </a:lnSpc>
              <a:buNone/>
            </a:pPr>
            <a:r>
              <a:rPr lang="en-US" sz="1300" dirty="0">
                <a:solidFill>
                  <a:srgbClr val="F3EDFB"/>
                </a:solidFill>
                <a:latin typeface="Trebuchet MS" pitchFamily="34" charset="0"/>
                <a:ea typeface="Trebuchet MS" pitchFamily="34" charset="-122"/>
                <a:cs typeface="Trebuchet MS" pitchFamily="34" charset="-120"/>
              </a:rPr>
              <a:t>That transfer within one session is durable behaviour change. The record says within-session on the face of it, and so does the certificate.</a:t>
            </a:r>
            <a:endParaRPr lang="en-US" sz="1300" dirty="0"/>
          </a:p>
        </p:txBody>
      </p:sp>
      <p:sp>
        <p:nvSpPr>
          <p:cNvPr id="11" name="Text 9"/>
          <p:cNvSpPr/>
          <p:nvPr/>
        </p:nvSpPr>
        <p:spPr>
          <a:xfrm>
            <a:off x="713232" y="3465576"/>
            <a:ext cx="274320" cy="274320"/>
          </a:xfrm>
          <a:prstGeom prst="rect">
            <a:avLst/>
          </a:prstGeom>
          <a:noFill/>
          <a:ln/>
        </p:spPr>
        <p:txBody>
          <a:bodyPr wrap="square" rtlCol="0" anchor="ctr"/>
          <a:lstStyle/>
          <a:p>
            <a:pPr indent="0" marL="0">
              <a:buNone/>
            </a:pPr>
            <a:r>
              <a:rPr lang="en-US" sz="1300" dirty="0">
                <a:solidFill>
                  <a:srgbClr val="E88DA0"/>
                </a:solidFill>
                <a:latin typeface="Trebuchet MS" pitchFamily="34" charset="0"/>
                <a:ea typeface="Trebuchet MS" pitchFamily="34" charset="-122"/>
                <a:cs typeface="Trebuchet MS" pitchFamily="34" charset="-120"/>
              </a:rPr>
              <a:t>✕</a:t>
            </a:r>
            <a:endParaRPr lang="en-US" sz="1300" dirty="0"/>
          </a:p>
        </p:txBody>
      </p:sp>
      <p:sp>
        <p:nvSpPr>
          <p:cNvPr id="12" name="Text 10"/>
          <p:cNvSpPr/>
          <p:nvPr/>
        </p:nvSpPr>
        <p:spPr>
          <a:xfrm>
            <a:off x="1078992" y="3465576"/>
            <a:ext cx="10308031" cy="658368"/>
          </a:xfrm>
          <a:prstGeom prst="rect">
            <a:avLst/>
          </a:prstGeom>
          <a:noFill/>
          <a:ln/>
        </p:spPr>
        <p:txBody>
          <a:bodyPr wrap="square" rtlCol="0" anchor="t"/>
          <a:lstStyle/>
          <a:p>
            <a:pPr indent="0" marL="0">
              <a:lnSpc>
                <a:spcPts val="1900"/>
              </a:lnSpc>
              <a:buNone/>
            </a:pPr>
            <a:r>
              <a:rPr lang="en-US" sz="1300" dirty="0">
                <a:solidFill>
                  <a:srgbClr val="F3EDFB"/>
                </a:solidFill>
                <a:latin typeface="Trebuchet MS" pitchFamily="34" charset="0"/>
                <a:ea typeface="Trebuchet MS" pitchFamily="34" charset="-122"/>
                <a:cs typeface="Trebuchet MS" pitchFamily="34" charset="-120"/>
              </a:rPr>
              <a:t>That four of our five languages are deployment-ready. Only English has passed native review. The gate reports every pending variant and the learner-facing screen says so.</a:t>
            </a:r>
            <a:endParaRPr lang="en-US" sz="1300" dirty="0"/>
          </a:p>
        </p:txBody>
      </p:sp>
      <p:sp>
        <p:nvSpPr>
          <p:cNvPr id="13" name="Text 11"/>
          <p:cNvSpPr/>
          <p:nvPr/>
        </p:nvSpPr>
        <p:spPr>
          <a:xfrm>
            <a:off x="713232" y="4215384"/>
            <a:ext cx="274320" cy="274320"/>
          </a:xfrm>
          <a:prstGeom prst="rect">
            <a:avLst/>
          </a:prstGeom>
          <a:noFill/>
          <a:ln/>
        </p:spPr>
        <p:txBody>
          <a:bodyPr wrap="square" rtlCol="0" anchor="ctr"/>
          <a:lstStyle/>
          <a:p>
            <a:pPr indent="0" marL="0">
              <a:buNone/>
            </a:pPr>
            <a:r>
              <a:rPr lang="en-US" sz="1300" dirty="0">
                <a:solidFill>
                  <a:srgbClr val="E88DA0"/>
                </a:solidFill>
                <a:latin typeface="Trebuchet MS" pitchFamily="34" charset="0"/>
                <a:ea typeface="Trebuchet MS" pitchFamily="34" charset="-122"/>
                <a:cs typeface="Trebuchet MS" pitchFamily="34" charset="-120"/>
              </a:rPr>
              <a:t>✕</a:t>
            </a:r>
            <a:endParaRPr lang="en-US" sz="1300" dirty="0"/>
          </a:p>
        </p:txBody>
      </p:sp>
      <p:sp>
        <p:nvSpPr>
          <p:cNvPr id="14" name="Text 12"/>
          <p:cNvSpPr/>
          <p:nvPr/>
        </p:nvSpPr>
        <p:spPr>
          <a:xfrm>
            <a:off x="1078992" y="4215384"/>
            <a:ext cx="10308031" cy="658368"/>
          </a:xfrm>
          <a:prstGeom prst="rect">
            <a:avLst/>
          </a:prstGeom>
          <a:noFill/>
          <a:ln/>
        </p:spPr>
        <p:txBody>
          <a:bodyPr wrap="square" rtlCol="0" anchor="t"/>
          <a:lstStyle/>
          <a:p>
            <a:pPr indent="0" marL="0">
              <a:lnSpc>
                <a:spcPts val="1900"/>
              </a:lnSpc>
              <a:buNone/>
            </a:pPr>
            <a:r>
              <a:rPr lang="en-US" sz="1300" dirty="0">
                <a:solidFill>
                  <a:srgbClr val="F3EDFB"/>
                </a:solidFill>
                <a:latin typeface="Trebuchet MS" pitchFamily="34" charset="0"/>
                <a:ea typeface="Trebuchet MS" pitchFamily="34" charset="-122"/>
                <a:cs typeface="Trebuchet MS" pitchFamily="34" charset="-120"/>
              </a:rPr>
              <a:t>That a loss figure exists where it does not. Spain and the UAE have no defensible national aggregate — the system returns a refusal naming what a real baseline would need, rather than a number.</a:t>
            </a:r>
            <a:endParaRPr lang="en-US" sz="1300" dirty="0"/>
          </a:p>
        </p:txBody>
      </p:sp>
      <p:sp>
        <p:nvSpPr>
          <p:cNvPr id="15" name="Text 13"/>
          <p:cNvSpPr/>
          <p:nvPr/>
        </p:nvSpPr>
        <p:spPr>
          <a:xfrm>
            <a:off x="713232" y="4965192"/>
            <a:ext cx="274320" cy="274320"/>
          </a:xfrm>
          <a:prstGeom prst="rect">
            <a:avLst/>
          </a:prstGeom>
          <a:noFill/>
          <a:ln/>
        </p:spPr>
        <p:txBody>
          <a:bodyPr wrap="square" rtlCol="0" anchor="ctr"/>
          <a:lstStyle/>
          <a:p>
            <a:pPr indent="0" marL="0">
              <a:buNone/>
            </a:pPr>
            <a:r>
              <a:rPr lang="en-US" sz="1300" dirty="0">
                <a:solidFill>
                  <a:srgbClr val="E88DA0"/>
                </a:solidFill>
                <a:latin typeface="Trebuchet MS" pitchFamily="34" charset="0"/>
                <a:ea typeface="Trebuchet MS" pitchFamily="34" charset="-122"/>
                <a:cs typeface="Trebuchet MS" pitchFamily="34" charset="-120"/>
              </a:rPr>
              <a:t>✕</a:t>
            </a:r>
            <a:endParaRPr lang="en-US" sz="1300" dirty="0"/>
          </a:p>
        </p:txBody>
      </p:sp>
      <p:sp>
        <p:nvSpPr>
          <p:cNvPr id="16" name="Text 14"/>
          <p:cNvSpPr/>
          <p:nvPr/>
        </p:nvSpPr>
        <p:spPr>
          <a:xfrm>
            <a:off x="1078992" y="4965192"/>
            <a:ext cx="10308031" cy="658368"/>
          </a:xfrm>
          <a:prstGeom prst="rect">
            <a:avLst/>
          </a:prstGeom>
          <a:noFill/>
          <a:ln/>
        </p:spPr>
        <p:txBody>
          <a:bodyPr wrap="square" rtlCol="0" anchor="t"/>
          <a:lstStyle/>
          <a:p>
            <a:pPr indent="0" marL="0">
              <a:lnSpc>
                <a:spcPts val="1900"/>
              </a:lnSpc>
              <a:buNone/>
            </a:pPr>
            <a:r>
              <a:rPr lang="en-US" sz="1300" dirty="0">
                <a:solidFill>
                  <a:srgbClr val="F3EDFB"/>
                </a:solidFill>
                <a:latin typeface="Trebuchet MS" pitchFamily="34" charset="0"/>
                <a:ea typeface="Trebuchet MS" pitchFamily="34" charset="-122"/>
                <a:cs typeface="Trebuchet MS" pitchFamily="34" charset="-120"/>
              </a:rPr>
              <a:t>That the trial is done. It is designed, powered and unrun.</a:t>
            </a:r>
            <a:endParaRPr lang="en-US" sz="1300" dirty="0"/>
          </a:p>
        </p:txBody>
      </p:sp>
      <p:sp>
        <p:nvSpPr>
          <p:cNvPr id="17" name="Text 15"/>
          <p:cNvSpPr/>
          <p:nvPr/>
        </p:nvSpPr>
        <p:spPr>
          <a:xfrm>
            <a:off x="713232" y="5806440"/>
            <a:ext cx="10119317" cy="411480"/>
          </a:xfrm>
          <a:prstGeom prst="rect">
            <a:avLst/>
          </a:prstGeom>
          <a:noFill/>
          <a:ln/>
        </p:spPr>
        <p:txBody>
          <a:bodyPr wrap="square" rtlCol="0" anchor="ctr"/>
          <a:lstStyle/>
          <a:p>
            <a:pPr indent="0" marL="0">
              <a:buNone/>
            </a:pPr>
            <a:r>
              <a:rPr lang="en-US" sz="1300" i="1" dirty="0">
                <a:solidFill>
                  <a:srgbClr val="EBA98C"/>
                </a:solidFill>
                <a:latin typeface="Trebuchet MS" pitchFamily="34" charset="0"/>
                <a:ea typeface="Trebuchet MS" pitchFamily="34" charset="-122"/>
                <a:cs typeface="Trebuchet MS" pitchFamily="34" charset="-120"/>
              </a:rPr>
              <a:t>Each of these costs us a stronger-sounding slide. They are the reason the rest of the deck is believable — and the reason a regulator can put their name next to it.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133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EBA98C"/>
          </a:solidFill>
          <a:ln/>
        </p:spPr>
      </p:sp>
      <p:sp>
        <p:nvSpPr>
          <p:cNvPr id="3" name="Text 1"/>
          <p:cNvSpPr/>
          <p:nvPr/>
        </p:nvSpPr>
        <p:spPr>
          <a:xfrm>
            <a:off x="1005840" y="2103120"/>
            <a:ext cx="9875520" cy="2011680"/>
          </a:xfrm>
          <a:prstGeom prst="rect">
            <a:avLst/>
          </a:prstGeom>
          <a:noFill/>
          <a:ln/>
        </p:spPr>
        <p:txBody>
          <a:bodyPr wrap="square" rtlCol="0" anchor="ctr"/>
          <a:lstStyle/>
          <a:p>
            <a:pPr indent="0" marL="0">
              <a:lnSpc>
                <a:spcPts val="3800"/>
              </a:lnSpc>
              <a:buNone/>
            </a:pPr>
            <a:r>
              <a:rPr lang="en-US" sz="2500" i="1" dirty="0">
                <a:solidFill>
                  <a:srgbClr val="F3EDFB"/>
                </a:solidFill>
                <a:latin typeface="Georgia" pitchFamily="34" charset="0"/>
                <a:ea typeface="Georgia" pitchFamily="34" charset="-122"/>
                <a:cs typeface="Georgia" pitchFamily="34" charset="-120"/>
              </a:rPr>
              <a:t>AUREN is not an AI that can produce an answer.</a:t>
            </a:r>
            <a:endParaRPr lang="en-US" sz="2500" dirty="0"/>
          </a:p>
          <a:p>
            <a:pPr indent="0" marL="0">
              <a:lnSpc>
                <a:spcPts val="3800"/>
              </a:lnSpc>
              <a:buNone/>
            </a:pPr>
            <a:r>
              <a:rPr lang="en-US" sz="2500" i="1" dirty="0">
                <a:solidFill>
                  <a:srgbClr val="F3EDFB"/>
                </a:solidFill>
                <a:latin typeface="Georgia" pitchFamily="34" charset="0"/>
                <a:ea typeface="Georgia" pitchFamily="34" charset="-122"/>
                <a:cs typeface="Georgia" pitchFamily="34" charset="-120"/>
              </a:rPr>
              <a:t>It is a regulated system that can prove why it produced that answer — and then show that the person it was produced about behaved differently under pressure.</a:t>
            </a:r>
            <a:endParaRPr lang="en-US" sz="2500" dirty="0"/>
          </a:p>
        </p:txBody>
      </p:sp>
      <p:sp>
        <p:nvSpPr>
          <p:cNvPr id="4" name="Text 2"/>
          <p:cNvSpPr/>
          <p:nvPr/>
        </p:nvSpPr>
        <p:spPr>
          <a:xfrm>
            <a:off x="1005840" y="4480560"/>
            <a:ext cx="7315200" cy="457200"/>
          </a:xfrm>
          <a:prstGeom prst="rect">
            <a:avLst/>
          </a:prstGeom>
          <a:noFill/>
          <a:ln/>
        </p:spPr>
        <p:txBody>
          <a:bodyPr wrap="square" rtlCol="0" anchor="ctr"/>
          <a:lstStyle/>
          <a:p>
            <a:pPr indent="0" marL="0">
              <a:buNone/>
            </a:pPr>
            <a:r>
              <a:rPr lang="en-US" sz="1700" dirty="0">
                <a:solidFill>
                  <a:srgbClr val="EBA98C"/>
                </a:solidFill>
                <a:latin typeface="Trebuchet MS" pitchFamily="34" charset="0"/>
                <a:ea typeface="Trebuchet MS" pitchFamily="34" charset="-122"/>
                <a:cs typeface="Trebuchet MS" pitchFamily="34" charset="-120"/>
              </a:rPr>
              <a:t>Thank you.  Questions welcome.</a:t>
            </a:r>
            <a:endParaRPr lang="en-US" sz="1700" dirty="0"/>
          </a:p>
        </p:txBody>
      </p:sp>
      <p:sp>
        <p:nvSpPr>
          <p:cNvPr id="5" name="Text 3"/>
          <p:cNvSpPr/>
          <p:nvPr/>
        </p:nvSpPr>
        <p:spPr>
          <a:xfrm>
            <a:off x="1005840" y="5943600"/>
            <a:ext cx="9601200" cy="320040"/>
          </a:xfrm>
          <a:prstGeom prst="rect">
            <a:avLst/>
          </a:prstGeom>
          <a:noFill/>
          <a:ln/>
        </p:spPr>
        <p:txBody>
          <a:bodyPr wrap="square" rtlCol="0" anchor="ctr"/>
          <a:lstStyle/>
          <a:p>
            <a:pPr indent="0" marL="0">
              <a:buNone/>
            </a:pPr>
            <a:r>
              <a:rPr lang="en-US" sz="1100" dirty="0">
                <a:solidFill>
                  <a:srgbClr val="A394C8"/>
                </a:solidFill>
                <a:latin typeface="Trebuchet MS" pitchFamily="34" charset="0"/>
                <a:ea typeface="Trebuchet MS" pitchFamily="34" charset="-122"/>
                <a:cs typeface="Trebuchet MS" pitchFamily="34" charset="-120"/>
              </a:rPr>
              <a:t>AUREN  ·  a HoloMe solution  ·  presented by BYOND Asia  ·  IOSCO TechSprint 2026</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338"/>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EBA98C"/>
          </a:solidFill>
          <a:ln/>
        </p:spPr>
      </p:sp>
      <p:sp>
        <p:nvSpPr>
          <p:cNvPr id="3" name="Text 1"/>
          <p:cNvSpPr/>
          <p:nvPr/>
        </p:nvSpPr>
        <p:spPr>
          <a:xfrm>
            <a:off x="1005840" y="2286000"/>
            <a:ext cx="9144000" cy="320040"/>
          </a:xfrm>
          <a:prstGeom prst="rect">
            <a:avLst/>
          </a:prstGeom>
          <a:noFill/>
          <a:ln/>
        </p:spPr>
        <p:txBody>
          <a:bodyPr wrap="square" rtlCol="0" anchor="ctr"/>
          <a:lstStyle/>
          <a:p>
            <a:pPr indent="0" marL="0">
              <a:buNone/>
            </a:pPr>
            <a:r>
              <a:rPr lang="en-US" sz="1200" b="1" spc="400" kern="0" dirty="0">
                <a:solidFill>
                  <a:srgbClr val="EBA98C"/>
                </a:solidFill>
                <a:latin typeface="Trebuchet MS" pitchFamily="34" charset="0"/>
                <a:ea typeface="Trebuchet MS" pitchFamily="34" charset="-122"/>
                <a:cs typeface="Trebuchet MS" pitchFamily="34" charset="-120"/>
              </a:rPr>
              <a:t>BACKUP</a:t>
            </a:r>
            <a:endParaRPr lang="en-US" sz="1200" dirty="0"/>
          </a:p>
        </p:txBody>
      </p:sp>
      <p:sp>
        <p:nvSpPr>
          <p:cNvPr id="4" name="Text 2"/>
          <p:cNvSpPr/>
          <p:nvPr/>
        </p:nvSpPr>
        <p:spPr>
          <a:xfrm>
            <a:off x="1005840" y="2651760"/>
            <a:ext cx="9692640" cy="1005840"/>
          </a:xfrm>
          <a:prstGeom prst="rect">
            <a:avLst/>
          </a:prstGeom>
          <a:noFill/>
          <a:ln/>
        </p:spPr>
        <p:txBody>
          <a:bodyPr wrap="square" rtlCol="0" anchor="ctr"/>
          <a:lstStyle/>
          <a:p>
            <a:pPr indent="0" marL="0">
              <a:buNone/>
            </a:pPr>
            <a:r>
              <a:rPr lang="en-US" sz="4000" b="1" dirty="0">
                <a:solidFill>
                  <a:srgbClr val="F3EDFB"/>
                </a:solidFill>
                <a:latin typeface="Trebuchet MS" pitchFamily="34" charset="0"/>
                <a:ea typeface="Trebuchet MS" pitchFamily="34" charset="-122"/>
                <a:cs typeface="Trebuchet MS" pitchFamily="34" charset="-120"/>
              </a:rPr>
              <a:t>Questions we expect</a:t>
            </a:r>
            <a:endParaRPr lang="en-US" sz="4000" dirty="0"/>
          </a:p>
        </p:txBody>
      </p:sp>
      <p:sp>
        <p:nvSpPr>
          <p:cNvPr id="5" name="Text 3"/>
          <p:cNvSpPr/>
          <p:nvPr/>
        </p:nvSpPr>
        <p:spPr>
          <a:xfrm>
            <a:off x="1005840" y="3703320"/>
            <a:ext cx="8778240" cy="822960"/>
          </a:xfrm>
          <a:prstGeom prst="rect">
            <a:avLst/>
          </a:prstGeom>
          <a:noFill/>
          <a:ln/>
        </p:spPr>
        <p:txBody>
          <a:bodyPr wrap="square" rtlCol="0" anchor="ctr"/>
          <a:lstStyle/>
          <a:p>
            <a:pPr indent="0" marL="0">
              <a:lnSpc>
                <a:spcPts val="2200"/>
              </a:lnSpc>
              <a:buNone/>
            </a:pPr>
            <a:r>
              <a:rPr lang="en-US" sz="1500" dirty="0">
                <a:solidFill>
                  <a:srgbClr val="A394C8"/>
                </a:solidFill>
                <a:latin typeface="Trebuchet MS" pitchFamily="34" charset="0"/>
                <a:ea typeface="Trebuchet MS" pitchFamily="34" charset="-122"/>
                <a:cs typeface="Trebuchet MS" pitchFamily="34" charset="-120"/>
              </a:rPr>
              <a:t>Held in reserve. Not part of the seven minutes.</a:t>
            </a:r>
            <a:endParaRPr lang="en-US" sz="1500" dirty="0"/>
          </a:p>
        </p:txBody>
      </p:sp>
      <p:sp>
        <p:nvSpPr>
          <p:cNvPr id="6" name="Text 4"/>
          <p:cNvSpPr/>
          <p:nvPr/>
        </p:nvSpPr>
        <p:spPr>
          <a:xfrm>
            <a:off x="11094415" y="6199632"/>
            <a:ext cx="548640" cy="274320"/>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33</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ANTICIPATED</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The five hard ones.</a:t>
            </a:r>
            <a:endParaRPr lang="en-US" sz="3400" dirty="0"/>
          </a:p>
        </p:txBody>
      </p:sp>
      <p:sp>
        <p:nvSpPr>
          <p:cNvPr id="7" name="Text 5"/>
          <p:cNvSpPr/>
          <p:nvPr/>
        </p:nvSpPr>
        <p:spPr>
          <a:xfrm>
            <a:off x="713232" y="1828800"/>
            <a:ext cx="4114800" cy="685800"/>
          </a:xfrm>
          <a:prstGeom prst="rect">
            <a:avLst/>
          </a:prstGeom>
          <a:noFill/>
          <a:ln/>
        </p:spPr>
        <p:txBody>
          <a:bodyPr wrap="square" rtlCol="0" anchor="t"/>
          <a:lstStyle/>
          <a:p>
            <a:pPr indent="0" marL="0">
              <a:lnSpc>
                <a:spcPts val="1700"/>
              </a:lnSpc>
              <a:buNone/>
            </a:pPr>
            <a:r>
              <a:rPr lang="en-US" sz="1250" b="1" dirty="0">
                <a:solidFill>
                  <a:srgbClr val="EBA98C"/>
                </a:solidFill>
                <a:latin typeface="Trebuchet MS" pitchFamily="34" charset="0"/>
                <a:ea typeface="Trebuchet MS" pitchFamily="34" charset="-122"/>
                <a:cs typeface="Trebuchet MS" pitchFamily="34" charset="-120"/>
              </a:rPr>
              <a:t>“Why can't a competitor build this in six months?”</a:t>
            </a:r>
            <a:endParaRPr lang="en-US" sz="1250" dirty="0"/>
          </a:p>
        </p:txBody>
      </p:sp>
      <p:sp>
        <p:nvSpPr>
          <p:cNvPr id="8" name="Text 6"/>
          <p:cNvSpPr/>
          <p:nvPr/>
        </p:nvSpPr>
        <p:spPr>
          <a:xfrm>
            <a:off x="5010912" y="1847088"/>
            <a:ext cx="6376111" cy="77724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They can build the loop. They cannot build the corpus — that needs multiple authorities classifying the same typologies the same way, with anchored clauses and reviewers who signed them. Nor the longitudinal evidence, which only accrues with time.</a:t>
            </a:r>
            <a:endParaRPr lang="en-US" sz="1150" dirty="0"/>
          </a:p>
        </p:txBody>
      </p:sp>
      <p:sp>
        <p:nvSpPr>
          <p:cNvPr id="9" name="Shape 7"/>
          <p:cNvSpPr/>
          <p:nvPr/>
        </p:nvSpPr>
        <p:spPr>
          <a:xfrm>
            <a:off x="713232" y="2578608"/>
            <a:ext cx="10765231" cy="7315"/>
          </a:xfrm>
          <a:prstGeom prst="rect">
            <a:avLst/>
          </a:prstGeom>
          <a:solidFill>
            <a:srgbClr val="332758"/>
          </a:solidFill>
          <a:ln/>
        </p:spPr>
      </p:sp>
      <p:sp>
        <p:nvSpPr>
          <p:cNvPr id="10" name="Text 8"/>
          <p:cNvSpPr/>
          <p:nvPr/>
        </p:nvSpPr>
        <p:spPr>
          <a:xfrm>
            <a:off x="713232" y="2697480"/>
            <a:ext cx="4114800" cy="685800"/>
          </a:xfrm>
          <a:prstGeom prst="rect">
            <a:avLst/>
          </a:prstGeom>
          <a:noFill/>
          <a:ln/>
        </p:spPr>
        <p:txBody>
          <a:bodyPr wrap="square" rtlCol="0" anchor="t"/>
          <a:lstStyle/>
          <a:p>
            <a:pPr indent="0" marL="0">
              <a:lnSpc>
                <a:spcPts val="1700"/>
              </a:lnSpc>
              <a:buNone/>
            </a:pPr>
            <a:r>
              <a:rPr lang="en-US" sz="1250" b="1" dirty="0">
                <a:solidFill>
                  <a:srgbClr val="EBA98C"/>
                </a:solidFill>
                <a:latin typeface="Trebuchet MS" pitchFamily="34" charset="0"/>
                <a:ea typeface="Trebuchet MS" pitchFamily="34" charset="-122"/>
                <a:cs typeface="Trebuchet MS" pitchFamily="34" charset="-120"/>
              </a:rPr>
              <a:t>“What if your model hallucinates?”</a:t>
            </a:r>
            <a:endParaRPr lang="en-US" sz="1250" dirty="0"/>
          </a:p>
        </p:txBody>
      </p:sp>
      <p:sp>
        <p:nvSpPr>
          <p:cNvPr id="11" name="Text 9"/>
          <p:cNvSpPr/>
          <p:nvPr/>
        </p:nvSpPr>
        <p:spPr>
          <a:xfrm>
            <a:off x="5010912" y="2715768"/>
            <a:ext cx="6376111" cy="77724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It is architecturally prevented from mattering. The model receives a closed candidate set and returns a structured object; a return citing anything outside that set is refused before it is read. We show six refusals live.</a:t>
            </a:r>
            <a:endParaRPr lang="en-US" sz="1150" dirty="0"/>
          </a:p>
        </p:txBody>
      </p:sp>
      <p:sp>
        <p:nvSpPr>
          <p:cNvPr id="12" name="Shape 10"/>
          <p:cNvSpPr/>
          <p:nvPr/>
        </p:nvSpPr>
        <p:spPr>
          <a:xfrm>
            <a:off x="713232" y="3447288"/>
            <a:ext cx="10765231" cy="7315"/>
          </a:xfrm>
          <a:prstGeom prst="rect">
            <a:avLst/>
          </a:prstGeom>
          <a:solidFill>
            <a:srgbClr val="332758"/>
          </a:solidFill>
          <a:ln/>
        </p:spPr>
      </p:sp>
      <p:sp>
        <p:nvSpPr>
          <p:cNvPr id="13" name="Text 11"/>
          <p:cNvSpPr/>
          <p:nvPr/>
        </p:nvSpPr>
        <p:spPr>
          <a:xfrm>
            <a:off x="713232" y="3566160"/>
            <a:ext cx="4114800" cy="685800"/>
          </a:xfrm>
          <a:prstGeom prst="rect">
            <a:avLst/>
          </a:prstGeom>
          <a:noFill/>
          <a:ln/>
        </p:spPr>
        <p:txBody>
          <a:bodyPr wrap="square" rtlCol="0" anchor="t"/>
          <a:lstStyle/>
          <a:p>
            <a:pPr indent="0" marL="0">
              <a:lnSpc>
                <a:spcPts val="1700"/>
              </a:lnSpc>
              <a:buNone/>
            </a:pPr>
            <a:r>
              <a:rPr lang="en-US" sz="1250" b="1" dirty="0">
                <a:solidFill>
                  <a:srgbClr val="EBA98C"/>
                </a:solidFill>
                <a:latin typeface="Trebuchet MS" pitchFamily="34" charset="0"/>
                <a:ea typeface="Trebuchet MS" pitchFamily="34" charset="-122"/>
                <a:cs typeface="Trebuchet MS" pitchFamily="34" charset="-120"/>
              </a:rPr>
              <a:t>“Is this not just gamified training?”</a:t>
            </a:r>
            <a:endParaRPr lang="en-US" sz="1250" dirty="0"/>
          </a:p>
        </p:txBody>
      </p:sp>
      <p:sp>
        <p:nvSpPr>
          <p:cNvPr id="14" name="Text 12"/>
          <p:cNvSpPr/>
          <p:nvPr/>
        </p:nvSpPr>
        <p:spPr>
          <a:xfrm>
            <a:off x="5010912" y="3584448"/>
            <a:ext cx="6376111" cy="77724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Gamified training measures completion. We measure whether a specific protective action was performed, unprompted, in a scenario sharing nothing with the one the person was coached on — and we bind the finding to their own sentence.</a:t>
            </a:r>
            <a:endParaRPr lang="en-US" sz="1150" dirty="0"/>
          </a:p>
        </p:txBody>
      </p:sp>
      <p:sp>
        <p:nvSpPr>
          <p:cNvPr id="15" name="Shape 13"/>
          <p:cNvSpPr/>
          <p:nvPr/>
        </p:nvSpPr>
        <p:spPr>
          <a:xfrm>
            <a:off x="713232" y="4315968"/>
            <a:ext cx="10765231" cy="7315"/>
          </a:xfrm>
          <a:prstGeom prst="rect">
            <a:avLst/>
          </a:prstGeom>
          <a:solidFill>
            <a:srgbClr val="332758"/>
          </a:solidFill>
          <a:ln/>
        </p:spPr>
      </p:sp>
      <p:sp>
        <p:nvSpPr>
          <p:cNvPr id="16" name="Text 14"/>
          <p:cNvSpPr/>
          <p:nvPr/>
        </p:nvSpPr>
        <p:spPr>
          <a:xfrm>
            <a:off x="713232" y="4434840"/>
            <a:ext cx="4114800" cy="685800"/>
          </a:xfrm>
          <a:prstGeom prst="rect">
            <a:avLst/>
          </a:prstGeom>
          <a:noFill/>
          <a:ln/>
        </p:spPr>
        <p:txBody>
          <a:bodyPr wrap="square" rtlCol="0" anchor="t"/>
          <a:lstStyle/>
          <a:p>
            <a:pPr indent="0" marL="0">
              <a:lnSpc>
                <a:spcPts val="1700"/>
              </a:lnSpc>
              <a:buNone/>
            </a:pPr>
            <a:r>
              <a:rPr lang="en-US" sz="1250" b="1" dirty="0">
                <a:solidFill>
                  <a:srgbClr val="EBA98C"/>
                </a:solidFill>
                <a:latin typeface="Trebuchet MS" pitchFamily="34" charset="0"/>
                <a:ea typeface="Trebuchet MS" pitchFamily="34" charset="-122"/>
                <a:cs typeface="Trebuchet MS" pitchFamily="34" charset="-120"/>
              </a:rPr>
              <a:t>“Where is the evidence it reduces losses?”</a:t>
            </a:r>
            <a:endParaRPr lang="en-US" sz="1250" dirty="0"/>
          </a:p>
        </p:txBody>
      </p:sp>
      <p:sp>
        <p:nvSpPr>
          <p:cNvPr id="17" name="Text 15"/>
          <p:cNvSpPr/>
          <p:nvPr/>
        </p:nvSpPr>
        <p:spPr>
          <a:xfrm>
            <a:off x="5010912" y="4453128"/>
            <a:ext cx="6376111" cy="77724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We do not have it and we say so. We are at rung two of a five-rung claim ladder. Rung five needs linked transaction outcomes over four quarters with a matched control — which is the fourth thing we are asking for.</a:t>
            </a:r>
            <a:endParaRPr lang="en-US" sz="1150" dirty="0"/>
          </a:p>
        </p:txBody>
      </p:sp>
      <p:sp>
        <p:nvSpPr>
          <p:cNvPr id="18" name="Shape 16"/>
          <p:cNvSpPr/>
          <p:nvPr/>
        </p:nvSpPr>
        <p:spPr>
          <a:xfrm>
            <a:off x="713232" y="5184648"/>
            <a:ext cx="10765231" cy="7315"/>
          </a:xfrm>
          <a:prstGeom prst="rect">
            <a:avLst/>
          </a:prstGeom>
          <a:solidFill>
            <a:srgbClr val="332758"/>
          </a:solidFill>
          <a:ln/>
        </p:spPr>
      </p:sp>
      <p:sp>
        <p:nvSpPr>
          <p:cNvPr id="19" name="Text 17"/>
          <p:cNvSpPr/>
          <p:nvPr/>
        </p:nvSpPr>
        <p:spPr>
          <a:xfrm>
            <a:off x="713232" y="5303520"/>
            <a:ext cx="4114800" cy="685800"/>
          </a:xfrm>
          <a:prstGeom prst="rect">
            <a:avLst/>
          </a:prstGeom>
          <a:noFill/>
          <a:ln/>
        </p:spPr>
        <p:txBody>
          <a:bodyPr wrap="square" rtlCol="0" anchor="t"/>
          <a:lstStyle/>
          <a:p>
            <a:pPr indent="0" marL="0">
              <a:lnSpc>
                <a:spcPts val="1700"/>
              </a:lnSpc>
              <a:buNone/>
            </a:pPr>
            <a:r>
              <a:rPr lang="en-US" sz="1250" b="1" dirty="0">
                <a:solidFill>
                  <a:srgbClr val="EBA98C"/>
                </a:solidFill>
                <a:latin typeface="Trebuchet MS" pitchFamily="34" charset="0"/>
                <a:ea typeface="Trebuchet MS" pitchFamily="34" charset="-122"/>
                <a:cs typeface="Trebuchet MS" pitchFamily="34" charset="-120"/>
              </a:rPr>
              <a:t>“Who owns the corpus?”</a:t>
            </a:r>
            <a:endParaRPr lang="en-US" sz="1250" dirty="0"/>
          </a:p>
        </p:txBody>
      </p:sp>
      <p:sp>
        <p:nvSpPr>
          <p:cNvPr id="20" name="Text 18"/>
          <p:cNvSpPr/>
          <p:nvPr/>
        </p:nvSpPr>
        <p:spPr>
          <a:xfrm>
            <a:off x="5010912" y="5321808"/>
            <a:ext cx="6376111" cy="777240"/>
          </a:xfrm>
          <a:prstGeom prst="rect">
            <a:avLst/>
          </a:prstGeom>
          <a:noFill/>
          <a:ln/>
        </p:spPr>
        <p:txBody>
          <a:bodyPr wrap="square" rtlCol="0" anchor="t"/>
          <a:lstStyle/>
          <a:p>
            <a:pPr indent="0" marL="0">
              <a:lnSpc>
                <a:spcPts val="1600"/>
              </a:lnSpc>
              <a:buNone/>
            </a:pPr>
            <a:r>
              <a:rPr lang="en-US" sz="1150" dirty="0">
                <a:solidFill>
                  <a:srgbClr val="A394C8"/>
                </a:solidFill>
                <a:latin typeface="Trebuchet MS" pitchFamily="34" charset="0"/>
                <a:ea typeface="Trebuchet MS" pitchFamily="34" charset="-122"/>
                <a:cs typeface="Trebuchet MS" pitchFamily="34" charset="-120"/>
              </a:rPr>
              <a:t>The open question. A shared ontology contributed to by many authorities is either a commons with a secretariat or a product with a vendor. IOSCO is the obvious secretariat. That is a governance decision before it is a schema, and we would rather have it decided than assumed.</a:t>
            </a:r>
            <a:endParaRPr lang="en-US" sz="1150" dirty="0"/>
          </a:p>
        </p:txBody>
      </p:sp>
      <p:sp>
        <p:nvSpPr>
          <p:cNvPr id="21" name="Shape 19"/>
          <p:cNvSpPr/>
          <p:nvPr/>
        </p:nvSpPr>
        <p:spPr>
          <a:xfrm>
            <a:off x="713232" y="6053328"/>
            <a:ext cx="10765231" cy="7315"/>
          </a:xfrm>
          <a:prstGeom prst="rect">
            <a:avLst/>
          </a:prstGeom>
          <a:solidFill>
            <a:srgbClr val="332758"/>
          </a:solidFill>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820"/>
        </a:solidFill>
      </p:bgPr>
    </p:bg>
    <p:spTree>
      <p:nvGrpSpPr>
        <p:cNvPr id="1" name=""/>
        <p:cNvGrpSpPr/>
        <p:nvPr/>
      </p:nvGrpSpPr>
      <p:grpSpPr>
        <a:xfrm>
          <a:off x="0" y="0"/>
          <a:ext cx="0" cy="0"/>
          <a:chOff x="0" y="0"/>
          <a:chExt cx="0" cy="0"/>
        </a:xfrm>
      </p:grpSpPr>
      <p:sp>
        <p:nvSpPr>
          <p:cNvPr id="2" name="Shape 0"/>
          <p:cNvSpPr/>
          <p:nvPr/>
        </p:nvSpPr>
        <p:spPr>
          <a:xfrm>
            <a:off x="0" y="6473952"/>
            <a:ext cx="12191695" cy="10973"/>
          </a:xfrm>
          <a:prstGeom prst="rect">
            <a:avLst/>
          </a:prstGeom>
          <a:solidFill>
            <a:srgbClr val="332758"/>
          </a:solidFill>
          <a:ln/>
        </p:spPr>
      </p:sp>
      <p:sp>
        <p:nvSpPr>
          <p:cNvPr id="3" name="Text 1"/>
          <p:cNvSpPr/>
          <p:nvPr/>
        </p:nvSpPr>
        <p:spPr>
          <a:xfrm>
            <a:off x="713232" y="6528816"/>
            <a:ext cx="7535662" cy="256032"/>
          </a:xfrm>
          <a:prstGeom prst="rect">
            <a:avLst/>
          </a:prstGeom>
          <a:noFill/>
          <a:ln/>
        </p:spPr>
        <p:txBody>
          <a:bodyPr wrap="square" rtlCol="0" anchor="ctr"/>
          <a:lstStyle/>
          <a:p>
            <a:pPr indent="0" marL="0">
              <a:buNone/>
            </a:pPr>
            <a:r>
              <a:rPr lang="en-US" sz="900" b="1" spc="200" kern="0" dirty="0">
                <a:solidFill>
                  <a:srgbClr val="C7B3F0"/>
                </a:solidFill>
                <a:latin typeface="Trebuchet MS" pitchFamily="34" charset="0"/>
                <a:ea typeface="Trebuchet MS" pitchFamily="34" charset="-122"/>
                <a:cs typeface="Trebuchet MS" pitchFamily="34" charset="-120"/>
              </a:rPr>
              <a:t>AUREN</a:t>
            </a:r>
            <a:pPr indent="0" marL="0">
              <a:buNone/>
            </a:pPr>
            <a:r>
              <a:rPr lang="en-US" sz="900" dirty="0">
                <a:solidFill>
                  <a:srgbClr val="7A6AA8"/>
                </a:solidFill>
                <a:latin typeface="Trebuchet MS" pitchFamily="34" charset="0"/>
                <a:ea typeface="Trebuchet MS" pitchFamily="34" charset="-122"/>
                <a:cs typeface="Trebuchet MS" pitchFamily="34" charset="-120"/>
              </a:rPr>
              <a:t>   a HoloMe solution  ·  presented by BYOND Asia</a:t>
            </a:r>
            <a:endParaRPr lang="en-US" sz="900" dirty="0"/>
          </a:p>
        </p:txBody>
      </p:sp>
      <p:sp>
        <p:nvSpPr>
          <p:cNvPr id="4" name="Text 2"/>
          <p:cNvSpPr/>
          <p:nvPr/>
        </p:nvSpPr>
        <p:spPr>
          <a:xfrm>
            <a:off x="10929823" y="6528816"/>
            <a:ext cx="548640" cy="256032"/>
          </a:xfrm>
          <a:prstGeom prst="rect">
            <a:avLst/>
          </a:prstGeom>
          <a:noFill/>
          <a:ln/>
        </p:spPr>
        <p:txBody>
          <a:bodyPr wrap="square" rtlCol="0" anchor="ctr"/>
          <a:lstStyle/>
          <a:p>
            <a:pPr algn="r" indent="0" marL="0">
              <a:buNone/>
            </a:pPr>
            <a:r>
              <a:rPr lang="en-US" sz="900" dirty="0">
                <a:solidFill>
                  <a:srgbClr val="7A6AA8"/>
                </a:solidFill>
                <a:latin typeface="Consolas" pitchFamily="34" charset="0"/>
                <a:ea typeface="Consolas" pitchFamily="34" charset="-122"/>
                <a:cs typeface="Consolas" pitchFamily="34" charset="-120"/>
              </a:rPr>
              <a:t>34</a:t>
            </a:r>
            <a:endParaRPr lang="en-US" sz="900" dirty="0"/>
          </a:p>
        </p:txBody>
      </p:sp>
      <p:sp>
        <p:nvSpPr>
          <p:cNvPr id="5" name="Text 3"/>
          <p:cNvSpPr/>
          <p:nvPr/>
        </p:nvSpPr>
        <p:spPr>
          <a:xfrm>
            <a:off x="713232" y="475488"/>
            <a:ext cx="10765231" cy="274320"/>
          </a:xfrm>
          <a:prstGeom prst="rect">
            <a:avLst/>
          </a:prstGeom>
          <a:noFill/>
          <a:ln/>
        </p:spPr>
        <p:txBody>
          <a:bodyPr wrap="square" rtlCol="0" anchor="ctr"/>
          <a:lstStyle/>
          <a:p>
            <a:pPr indent="0" marL="0">
              <a:buNone/>
            </a:pPr>
            <a:r>
              <a:rPr lang="en-US" sz="1100" b="1" spc="300" kern="0" dirty="0">
                <a:solidFill>
                  <a:srgbClr val="EBA98C"/>
                </a:solidFill>
                <a:latin typeface="Trebuchet MS" pitchFamily="34" charset="0"/>
                <a:ea typeface="Trebuchet MS" pitchFamily="34" charset="-122"/>
                <a:cs typeface="Trebuchet MS" pitchFamily="34" charset="-120"/>
              </a:rPr>
              <a:t>BACKUP</a:t>
            </a:r>
            <a:endParaRPr lang="en-US" sz="1100" dirty="0"/>
          </a:p>
        </p:txBody>
      </p:sp>
      <p:sp>
        <p:nvSpPr>
          <p:cNvPr id="6" name="Text 4"/>
          <p:cNvSpPr/>
          <p:nvPr/>
        </p:nvSpPr>
        <p:spPr>
          <a:xfrm>
            <a:off x="713232" y="786384"/>
            <a:ext cx="10765231" cy="822960"/>
          </a:xfrm>
          <a:prstGeom prst="rect">
            <a:avLst/>
          </a:prstGeom>
          <a:noFill/>
          <a:ln/>
        </p:spPr>
        <p:txBody>
          <a:bodyPr wrap="square" rtlCol="0" anchor="t"/>
          <a:lstStyle/>
          <a:p>
            <a:pPr indent="0" marL="0">
              <a:buNone/>
            </a:pPr>
            <a:r>
              <a:rPr lang="en-US" sz="3400" b="1" dirty="0">
                <a:solidFill>
                  <a:srgbClr val="F3EDFB"/>
                </a:solidFill>
                <a:latin typeface="Trebuchet MS" pitchFamily="34" charset="0"/>
                <a:ea typeface="Trebuchet MS" pitchFamily="34" charset="-122"/>
                <a:cs typeface="Trebuchet MS" pitchFamily="34" charset="-120"/>
              </a:rPr>
              <a:t>The publish gate — ten tests, seven blocking, no waive path.</a:t>
            </a:r>
            <a:endParaRPr lang="en-US" sz="3400" dirty="0"/>
          </a:p>
        </p:txBody>
      </p:sp>
      <p:sp>
        <p:nvSpPr>
          <p:cNvPr id="7" name="Shape 5"/>
          <p:cNvSpPr/>
          <p:nvPr/>
        </p:nvSpPr>
        <p:spPr>
          <a:xfrm>
            <a:off x="713232" y="1920240"/>
            <a:ext cx="10765231" cy="314554"/>
          </a:xfrm>
          <a:prstGeom prst="rect">
            <a:avLst/>
          </a:prstGeom>
          <a:solidFill>
            <a:srgbClr val="241B52"/>
          </a:solidFill>
          <a:ln/>
        </p:spPr>
      </p:sp>
      <p:sp>
        <p:nvSpPr>
          <p:cNvPr id="8" name="Text 6"/>
          <p:cNvSpPr/>
          <p:nvPr/>
        </p:nvSpPr>
        <p:spPr>
          <a:xfrm>
            <a:off x="841248" y="1920240"/>
            <a:ext cx="2670048" cy="314554"/>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Test</a:t>
            </a:r>
            <a:endParaRPr lang="en-US" sz="950" dirty="0"/>
          </a:p>
        </p:txBody>
      </p:sp>
      <p:sp>
        <p:nvSpPr>
          <p:cNvPr id="9" name="Text 7"/>
          <p:cNvSpPr/>
          <p:nvPr/>
        </p:nvSpPr>
        <p:spPr>
          <a:xfrm>
            <a:off x="3767328" y="1920240"/>
            <a:ext cx="7580376" cy="314554"/>
          </a:xfrm>
          <a:prstGeom prst="rect">
            <a:avLst/>
          </a:prstGeom>
          <a:noFill/>
          <a:ln/>
        </p:spPr>
        <p:txBody>
          <a:bodyPr wrap="square" rtlCol="0" anchor="ctr"/>
          <a:lstStyle/>
          <a:p>
            <a:pPr indent="0" marL="0">
              <a:lnSpc>
                <a:spcPts val="1400"/>
              </a:lnSpc>
              <a:buNone/>
            </a:pPr>
            <a:r>
              <a:rPr lang="en-US" sz="950" b="1" spc="140" kern="0" dirty="0">
                <a:solidFill>
                  <a:srgbClr val="C7B3F0"/>
                </a:solidFill>
                <a:latin typeface="Trebuchet MS" pitchFamily="34" charset="0"/>
                <a:ea typeface="Trebuchet MS" pitchFamily="34" charset="-122"/>
                <a:cs typeface="Trebuchet MS" pitchFamily="34" charset="-120"/>
              </a:rPr>
              <a:t>Asserts</a:t>
            </a:r>
            <a:endParaRPr lang="en-US" sz="950" dirty="0"/>
          </a:p>
        </p:txBody>
      </p:sp>
      <p:sp>
        <p:nvSpPr>
          <p:cNvPr id="10" name="Text 8"/>
          <p:cNvSpPr/>
          <p:nvPr/>
        </p:nvSpPr>
        <p:spPr>
          <a:xfrm>
            <a:off x="841248" y="2234794"/>
            <a:ext cx="2670048"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Candidate set</a:t>
            </a:r>
            <a:endParaRPr lang="en-US" sz="1100" dirty="0"/>
          </a:p>
        </p:txBody>
      </p:sp>
      <p:sp>
        <p:nvSpPr>
          <p:cNvPr id="11" name="Text 9"/>
          <p:cNvSpPr/>
          <p:nvPr/>
        </p:nvSpPr>
        <p:spPr>
          <a:xfrm>
            <a:off x="3767328" y="2234794"/>
            <a:ext cx="7580376"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At least one object has reached EFFECTIVE and is in the bundle.</a:t>
            </a:r>
            <a:endParaRPr lang="en-US" sz="1100" dirty="0"/>
          </a:p>
        </p:txBody>
      </p:sp>
      <p:sp>
        <p:nvSpPr>
          <p:cNvPr id="12" name="Shape 10"/>
          <p:cNvSpPr/>
          <p:nvPr/>
        </p:nvSpPr>
        <p:spPr>
          <a:xfrm>
            <a:off x="713232" y="2600554"/>
            <a:ext cx="10765231" cy="365760"/>
          </a:xfrm>
          <a:prstGeom prst="rect">
            <a:avLst/>
          </a:prstGeom>
          <a:solidFill>
            <a:srgbClr val="150F35"/>
          </a:solidFill>
          <a:ln/>
        </p:spPr>
      </p:sp>
      <p:sp>
        <p:nvSpPr>
          <p:cNvPr id="13" name="Text 11"/>
          <p:cNvSpPr/>
          <p:nvPr/>
        </p:nvSpPr>
        <p:spPr>
          <a:xfrm>
            <a:off x="841248" y="2600554"/>
            <a:ext cx="2670048"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Coverage</a:t>
            </a:r>
            <a:endParaRPr lang="en-US" sz="1100" dirty="0"/>
          </a:p>
        </p:txBody>
      </p:sp>
      <p:sp>
        <p:nvSpPr>
          <p:cNvPr id="14" name="Text 12"/>
          <p:cNvSpPr/>
          <p:nvPr/>
        </p:nvSpPr>
        <p:spPr>
          <a:xfrm>
            <a:off x="3767328" y="2600554"/>
            <a:ext cx="7580376"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Every mandatory, capturable element has at least one eligible question.</a:t>
            </a:r>
            <a:endParaRPr lang="en-US" sz="1100" dirty="0"/>
          </a:p>
        </p:txBody>
      </p:sp>
      <p:sp>
        <p:nvSpPr>
          <p:cNvPr id="15" name="Text 13"/>
          <p:cNvSpPr/>
          <p:nvPr/>
        </p:nvSpPr>
        <p:spPr>
          <a:xfrm>
            <a:off x="841248" y="2966314"/>
            <a:ext cx="2670048"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Anchor integrity</a:t>
            </a:r>
            <a:endParaRPr lang="en-US" sz="1100" dirty="0"/>
          </a:p>
        </p:txBody>
      </p:sp>
      <p:sp>
        <p:nvSpPr>
          <p:cNvPr id="16" name="Text 14"/>
          <p:cNvSpPr/>
          <p:nvPr/>
        </p:nvSpPr>
        <p:spPr>
          <a:xfrm>
            <a:off x="3767328" y="2966314"/>
            <a:ext cx="7580376"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Every element binds to a published clause in the anchor authority.</a:t>
            </a:r>
            <a:endParaRPr lang="en-US" sz="1100" dirty="0"/>
          </a:p>
        </p:txBody>
      </p:sp>
      <p:sp>
        <p:nvSpPr>
          <p:cNvPr id="17" name="Shape 15"/>
          <p:cNvSpPr/>
          <p:nvPr/>
        </p:nvSpPr>
        <p:spPr>
          <a:xfrm>
            <a:off x="713232" y="3332074"/>
            <a:ext cx="10765231" cy="365760"/>
          </a:xfrm>
          <a:prstGeom prst="rect">
            <a:avLst/>
          </a:prstGeom>
          <a:solidFill>
            <a:srgbClr val="150F35"/>
          </a:solidFill>
          <a:ln/>
        </p:spPr>
      </p:sp>
      <p:sp>
        <p:nvSpPr>
          <p:cNvPr id="18" name="Text 16"/>
          <p:cNvSpPr/>
          <p:nvPr/>
        </p:nvSpPr>
        <p:spPr>
          <a:xfrm>
            <a:off x="841248" y="3332074"/>
            <a:ext cx="2670048"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Prohibited formulation</a:t>
            </a:r>
            <a:endParaRPr lang="en-US" sz="1100" dirty="0"/>
          </a:p>
        </p:txBody>
      </p:sp>
      <p:sp>
        <p:nvSpPr>
          <p:cNvPr id="19" name="Text 17"/>
          <p:cNvSpPr/>
          <p:nvPr/>
        </p:nvSpPr>
        <p:spPr>
          <a:xfrm>
            <a:off x="3767328" y="3332074"/>
            <a:ext cx="7580376"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No unrationalised leading risk, no ladder above its ceiling, no forbidden phrasing.</a:t>
            </a:r>
            <a:endParaRPr lang="en-US" sz="1100" dirty="0"/>
          </a:p>
        </p:txBody>
      </p:sp>
      <p:sp>
        <p:nvSpPr>
          <p:cNvPr id="20" name="Text 18"/>
          <p:cNvSpPr/>
          <p:nvPr/>
        </p:nvSpPr>
        <p:spPr>
          <a:xfrm>
            <a:off x="841248" y="3697834"/>
            <a:ext cx="2670048"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Scope integrity</a:t>
            </a:r>
            <a:endParaRPr lang="en-US" sz="1100" dirty="0"/>
          </a:p>
        </p:txBody>
      </p:sp>
      <p:sp>
        <p:nvSpPr>
          <p:cNvPr id="21" name="Text 19"/>
          <p:cNvSpPr/>
          <p:nvPr/>
        </p:nvSpPr>
        <p:spPr>
          <a:xfrm>
            <a:off x="3767328" y="3697834"/>
            <a:ext cx="7580376"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No object is reachable outside its declared mode, market or doctrine.</a:t>
            </a:r>
            <a:endParaRPr lang="en-US" sz="1100" dirty="0"/>
          </a:p>
        </p:txBody>
      </p:sp>
      <p:sp>
        <p:nvSpPr>
          <p:cNvPr id="22" name="Shape 20"/>
          <p:cNvSpPr/>
          <p:nvPr/>
        </p:nvSpPr>
        <p:spPr>
          <a:xfrm>
            <a:off x="713232" y="4063594"/>
            <a:ext cx="10765231" cy="365760"/>
          </a:xfrm>
          <a:prstGeom prst="rect">
            <a:avLst/>
          </a:prstGeom>
          <a:solidFill>
            <a:srgbClr val="150F35"/>
          </a:solidFill>
          <a:ln/>
        </p:spPr>
      </p:sp>
      <p:sp>
        <p:nvSpPr>
          <p:cNvPr id="23" name="Text 21"/>
          <p:cNvSpPr/>
          <p:nvPr/>
        </p:nvSpPr>
        <p:spPr>
          <a:xfrm>
            <a:off x="841248" y="4063594"/>
            <a:ext cx="2670048"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Boundary refusal</a:t>
            </a:r>
            <a:endParaRPr lang="en-US" sz="1100" dirty="0"/>
          </a:p>
        </p:txBody>
      </p:sp>
      <p:sp>
        <p:nvSpPr>
          <p:cNvPr id="24" name="Text 22"/>
          <p:cNvSpPr/>
          <p:nvPr/>
        </p:nvSpPr>
        <p:spPr>
          <a:xfrm>
            <a:off x="3767328" y="4063594"/>
            <a:ext cx="7580376"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The hard boundary is declared and proven in every deployed language.</a:t>
            </a:r>
            <a:endParaRPr lang="en-US" sz="1100" dirty="0"/>
          </a:p>
        </p:txBody>
      </p:sp>
      <p:sp>
        <p:nvSpPr>
          <p:cNvPr id="25" name="Text 23"/>
          <p:cNvSpPr/>
          <p:nvPr/>
        </p:nvSpPr>
        <p:spPr>
          <a:xfrm>
            <a:off x="841248" y="4429354"/>
            <a:ext cx="2670048"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Version consistency</a:t>
            </a:r>
            <a:endParaRPr lang="en-US" sz="1100" dirty="0"/>
          </a:p>
        </p:txBody>
      </p:sp>
      <p:sp>
        <p:nvSpPr>
          <p:cNvPr id="26" name="Text 24"/>
          <p:cNvSpPr/>
          <p:nvPr/>
        </p:nvSpPr>
        <p:spPr>
          <a:xfrm>
            <a:off x="3767328" y="4429354"/>
            <a:ext cx="7580376" cy="365760"/>
          </a:xfrm>
          <a:prstGeom prst="rect">
            <a:avLst/>
          </a:prstGeom>
          <a:noFill/>
          <a:ln/>
        </p:spPr>
        <p:txBody>
          <a:bodyPr wrap="square" rtlCol="0" anchor="ctr"/>
          <a:lstStyle/>
          <a:p>
            <a:pPr indent="0" marL="0">
              <a:lnSpc>
                <a:spcPts val="1400"/>
              </a:lnSpc>
              <a:buNone/>
            </a:pPr>
            <a:r>
              <a:rPr lang="en-US" sz="1100" dirty="0">
                <a:solidFill>
                  <a:srgbClr val="F3EDFB"/>
                </a:solidFill>
                <a:latin typeface="Trebuchet MS" pitchFamily="34" charset="0"/>
                <a:ea typeface="Trebuchet MS" pitchFamily="34" charset="-122"/>
                <a:cs typeface="Trebuchet MS" pitchFamily="34" charset="-120"/>
              </a:rPr>
              <a:t>Every reference resolves to an object present in the same bundle.</a:t>
            </a:r>
            <a:endParaRPr lang="en-US" sz="1100" dirty="0"/>
          </a:p>
        </p:txBody>
      </p:sp>
      <p:sp>
        <p:nvSpPr>
          <p:cNvPr id="27" name="Shape 25"/>
          <p:cNvSpPr/>
          <p:nvPr/>
        </p:nvSpPr>
        <p:spPr>
          <a:xfrm>
            <a:off x="713232" y="4795114"/>
            <a:ext cx="10765231" cy="365760"/>
          </a:xfrm>
          <a:prstGeom prst="rect">
            <a:avLst/>
          </a:prstGeom>
          <a:solidFill>
            <a:srgbClr val="150F35"/>
          </a:solidFill>
          <a:ln/>
        </p:spPr>
      </p:sp>
      <p:sp>
        <p:nvSpPr>
          <p:cNvPr id="28" name="Text 26"/>
          <p:cNvSpPr/>
          <p:nvPr/>
        </p:nvSpPr>
        <p:spPr>
          <a:xfrm>
            <a:off x="841248" y="4795114"/>
            <a:ext cx="2670048" cy="365760"/>
          </a:xfrm>
          <a:prstGeom prst="rect">
            <a:avLst/>
          </a:prstGeom>
          <a:noFill/>
          <a:ln/>
        </p:spPr>
        <p:txBody>
          <a:bodyPr wrap="square" rtlCol="0" anchor="ctr"/>
          <a:lstStyle/>
          <a:p>
            <a:pPr indent="0" marL="0">
              <a:lnSpc>
                <a:spcPts val="1400"/>
              </a:lnSpc>
              <a:buNone/>
            </a:pPr>
            <a:r>
              <a:rPr lang="en-US" sz="1100" dirty="0">
                <a:solidFill>
                  <a:srgbClr val="A394C8"/>
                </a:solidFill>
                <a:latin typeface="Trebuchet MS" pitchFamily="34" charset="0"/>
                <a:ea typeface="Trebuchet MS" pitchFamily="34" charset="-122"/>
                <a:cs typeface="Trebuchet MS" pitchFamily="34" charset="-120"/>
              </a:rPr>
              <a:t>Adversarial probe</a:t>
            </a:r>
            <a:endParaRPr lang="en-US" sz="1100" dirty="0"/>
          </a:p>
        </p:txBody>
      </p:sp>
      <p:sp>
        <p:nvSpPr>
          <p:cNvPr id="29" name="Text 27"/>
          <p:cNvSpPr/>
          <p:nvPr/>
        </p:nvSpPr>
        <p:spPr>
          <a:xfrm>
            <a:off x="3767328" y="4795114"/>
            <a:ext cx="7580376" cy="365760"/>
          </a:xfrm>
          <a:prstGeom prst="rect">
            <a:avLst/>
          </a:prstGeom>
          <a:noFill/>
          <a:ln/>
        </p:spPr>
        <p:txBody>
          <a:bodyPr wrap="square" rtlCol="0" anchor="ctr"/>
          <a:lstStyle/>
          <a:p>
            <a:pPr indent="0" marL="0">
              <a:lnSpc>
                <a:spcPts val="1400"/>
              </a:lnSpc>
              <a:buNone/>
            </a:pPr>
            <a:r>
              <a:rPr lang="en-US" sz="1100" dirty="0">
                <a:solidFill>
                  <a:srgbClr val="A394C8"/>
                </a:solidFill>
                <a:latin typeface="Trebuchet MS" pitchFamily="34" charset="0"/>
                <a:ea typeface="Trebuchet MS" pitchFamily="34" charset="-122"/>
                <a:cs typeface="Trebuchet MS" pitchFamily="34" charset="-120"/>
              </a:rPr>
              <a:t>Advisory — the released set holds under hostile and leading questioning.</a:t>
            </a:r>
            <a:endParaRPr lang="en-US" sz="1100" dirty="0"/>
          </a:p>
        </p:txBody>
      </p:sp>
      <p:sp>
        <p:nvSpPr>
          <p:cNvPr id="30" name="Text 28"/>
          <p:cNvSpPr/>
          <p:nvPr/>
        </p:nvSpPr>
        <p:spPr>
          <a:xfrm>
            <a:off x="841248" y="5160874"/>
            <a:ext cx="2670048" cy="365760"/>
          </a:xfrm>
          <a:prstGeom prst="rect">
            <a:avLst/>
          </a:prstGeom>
          <a:noFill/>
          <a:ln/>
        </p:spPr>
        <p:txBody>
          <a:bodyPr wrap="square" rtlCol="0" anchor="ctr"/>
          <a:lstStyle/>
          <a:p>
            <a:pPr indent="0" marL="0">
              <a:lnSpc>
                <a:spcPts val="1400"/>
              </a:lnSpc>
              <a:buNone/>
            </a:pPr>
            <a:r>
              <a:rPr lang="en-US" sz="1100" dirty="0">
                <a:solidFill>
                  <a:srgbClr val="A394C8"/>
                </a:solidFill>
                <a:latin typeface="Trebuchet MS" pitchFamily="34" charset="0"/>
                <a:ea typeface="Trebuchet MS" pitchFamily="34" charset="-122"/>
                <a:cs typeface="Trebuchet MS" pitchFamily="34" charset="-120"/>
              </a:rPr>
              <a:t>Translation fidelity</a:t>
            </a:r>
            <a:endParaRPr lang="en-US" sz="1100" dirty="0"/>
          </a:p>
        </p:txBody>
      </p:sp>
      <p:sp>
        <p:nvSpPr>
          <p:cNvPr id="31" name="Text 29"/>
          <p:cNvSpPr/>
          <p:nvPr/>
        </p:nvSpPr>
        <p:spPr>
          <a:xfrm>
            <a:off x="3767328" y="5160874"/>
            <a:ext cx="7580376" cy="365760"/>
          </a:xfrm>
          <a:prstGeom prst="rect">
            <a:avLst/>
          </a:prstGeom>
          <a:noFill/>
          <a:ln/>
        </p:spPr>
        <p:txBody>
          <a:bodyPr wrap="square" rtlCol="0" anchor="ctr"/>
          <a:lstStyle/>
          <a:p>
            <a:pPr indent="0" marL="0">
              <a:lnSpc>
                <a:spcPts val="1400"/>
              </a:lnSpc>
              <a:buNone/>
            </a:pPr>
            <a:r>
              <a:rPr lang="en-US" sz="1100" dirty="0">
                <a:solidFill>
                  <a:srgbClr val="A394C8"/>
                </a:solidFill>
                <a:latin typeface="Trebuchet MS" pitchFamily="34" charset="0"/>
                <a:ea typeface="Trebuchet MS" pitchFamily="34" charset="-122"/>
                <a:cs typeface="Trebuchet MS" pitchFamily="34" charset="-120"/>
              </a:rPr>
              <a:t>Advisory — every deployable variant has passed native review.</a:t>
            </a:r>
            <a:endParaRPr lang="en-US" sz="1100" dirty="0"/>
          </a:p>
        </p:txBody>
      </p:sp>
      <p:sp>
        <p:nvSpPr>
          <p:cNvPr id="32" name="Shape 30"/>
          <p:cNvSpPr/>
          <p:nvPr/>
        </p:nvSpPr>
        <p:spPr>
          <a:xfrm>
            <a:off x="713232" y="5526634"/>
            <a:ext cx="10765231" cy="365760"/>
          </a:xfrm>
          <a:prstGeom prst="rect">
            <a:avLst/>
          </a:prstGeom>
          <a:solidFill>
            <a:srgbClr val="150F35"/>
          </a:solidFill>
          <a:ln/>
        </p:spPr>
      </p:sp>
      <p:sp>
        <p:nvSpPr>
          <p:cNvPr id="33" name="Text 31"/>
          <p:cNvSpPr/>
          <p:nvPr/>
        </p:nvSpPr>
        <p:spPr>
          <a:xfrm>
            <a:off x="841248" y="5526634"/>
            <a:ext cx="2670048" cy="365760"/>
          </a:xfrm>
          <a:prstGeom prst="rect">
            <a:avLst/>
          </a:prstGeom>
          <a:noFill/>
          <a:ln/>
        </p:spPr>
        <p:txBody>
          <a:bodyPr wrap="square" rtlCol="0" anchor="ctr"/>
          <a:lstStyle/>
          <a:p>
            <a:pPr indent="0" marL="0">
              <a:lnSpc>
                <a:spcPts val="1400"/>
              </a:lnSpc>
              <a:buNone/>
            </a:pPr>
            <a:r>
              <a:rPr lang="en-US" sz="1100" dirty="0">
                <a:solidFill>
                  <a:srgbClr val="A394C8"/>
                </a:solidFill>
                <a:latin typeface="Trebuchet MS" pitchFamily="34" charset="0"/>
                <a:ea typeface="Trebuchet MS" pitchFamily="34" charset="-122"/>
                <a:cs typeface="Trebuchet MS" pitchFamily="34" charset="-120"/>
              </a:rPr>
              <a:t>Traceability</a:t>
            </a:r>
            <a:endParaRPr lang="en-US" sz="1100" dirty="0"/>
          </a:p>
        </p:txBody>
      </p:sp>
      <p:sp>
        <p:nvSpPr>
          <p:cNvPr id="34" name="Text 32"/>
          <p:cNvSpPr/>
          <p:nvPr/>
        </p:nvSpPr>
        <p:spPr>
          <a:xfrm>
            <a:off x="3767328" y="5526634"/>
            <a:ext cx="7580376" cy="365760"/>
          </a:xfrm>
          <a:prstGeom prst="rect">
            <a:avLst/>
          </a:prstGeom>
          <a:noFill/>
          <a:ln/>
        </p:spPr>
        <p:txBody>
          <a:bodyPr wrap="square" rtlCol="0" anchor="ctr"/>
          <a:lstStyle/>
          <a:p>
            <a:pPr indent="0" marL="0">
              <a:lnSpc>
                <a:spcPts val="1400"/>
              </a:lnSpc>
              <a:buNone/>
            </a:pPr>
            <a:r>
              <a:rPr lang="en-US" sz="1100" dirty="0">
                <a:solidFill>
                  <a:srgbClr val="A394C8"/>
                </a:solidFill>
                <a:latin typeface="Trebuchet MS" pitchFamily="34" charset="0"/>
                <a:ea typeface="Trebuchet MS" pitchFamily="34" charset="-122"/>
                <a:cs typeface="Trebuchet MS" pitchFamily="34" charset="-120"/>
              </a:rPr>
              <a:t>Advisory — every determination resolves to an object, a version and a span.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HoloMe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AUREN — a HoloMe solution</dc:title>
  <dc:subject>IOSCO TechSprint 2026</dc:subject>
  <dc:creator>BYOND Asia</dc:creator>
  <cp:lastModifiedBy>BYOND Asia</cp:lastModifiedBy>
  <cp:revision>1</cp:revision>
  <dcterms:created xsi:type="dcterms:W3CDTF">2026-09-19T16:04:22Z</dcterms:created>
  <dcterms:modified xsi:type="dcterms:W3CDTF">2026-09-19T16:04:22Z</dcterms:modified>
</cp:coreProperties>
</file>