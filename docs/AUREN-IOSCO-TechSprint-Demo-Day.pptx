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name, BYOND Asia, and straight in. No company history; you do not have the seconds. The first sentence is the thesis: 'Investor education tells people what to look for. Fraud does not arrive as information — it arrives as pressure.' TIMING: this slide is on screen for about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retail investor can pass every quiz and still wire the money on a Tuesday afternoon, because the quiz and the fraud are not the same event.
OPTIONAL: if you have a SOURCED loss figure for retail investment fraud in your target market, add it here as a single large stat. Do not present an unsourced number to this audience — a regulator will ask for the source and an unattributed figure costs more credibility than it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cards. Say the three words — problem, proposal, outcome — and land on: 'the output is a record, not a score.'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regulators in the room came for. Land the closed-generation point explicitly: 'the model orchestrates approved content, it never authors it at runtime.' If you say one sentence from this deck that they remember, make it the black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DO NOT NARRATE. Two minutes is the single biggest block in the whole slot and the judges remember it above everything else.
RECOMMENDATION: present a RECORDED run and keep the live build open in a second window as backup. Two minutes of live speech recognition, on conference wi-fi, in a room with ambient noise, is the highest-variance 120 seconds of your entire presentation, and a failed live demo costs more than a recorded one gains.
If you do run live: headphones or a lapel mic, and pick the ONE beat you cannot afford to lose — the coach moment, where the investor's own sentence comes back to them.
Show the language switch for about five seconds. Do not conduct the demo in a language you have not had natively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Seventy-five seconds. Read the green rows fast — they are not where the credibility is. SLOW DOWN on the last three. Saying out loud that you do not claim durable behaviour change, and that three language variants are not yet cleared for deployment, is what makes the rest believable to a regulatory audience. The FCA guidance explicitly invites the journey and the challenges. Take it.
Bridge line into the deep dive: 'and the one we did not expect — our own gate blocked our own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and it is the most persuasive minute you have with this audience. The point is not that the defect existed — it is that the machinery surfaced it, in public, before an investor met it.
Expect the Q&amp;A question: 'who decides what is approved?' Answer: a named human reviewer in a declared role, with the role recorded on the object and the individual's name recorded on the release event. Appendix slide 5 has the gate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Do not read all four. Say the first two properly, gesture at the last two, and stop early — finishing at 6:45 reads as control; running to 7:20 reads as a team that did not rehearse. End on the closing slide's sentence, not on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lines. Stop. Do not add a thank-you paragraph.
Add presenter names and a contact address here before the deck leaves the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733"/>
        </a:solidFill>
      </p:bgPr>
    </p:bg>
    <p:spTree>
      <p:nvGrpSpPr>
        <p:cNvPr id="1" name=""/>
        <p:cNvGrpSpPr/>
        <p:nvPr/>
      </p:nvGrpSpPr>
      <p:grpSpPr>
        <a:xfrm>
          <a:off x="0" y="0"/>
          <a:ext cx="0" cy="0"/>
          <a:chOff x="0" y="0"/>
          <a:chExt cx="0" cy="0"/>
        </a:xfrm>
      </p:grpSpPr>
      <p:sp>
        <p:nvSpPr>
          <p:cNvPr id="2" name="Shape 0"/>
          <p:cNvSpPr/>
          <p:nvPr/>
        </p:nvSpPr>
        <p:spPr>
          <a:xfrm>
            <a:off x="8686800" y="-1371600"/>
            <a:ext cx="5120640" cy="5120640"/>
          </a:xfrm>
          <a:prstGeom prst="ellipse">
            <a:avLst/>
          </a:prstGeom>
          <a:solidFill>
            <a:srgbClr val="5A4A96">
              <a:alpha val="28000"/>
            </a:srgbClr>
          </a:solidFill>
          <a:ln/>
        </p:spPr>
      </p:sp>
      <p:sp>
        <p:nvSpPr>
          <p:cNvPr id="3" name="Shape 1"/>
          <p:cNvSpPr/>
          <p:nvPr/>
        </p:nvSpPr>
        <p:spPr>
          <a:xfrm>
            <a:off x="9966960" y="3108960"/>
            <a:ext cx="2377440" cy="2377440"/>
          </a:xfrm>
          <a:prstGeom prst="ellipse">
            <a:avLst/>
          </a:prstGeom>
          <a:solidFill>
            <a:srgbClr val="7C6BC4">
              <a:alpha val="16000"/>
            </a:srgbClr>
          </a:solidFill>
          <a:ln/>
        </p:spPr>
      </p:sp>
      <p:sp>
        <p:nvSpPr>
          <p:cNvPr id="4" name="Text 2"/>
          <p:cNvSpPr txBox="1"/>
          <p:nvPr/>
        </p:nvSpPr>
        <p:spPr>
          <a:xfrm>
            <a:off x="658368" y="1517904"/>
            <a:ext cx="7680960" cy="274320"/>
          </a:xfrm>
          <a:prstGeom prst="rect">
            <a:avLst/>
          </a:prstGeom>
          <a:noFill/>
          <a:ln/>
        </p:spPr>
        <p:txBody>
          <a:bodyPr wrap="square" lIns="0" tIns="0" rIns="0" bIns="0" rtlCol="0" anchor="ctr"/>
          <a:lstStyle/>
          <a:p>
            <a:pPr indent="0" marL="0">
              <a:buNone/>
            </a:pPr>
            <a:r>
              <a:rPr lang="en-US" sz="1300" b="1" spc="400" kern="0" dirty="0">
                <a:solidFill>
                  <a:srgbClr val="7C6BC4"/>
                </a:solidFill>
                <a:latin typeface="Calibri" pitchFamily="34" charset="0"/>
                <a:ea typeface="Calibri" pitchFamily="34" charset="-122"/>
                <a:cs typeface="Calibri" pitchFamily="34" charset="-120"/>
              </a:rPr>
              <a:t>BYOND ASIA</a:t>
            </a:r>
            <a:endParaRPr lang="en-US" sz="1300" dirty="0"/>
          </a:p>
        </p:txBody>
      </p:sp>
      <p:sp>
        <p:nvSpPr>
          <p:cNvPr id="5" name="Text 3"/>
          <p:cNvSpPr txBox="1"/>
          <p:nvPr/>
        </p:nvSpPr>
        <p:spPr>
          <a:xfrm>
            <a:off x="658368" y="1874520"/>
            <a:ext cx="7680960" cy="1051560"/>
          </a:xfrm>
          <a:prstGeom prst="rect">
            <a:avLst/>
          </a:prstGeom>
          <a:noFill/>
          <a:ln/>
        </p:spPr>
        <p:txBody>
          <a:bodyPr wrap="square" lIns="0" tIns="0" rIns="0" bIns="0" rtlCol="0" anchor="b"/>
          <a:lstStyle/>
          <a:p>
            <a:pPr indent="0" marL="0">
              <a:buNone/>
            </a:pPr>
            <a:r>
              <a:rPr lang="en-US" sz="6200" b="1" spc="300" kern="0" dirty="0">
                <a:solidFill>
                  <a:srgbClr val="FFFFFF"/>
                </a:solidFill>
                <a:latin typeface="Cambria" pitchFamily="34" charset="0"/>
                <a:ea typeface="Cambria" pitchFamily="34" charset="-122"/>
                <a:cs typeface="Cambria" pitchFamily="34" charset="-120"/>
              </a:rPr>
              <a:t>AUREN</a:t>
            </a:r>
            <a:endParaRPr lang="en-US" sz="6200" dirty="0"/>
          </a:p>
        </p:txBody>
      </p:sp>
      <p:sp>
        <p:nvSpPr>
          <p:cNvPr id="6" name="Text 4"/>
          <p:cNvSpPr txBox="1"/>
          <p:nvPr/>
        </p:nvSpPr>
        <p:spPr>
          <a:xfrm>
            <a:off x="658368" y="2999232"/>
            <a:ext cx="7680960" cy="457200"/>
          </a:xfrm>
          <a:prstGeom prst="rect">
            <a:avLst/>
          </a:prstGeom>
          <a:noFill/>
          <a:ln/>
        </p:spPr>
        <p:txBody>
          <a:bodyPr wrap="square" lIns="0" tIns="0" rIns="0" bIns="0" rtlCol="0" anchor="ctr"/>
          <a:lstStyle/>
          <a:p>
            <a:pPr indent="0" marL="0">
              <a:buNone/>
            </a:pPr>
            <a:r>
              <a:rPr lang="en-US" sz="2300" i="1" dirty="0">
                <a:solidFill>
                  <a:srgbClr val="EDEAF7"/>
                </a:solidFill>
                <a:latin typeface="Cambria" pitchFamily="34" charset="0"/>
                <a:ea typeface="Cambria" pitchFamily="34" charset="-122"/>
                <a:cs typeface="Cambria" pitchFamily="34" charset="-120"/>
              </a:rPr>
              <a:t>Rehearse the moment. Not the warning.</a:t>
            </a:r>
            <a:endParaRPr lang="en-US" sz="2300" dirty="0"/>
          </a:p>
        </p:txBody>
      </p:sp>
      <p:sp>
        <p:nvSpPr>
          <p:cNvPr id="7" name="Text 5"/>
          <p:cNvSpPr txBox="1"/>
          <p:nvPr/>
        </p:nvSpPr>
        <p:spPr>
          <a:xfrm>
            <a:off x="658368" y="3602736"/>
            <a:ext cx="7406640" cy="777240"/>
          </a:xfrm>
          <a:prstGeom prst="rect">
            <a:avLst/>
          </a:prstGeom>
          <a:noFill/>
          <a:ln/>
        </p:spPr>
        <p:txBody>
          <a:bodyPr wrap="square" lIns="0" tIns="0" rIns="0" bIns="0" rtlCol="0" anchor="ctr"/>
          <a:lstStyle/>
          <a:p>
            <a:pPr indent="0" marL="0">
              <a:lnSpc>
                <a:spcPct val="115000"/>
              </a:lnSpc>
              <a:buNone/>
            </a:pPr>
            <a:r>
              <a:rPr lang="en-US" sz="1450" dirty="0">
                <a:solidFill>
                  <a:srgbClr val="B9B3D0"/>
                </a:solidFill>
                <a:latin typeface="Calibri" pitchFamily="34" charset="0"/>
                <a:ea typeface="Calibri" pitchFamily="34" charset="-122"/>
                <a:cs typeface="Calibri" pitchFamily="34" charset="-120"/>
              </a:rPr>
              <a:t>A governed interview engine that measures scam resistance as behaviour under pressure — and binds every finding to the investor's own words.</a:t>
            </a:r>
            <a:endParaRPr lang="en-US" sz="1450" dirty="0"/>
          </a:p>
        </p:txBody>
      </p:sp>
      <p:sp>
        <p:nvSpPr>
          <p:cNvPr id="8" name="Shape 6"/>
          <p:cNvSpPr/>
          <p:nvPr/>
        </p:nvSpPr>
        <p:spPr>
          <a:xfrm>
            <a:off x="658368" y="4956048"/>
            <a:ext cx="2743200" cy="18288"/>
          </a:xfrm>
          <a:prstGeom prst="rect">
            <a:avLst/>
          </a:prstGeom>
          <a:solidFill>
            <a:srgbClr val="7C6BC4"/>
          </a:solidFill>
          <a:ln/>
        </p:spPr>
      </p:sp>
      <p:sp>
        <p:nvSpPr>
          <p:cNvPr id="9" name="Text 7"/>
          <p:cNvSpPr txBox="1"/>
          <p:nvPr/>
        </p:nvSpPr>
        <p:spPr>
          <a:xfrm>
            <a:off x="658368" y="5138928"/>
            <a:ext cx="76809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Presented by BYOND Asia  ·  AUREN is powered by HoloMe</a:t>
            </a:r>
            <a:endParaRPr lang="en-US" sz="1300" dirty="0"/>
          </a:p>
        </p:txBody>
      </p:sp>
      <p:sp>
        <p:nvSpPr>
          <p:cNvPr id="10" name="Text 8"/>
          <p:cNvSpPr txBox="1"/>
          <p:nvPr/>
        </p:nvSpPr>
        <p:spPr>
          <a:xfrm>
            <a:off x="658368" y="5449824"/>
            <a:ext cx="7680960" cy="274320"/>
          </a:xfrm>
          <a:prstGeom prst="rect">
            <a:avLst/>
          </a:prstGeom>
          <a:noFill/>
          <a:ln/>
        </p:spPr>
        <p:txBody>
          <a:bodyPr wrap="square" lIns="0" tIns="0" rIns="0" bIns="0" rtlCol="0" anchor="ctr"/>
          <a:lstStyle/>
          <a:p>
            <a:pPr indent="0" marL="0">
              <a:buNone/>
            </a:pPr>
            <a:r>
              <a:rPr lang="en-US" sz="1200" dirty="0">
                <a:solidFill>
                  <a:srgbClr val="8B85A8"/>
                </a:solidFill>
                <a:latin typeface="Calibri" pitchFamily="34" charset="0"/>
                <a:ea typeface="Calibri" pitchFamily="34" charset="-122"/>
                <a:cs typeface="Calibri" pitchFamily="34" charset="-120"/>
              </a:rPr>
              <a:t>IOSCO TechSprint 2026  ·  Demo Day  ·  7 minutes + 3 minutes Q&amp;A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1 · INTRODUCTION</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Everyone knows the warning signs. They still pay.</a:t>
            </a:r>
            <a:endParaRPr lang="en-US" sz="3300" dirty="0"/>
          </a:p>
        </p:txBody>
      </p:sp>
      <p:sp>
        <p:nvSpPr>
          <p:cNvPr id="4" name="Shape 2"/>
          <p:cNvSpPr/>
          <p:nvPr/>
        </p:nvSpPr>
        <p:spPr>
          <a:xfrm>
            <a:off x="658368" y="1572768"/>
            <a:ext cx="5253228" cy="3127248"/>
          </a:xfrm>
          <a:prstGeom prst="roundRect">
            <a:avLst>
              <a:gd name="adj" fmla="val 1754"/>
            </a:avLst>
          </a:prstGeom>
          <a:solidFill>
            <a:srgbClr val="F7F5FC"/>
          </a:solidFill>
          <a:ln w="12700">
            <a:solidFill>
              <a:srgbClr val="F7F5FC"/>
            </a:solidFill>
            <a:prstDash val="solid"/>
          </a:ln>
        </p:spPr>
      </p:sp>
      <p:sp>
        <p:nvSpPr>
          <p:cNvPr id="5" name="Shape 3"/>
          <p:cNvSpPr/>
          <p:nvPr/>
        </p:nvSpPr>
        <p:spPr>
          <a:xfrm>
            <a:off x="969264" y="1865376"/>
            <a:ext cx="384048" cy="384048"/>
          </a:xfrm>
          <a:prstGeom prst="ellipse">
            <a:avLst/>
          </a:prstGeom>
          <a:solidFill>
            <a:srgbClr val="7C6BC4"/>
          </a:solidFill>
          <a:ln/>
        </p:spPr>
      </p:sp>
      <p:sp>
        <p:nvSpPr>
          <p:cNvPr id="6" name="Text 4"/>
          <p:cNvSpPr txBox="1"/>
          <p:nvPr/>
        </p:nvSpPr>
        <p:spPr>
          <a:xfrm>
            <a:off x="969264"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481328" y="1883664"/>
            <a:ext cx="4206240" cy="365760"/>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What investor education gives people</a:t>
            </a:r>
            <a:endParaRPr lang="en-US" sz="1500" dirty="0"/>
          </a:p>
        </p:txBody>
      </p:sp>
      <p:sp>
        <p:nvSpPr>
          <p:cNvPr id="8" name="Text 6"/>
          <p:cNvSpPr txBox="1"/>
          <p:nvPr/>
        </p:nvSpPr>
        <p:spPr>
          <a:xfrm>
            <a:off x="969264" y="2432304"/>
            <a:ext cx="4663440"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Leaflets, checklists and warning lists</a:t>
            </a:r>
            <a:endParaRPr lang="en-US" sz="1350" dirty="0"/>
          </a:p>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Registers to check before you invest</a:t>
            </a:r>
            <a:endParaRPr lang="en-US" sz="1350" dirty="0"/>
          </a:p>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Quizzes that score what you can recall</a:t>
            </a:r>
            <a:endParaRPr lang="en-US" sz="1350" dirty="0"/>
          </a:p>
        </p:txBody>
      </p:sp>
      <p:sp>
        <p:nvSpPr>
          <p:cNvPr id="9" name="Text 7"/>
          <p:cNvSpPr txBox="1"/>
          <p:nvPr/>
        </p:nvSpPr>
        <p:spPr>
          <a:xfrm>
            <a:off x="969264" y="4041648"/>
            <a:ext cx="4663440" cy="365760"/>
          </a:xfrm>
          <a:prstGeom prst="rect">
            <a:avLst/>
          </a:prstGeom>
          <a:noFill/>
          <a:ln/>
        </p:spPr>
        <p:txBody>
          <a:bodyPr wrap="square" lIns="0" tIns="0" rIns="0" bIns="0" rtlCol="0" anchor="t"/>
          <a:lstStyle/>
          <a:p>
            <a:pPr indent="0" marL="0">
              <a:lnSpc>
                <a:spcPct val="110000"/>
              </a:lnSpc>
              <a:buNone/>
            </a:pPr>
            <a:r>
              <a:rPr lang="en-US" sz="1250" i="1" dirty="0">
                <a:solidFill>
                  <a:srgbClr val="6B6880"/>
                </a:solidFill>
                <a:latin typeface="Calibri" pitchFamily="34" charset="0"/>
                <a:ea typeface="Calibri" pitchFamily="34" charset="-122"/>
                <a:cs typeface="Calibri" pitchFamily="34" charset="-120"/>
              </a:rPr>
              <a:t>Measured by recall, in a calm room.</a:t>
            </a:r>
            <a:endParaRPr lang="en-US" sz="1250" dirty="0"/>
          </a:p>
        </p:txBody>
      </p:sp>
      <p:sp>
        <p:nvSpPr>
          <p:cNvPr id="10" name="Shape 8"/>
          <p:cNvSpPr/>
          <p:nvPr/>
        </p:nvSpPr>
        <p:spPr>
          <a:xfrm>
            <a:off x="6277356" y="1572768"/>
            <a:ext cx="5253228" cy="3127248"/>
          </a:xfrm>
          <a:prstGeom prst="roundRect">
            <a:avLst>
              <a:gd name="adj" fmla="val 1754"/>
            </a:avLst>
          </a:prstGeom>
          <a:solidFill>
            <a:srgbClr val="1B1733"/>
          </a:solidFill>
          <a:ln w="12700">
            <a:solidFill>
              <a:srgbClr val="1B1733"/>
            </a:solidFill>
            <a:prstDash val="solid"/>
          </a:ln>
        </p:spPr>
      </p:sp>
      <p:sp>
        <p:nvSpPr>
          <p:cNvPr id="11" name="Shape 9"/>
          <p:cNvSpPr/>
          <p:nvPr/>
        </p:nvSpPr>
        <p:spPr>
          <a:xfrm>
            <a:off x="6552133" y="1865376"/>
            <a:ext cx="384048" cy="384048"/>
          </a:xfrm>
          <a:prstGeom prst="ellipse">
            <a:avLst/>
          </a:prstGeom>
          <a:solidFill>
            <a:srgbClr val="7C6BC4"/>
          </a:solidFill>
          <a:ln/>
        </p:spPr>
      </p:sp>
      <p:sp>
        <p:nvSpPr>
          <p:cNvPr id="12" name="Text 10"/>
          <p:cNvSpPr txBox="1"/>
          <p:nvPr/>
        </p:nvSpPr>
        <p:spPr>
          <a:xfrm>
            <a:off x="6552133"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7100316" y="1883664"/>
            <a:ext cx="4206240" cy="365760"/>
          </a:xfrm>
          <a:prstGeom prst="rect">
            <a:avLst/>
          </a:prstGeom>
          <a:noFill/>
          <a:ln/>
        </p:spPr>
        <p:txBody>
          <a:bodyPr wrap="square" lIns="0" tIns="0" rIns="0" bIns="0" rtlCol="0" anchor="t"/>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What the fraud actually looks like</a:t>
            </a:r>
            <a:endParaRPr lang="en-US" sz="1500" dirty="0"/>
          </a:p>
        </p:txBody>
      </p:sp>
      <p:sp>
        <p:nvSpPr>
          <p:cNvPr id="14" name="Text 12"/>
          <p:cNvSpPr txBox="1"/>
          <p:nvPr/>
        </p:nvSpPr>
        <p:spPr>
          <a:xfrm>
            <a:off x="6552133" y="2432304"/>
            <a:ext cx="4663440"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D8D3EA"/>
                </a:solidFill>
                <a:latin typeface="Calibri" pitchFamily="34" charset="0"/>
                <a:ea typeface="Calibri" pitchFamily="34" charset="-122"/>
                <a:cs typeface="Calibri" pitchFamily="34" charset="-120"/>
              </a:rPr>
              <a:t>A persuasive human being, in real time</a:t>
            </a:r>
            <a:endParaRPr lang="en-US" sz="1350" dirty="0"/>
          </a:p>
          <a:p>
            <a:pPr marL="342900" indent="-342900">
              <a:lnSpc>
                <a:spcPct val="105000"/>
              </a:lnSpc>
              <a:spcAft>
                <a:spcPts val="700"/>
              </a:spcAft>
              <a:buSzPct val="100000"/>
              <a:buChar char="•"/>
            </a:pPr>
            <a:r>
              <a:rPr lang="en-US" sz="1350" dirty="0">
                <a:solidFill>
                  <a:srgbClr val="D8D3EA"/>
                </a:solidFill>
                <a:latin typeface="Calibri" pitchFamily="34" charset="0"/>
                <a:ea typeface="Calibri" pitchFamily="34" charset="-122"/>
                <a:cs typeface="Calibri" pitchFamily="34" charset="-120"/>
              </a:rPr>
              <a:t>Manufactured urgency and a closing deadline</a:t>
            </a:r>
            <a:endParaRPr lang="en-US" sz="1350" dirty="0"/>
          </a:p>
          <a:p>
            <a:pPr marL="342900" indent="-342900">
              <a:lnSpc>
                <a:spcPct val="105000"/>
              </a:lnSpc>
              <a:spcAft>
                <a:spcPts val="700"/>
              </a:spcAft>
              <a:buSzPct val="100000"/>
              <a:buChar char="•"/>
            </a:pPr>
            <a:r>
              <a:rPr lang="en-US" sz="1350" dirty="0">
                <a:solidFill>
                  <a:srgbClr val="D8D3EA"/>
                </a:solidFill>
                <a:latin typeface="Calibri" pitchFamily="34" charset="0"/>
                <a:ea typeface="Calibri" pitchFamily="34" charset="-122"/>
                <a:cs typeface="Calibri" pitchFamily="34" charset="-120"/>
              </a:rPr>
              <a:t>Borrowed authority and visible social proof</a:t>
            </a:r>
            <a:endParaRPr lang="en-US" sz="1350" dirty="0"/>
          </a:p>
        </p:txBody>
      </p:sp>
      <p:sp>
        <p:nvSpPr>
          <p:cNvPr id="15" name="Text 13"/>
          <p:cNvSpPr txBox="1"/>
          <p:nvPr/>
        </p:nvSpPr>
        <p:spPr>
          <a:xfrm>
            <a:off x="6552133" y="4041648"/>
            <a:ext cx="4663440" cy="365760"/>
          </a:xfrm>
          <a:prstGeom prst="rect">
            <a:avLst/>
          </a:prstGeom>
          <a:noFill/>
          <a:ln/>
        </p:spPr>
        <p:txBody>
          <a:bodyPr wrap="square" lIns="0" tIns="0" rIns="0" bIns="0" rtlCol="0" anchor="t"/>
          <a:lstStyle/>
          <a:p>
            <a:pPr indent="0" marL="0">
              <a:lnSpc>
                <a:spcPct val="110000"/>
              </a:lnSpc>
              <a:buNone/>
            </a:pPr>
            <a:r>
              <a:rPr lang="en-US" sz="1250" i="1" dirty="0">
                <a:solidFill>
                  <a:srgbClr val="9A93BC"/>
                </a:solidFill>
                <a:latin typeface="Calibri" pitchFamily="34" charset="0"/>
                <a:ea typeface="Calibri" pitchFamily="34" charset="-122"/>
                <a:cs typeface="Calibri" pitchFamily="34" charset="-120"/>
              </a:rPr>
              <a:t>Measured by what you do, while being pressured.</a:t>
            </a:r>
            <a:endParaRPr lang="en-US" sz="1250" dirty="0"/>
          </a:p>
        </p:txBody>
      </p:sp>
      <p:sp>
        <p:nvSpPr>
          <p:cNvPr id="16" name="Shape 14"/>
          <p:cNvSpPr/>
          <p:nvPr/>
        </p:nvSpPr>
        <p:spPr>
          <a:xfrm>
            <a:off x="658368" y="4901184"/>
            <a:ext cx="10872216" cy="841248"/>
          </a:xfrm>
          <a:prstGeom prst="roundRect">
            <a:avLst>
              <a:gd name="adj" fmla="val 6522"/>
            </a:avLst>
          </a:prstGeom>
          <a:solidFill>
            <a:srgbClr val="EDEAF7"/>
          </a:solidFill>
          <a:ln w="12700">
            <a:solidFill>
              <a:srgbClr val="EDEAF7"/>
            </a:solidFill>
            <a:prstDash val="solid"/>
          </a:ln>
        </p:spPr>
      </p:sp>
      <p:sp>
        <p:nvSpPr>
          <p:cNvPr id="17" name="Text 15"/>
          <p:cNvSpPr txBox="1"/>
          <p:nvPr/>
        </p:nvSpPr>
        <p:spPr>
          <a:xfrm>
            <a:off x="969264" y="5065776"/>
            <a:ext cx="10250424" cy="548640"/>
          </a:xfrm>
          <a:prstGeom prst="rect">
            <a:avLst/>
          </a:prstGeom>
          <a:noFill/>
          <a:ln/>
        </p:spPr>
        <p:txBody>
          <a:bodyPr wrap="square" lIns="0" tIns="0" rIns="0" bIns="0" rtlCol="0" anchor="ctr"/>
          <a:lstStyle/>
          <a:p>
            <a:pPr indent="0" marL="0">
              <a:lnSpc>
                <a:spcPct val="110000"/>
              </a:lnSpc>
              <a:buNone/>
            </a:pPr>
            <a:r>
              <a:rPr lang="en-US" sz="1600" b="1" dirty="0">
                <a:solidFill>
                  <a:srgbClr val="1B1733"/>
                </a:solidFill>
                <a:latin typeface="Calibri" pitchFamily="34" charset="0"/>
                <a:ea typeface="Calibri" pitchFamily="34" charset="-122"/>
                <a:cs typeface="Calibri" pitchFamily="34" charset="-120"/>
              </a:rPr>
              <a:t>The gap is not knowledge. It is behaviour under pressure — and nothing in the current toolkit measures it.</a:t>
            </a:r>
            <a:endParaRPr lang="en-US" sz="1600" dirty="0"/>
          </a:p>
        </p:txBody>
      </p:sp>
      <p:sp>
        <p:nvSpPr>
          <p:cNvPr id="18" name="Text 16"/>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45 seconds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2 · SOLUTION SUMMARY</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Run the attack safely. Score what they did.</a:t>
            </a:r>
            <a:endParaRPr lang="en-US" sz="3300" dirty="0"/>
          </a:p>
        </p:txBody>
      </p:sp>
      <p:sp>
        <p:nvSpPr>
          <p:cNvPr id="4" name="Shape 2"/>
          <p:cNvSpPr/>
          <p:nvPr/>
        </p:nvSpPr>
        <p:spPr>
          <a:xfrm>
            <a:off x="658368" y="1609344"/>
            <a:ext cx="3429000" cy="3566160"/>
          </a:xfrm>
          <a:prstGeom prst="roundRect">
            <a:avLst>
              <a:gd name="adj" fmla="val 1600"/>
            </a:avLst>
          </a:prstGeom>
          <a:solidFill>
            <a:srgbClr val="F7F5FC"/>
          </a:solidFill>
          <a:ln w="12700">
            <a:solidFill>
              <a:srgbClr val="F7F5FC"/>
            </a:solidFill>
            <a:prstDash val="solid"/>
          </a:ln>
        </p:spPr>
      </p:sp>
      <p:sp>
        <p:nvSpPr>
          <p:cNvPr id="5" name="Shape 3"/>
          <p:cNvSpPr/>
          <p:nvPr/>
        </p:nvSpPr>
        <p:spPr>
          <a:xfrm>
            <a:off x="950976" y="1883664"/>
            <a:ext cx="384048" cy="384048"/>
          </a:xfrm>
          <a:prstGeom prst="ellipse">
            <a:avLst/>
          </a:prstGeom>
          <a:solidFill>
            <a:srgbClr val="7C6BC4"/>
          </a:solidFill>
          <a:ln/>
        </p:spPr>
      </p:sp>
      <p:sp>
        <p:nvSpPr>
          <p:cNvPr id="6" name="Text 4"/>
          <p:cNvSpPr txBox="1"/>
          <p:nvPr/>
        </p:nvSpPr>
        <p:spPr>
          <a:xfrm>
            <a:off x="950976"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50976" y="2395728"/>
            <a:ext cx="2843784" cy="329184"/>
          </a:xfrm>
          <a:prstGeom prst="rect">
            <a:avLst/>
          </a:prstGeom>
          <a:noFill/>
          <a:ln/>
        </p:spPr>
        <p:txBody>
          <a:bodyPr wrap="square" lIns="0" tIns="0" rIns="0" bIns="0" rtlCol="0" anchor="t"/>
          <a:lstStyle/>
          <a:p>
            <a:pPr indent="0" marL="0">
              <a:lnSpc>
                <a:spcPct val="110000"/>
              </a:lnSpc>
              <a:buNone/>
            </a:pPr>
            <a:r>
              <a:rPr lang="en-US" sz="1600" b="1" dirty="0">
                <a:solidFill>
                  <a:srgbClr val="5A4A96"/>
                </a:solidFill>
                <a:latin typeface="Calibri" pitchFamily="34" charset="0"/>
                <a:ea typeface="Calibri" pitchFamily="34" charset="-122"/>
                <a:cs typeface="Calibri" pitchFamily="34" charset="-120"/>
              </a:rPr>
              <a:t>The problem</a:t>
            </a:r>
            <a:endParaRPr lang="en-US" sz="1600" dirty="0"/>
          </a:p>
        </p:txBody>
      </p:sp>
      <p:sp>
        <p:nvSpPr>
          <p:cNvPr id="8" name="Text 6"/>
          <p:cNvSpPr txBox="1"/>
          <p:nvPr/>
        </p:nvSpPr>
        <p:spPr>
          <a:xfrm>
            <a:off x="950976" y="2816352"/>
            <a:ext cx="2843784" cy="21031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Competence is assessed by recall, not by conduct.</a:t>
            </a:r>
            <a:endParaRPr lang="en-US" sz="1350" dirty="0"/>
          </a:p>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Nothing produces evidence of how someone behaves while being persuaded.</a:t>
            </a:r>
            <a:endParaRPr lang="en-US" sz="1350" dirty="0"/>
          </a:p>
        </p:txBody>
      </p:sp>
      <p:sp>
        <p:nvSpPr>
          <p:cNvPr id="9" name="Shape 7"/>
          <p:cNvSpPr/>
          <p:nvPr/>
        </p:nvSpPr>
        <p:spPr>
          <a:xfrm>
            <a:off x="4379976" y="1609344"/>
            <a:ext cx="3429000" cy="3566160"/>
          </a:xfrm>
          <a:prstGeom prst="roundRect">
            <a:avLst>
              <a:gd name="adj" fmla="val 1600"/>
            </a:avLst>
          </a:prstGeom>
          <a:solidFill>
            <a:srgbClr val="EDEAF7"/>
          </a:solidFill>
          <a:ln w="12700">
            <a:solidFill>
              <a:srgbClr val="EDEAF7"/>
            </a:solidFill>
            <a:prstDash val="solid"/>
          </a:ln>
        </p:spPr>
      </p:sp>
      <p:sp>
        <p:nvSpPr>
          <p:cNvPr id="10" name="Shape 8"/>
          <p:cNvSpPr/>
          <p:nvPr/>
        </p:nvSpPr>
        <p:spPr>
          <a:xfrm>
            <a:off x="4672584" y="1883664"/>
            <a:ext cx="384048" cy="384048"/>
          </a:xfrm>
          <a:prstGeom prst="ellipse">
            <a:avLst/>
          </a:prstGeom>
          <a:solidFill>
            <a:srgbClr val="7C6BC4"/>
          </a:solidFill>
          <a:ln/>
        </p:spPr>
      </p:sp>
      <p:sp>
        <p:nvSpPr>
          <p:cNvPr id="11" name="Text 9"/>
          <p:cNvSpPr txBox="1"/>
          <p:nvPr/>
        </p:nvSpPr>
        <p:spPr>
          <a:xfrm>
            <a:off x="4672584"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72584" y="2395728"/>
            <a:ext cx="2843784" cy="329184"/>
          </a:xfrm>
          <a:prstGeom prst="rect">
            <a:avLst/>
          </a:prstGeom>
          <a:noFill/>
          <a:ln/>
        </p:spPr>
        <p:txBody>
          <a:bodyPr wrap="square" lIns="0" tIns="0" rIns="0" bIns="0" rtlCol="0" anchor="t"/>
          <a:lstStyle/>
          <a:p>
            <a:pPr indent="0" marL="0">
              <a:lnSpc>
                <a:spcPct val="110000"/>
              </a:lnSpc>
              <a:buNone/>
            </a:pPr>
            <a:r>
              <a:rPr lang="en-US" sz="1600" b="1" dirty="0">
                <a:solidFill>
                  <a:srgbClr val="5A4A96"/>
                </a:solidFill>
                <a:latin typeface="Calibri" pitchFamily="34" charset="0"/>
                <a:ea typeface="Calibri" pitchFamily="34" charset="-122"/>
                <a:cs typeface="Calibri" pitchFamily="34" charset="-120"/>
              </a:rPr>
              <a:t>The proposal</a:t>
            </a:r>
            <a:endParaRPr lang="en-US" sz="1600" dirty="0"/>
          </a:p>
        </p:txBody>
      </p:sp>
      <p:sp>
        <p:nvSpPr>
          <p:cNvPr id="13" name="Text 11"/>
          <p:cNvSpPr txBox="1"/>
          <p:nvPr/>
        </p:nvSpPr>
        <p:spPr>
          <a:xfrm>
            <a:off x="4672584" y="2816352"/>
            <a:ext cx="2843784" cy="21031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A HoloMe digital human runs a governed interview by voice, then applies authentic sales pressure inside approved limits.</a:t>
            </a:r>
            <a:endParaRPr lang="en-US" sz="1350" dirty="0"/>
          </a:p>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It coaches the failure, then retests on unfamiliar ground.</a:t>
            </a:r>
            <a:endParaRPr lang="en-US" sz="1350" dirty="0"/>
          </a:p>
        </p:txBody>
      </p:sp>
      <p:sp>
        <p:nvSpPr>
          <p:cNvPr id="14" name="Shape 12"/>
          <p:cNvSpPr/>
          <p:nvPr/>
        </p:nvSpPr>
        <p:spPr>
          <a:xfrm>
            <a:off x="8101584" y="1609344"/>
            <a:ext cx="3429000" cy="3566160"/>
          </a:xfrm>
          <a:prstGeom prst="roundRect">
            <a:avLst>
              <a:gd name="adj" fmla="val 1600"/>
            </a:avLst>
          </a:prstGeom>
          <a:solidFill>
            <a:srgbClr val="F7F5FC"/>
          </a:solidFill>
          <a:ln w="12700">
            <a:solidFill>
              <a:srgbClr val="F7F5FC"/>
            </a:solidFill>
            <a:prstDash val="solid"/>
          </a:ln>
        </p:spPr>
      </p:sp>
      <p:sp>
        <p:nvSpPr>
          <p:cNvPr id="15" name="Shape 13"/>
          <p:cNvSpPr/>
          <p:nvPr/>
        </p:nvSpPr>
        <p:spPr>
          <a:xfrm>
            <a:off x="8394192" y="1883664"/>
            <a:ext cx="384048" cy="384048"/>
          </a:xfrm>
          <a:prstGeom prst="ellipse">
            <a:avLst/>
          </a:prstGeom>
          <a:solidFill>
            <a:srgbClr val="7C6BC4"/>
          </a:solidFill>
          <a:ln/>
        </p:spPr>
      </p:sp>
      <p:sp>
        <p:nvSpPr>
          <p:cNvPr id="16" name="Text 14"/>
          <p:cNvSpPr txBox="1"/>
          <p:nvPr/>
        </p:nvSpPr>
        <p:spPr>
          <a:xfrm>
            <a:off x="8394192"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94192" y="2395728"/>
            <a:ext cx="2843784" cy="329184"/>
          </a:xfrm>
          <a:prstGeom prst="rect">
            <a:avLst/>
          </a:prstGeom>
          <a:noFill/>
          <a:ln/>
        </p:spPr>
        <p:txBody>
          <a:bodyPr wrap="square" lIns="0" tIns="0" rIns="0" bIns="0" rtlCol="0" anchor="t"/>
          <a:lstStyle/>
          <a:p>
            <a:pPr indent="0" marL="0">
              <a:lnSpc>
                <a:spcPct val="110000"/>
              </a:lnSpc>
              <a:buNone/>
            </a:pPr>
            <a:r>
              <a:rPr lang="en-US" sz="1600" b="1" dirty="0">
                <a:solidFill>
                  <a:srgbClr val="5A4A96"/>
                </a:solidFill>
                <a:latin typeface="Calibri" pitchFamily="34" charset="0"/>
                <a:ea typeface="Calibri" pitchFamily="34" charset="-122"/>
                <a:cs typeface="Calibri" pitchFamily="34" charset="-120"/>
              </a:rPr>
              <a:t>The outcome</a:t>
            </a:r>
            <a:endParaRPr lang="en-US" sz="1600" dirty="0"/>
          </a:p>
        </p:txBody>
      </p:sp>
      <p:sp>
        <p:nvSpPr>
          <p:cNvPr id="18" name="Text 16"/>
          <p:cNvSpPr txBox="1"/>
          <p:nvPr/>
        </p:nvSpPr>
        <p:spPr>
          <a:xfrm>
            <a:off x="8394192" y="2816352"/>
            <a:ext cx="2843784" cy="21031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An Investor Readiness Record: what was demonstrated, what failed, and the investor's own sentence beside each one.</a:t>
            </a:r>
            <a:endParaRPr lang="en-US" sz="1350" dirty="0"/>
          </a:p>
          <a:p>
            <a:pPr marL="342900" indent="-342900">
              <a:lnSpc>
                <a:spcPct val="105000"/>
              </a:lnSpc>
              <a:spcAft>
                <a:spcPts val="700"/>
              </a:spcAft>
              <a:buSzPct val="100000"/>
              <a:buChar char="•"/>
            </a:pPr>
            <a:r>
              <a:rPr lang="en-US" sz="1350" dirty="0">
                <a:solidFill>
                  <a:srgbClr val="2A2447"/>
                </a:solidFill>
                <a:latin typeface="Calibri" pitchFamily="34" charset="0"/>
                <a:ea typeface="Calibri" pitchFamily="34" charset="-122"/>
                <a:cs typeface="Calibri" pitchFamily="34" charset="-120"/>
              </a:rPr>
              <a:t>Under nine minutes, by voice.</a:t>
            </a:r>
            <a:endParaRPr lang="en-US" sz="1350" dirty="0"/>
          </a:p>
        </p:txBody>
      </p:sp>
      <p:sp>
        <p:nvSpPr>
          <p:cNvPr id="19" name="Text 17"/>
          <p:cNvSpPr txBox="1"/>
          <p:nvPr/>
        </p:nvSpPr>
        <p:spPr>
          <a:xfrm>
            <a:off x="658368" y="5376672"/>
            <a:ext cx="10872216" cy="457200"/>
          </a:xfrm>
          <a:prstGeom prst="rect">
            <a:avLst/>
          </a:prstGeom>
          <a:noFill/>
          <a:ln/>
        </p:spPr>
        <p:txBody>
          <a:bodyPr wrap="square" lIns="0" tIns="0" rIns="0" bIns="0" rtlCol="0" anchor="t"/>
          <a:lstStyle/>
          <a:p>
            <a:pPr indent="0" marL="0">
              <a:lnSpc>
                <a:spcPct val="110000"/>
              </a:lnSpc>
              <a:buNone/>
            </a:pPr>
            <a:r>
              <a:rPr lang="en-US" sz="1450" i="1" dirty="0">
                <a:solidFill>
                  <a:srgbClr val="6B6880"/>
                </a:solidFill>
                <a:latin typeface="Calibri" pitchFamily="34" charset="0"/>
                <a:ea typeface="Calibri" pitchFamily="34" charset="-122"/>
                <a:cs typeface="Calibri" pitchFamily="34" charset="-120"/>
              </a:rPr>
              <a:t>Not a chatbot with a warning list. An interview whose every question was approved before the session began.</a:t>
            </a:r>
            <a:endParaRPr lang="en-US" sz="1450" dirty="0"/>
          </a:p>
        </p:txBody>
      </p:sp>
      <p:sp>
        <p:nvSpPr>
          <p:cNvPr id="20" name="Text 18"/>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30 seconds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3 · SOLUTION DETAIL</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What the AI does, and what it may never do.</a:t>
            </a:r>
            <a:endParaRPr lang="en-US" sz="3300" dirty="0"/>
          </a:p>
        </p:txBody>
      </p:sp>
      <p:sp>
        <p:nvSpPr>
          <p:cNvPr id="4" name="Shape 2"/>
          <p:cNvSpPr/>
          <p:nvPr/>
        </p:nvSpPr>
        <p:spPr>
          <a:xfrm>
            <a:off x="658368" y="1591056"/>
            <a:ext cx="2430018" cy="1975104"/>
          </a:xfrm>
          <a:prstGeom prst="roundRect">
            <a:avLst>
              <a:gd name="adj" fmla="val 2778"/>
            </a:avLst>
          </a:prstGeom>
          <a:solidFill>
            <a:srgbClr val="F7F5FC"/>
          </a:solidFill>
          <a:ln w="12700">
            <a:solidFill>
              <a:srgbClr val="F7F5FC"/>
            </a:solidFill>
            <a:prstDash val="solid"/>
          </a:ln>
        </p:spPr>
      </p:sp>
      <p:sp>
        <p:nvSpPr>
          <p:cNvPr id="5" name="Shape 3"/>
          <p:cNvSpPr/>
          <p:nvPr/>
        </p:nvSpPr>
        <p:spPr>
          <a:xfrm>
            <a:off x="914400" y="1810512"/>
            <a:ext cx="329184" cy="329184"/>
          </a:xfrm>
          <a:prstGeom prst="ellipse">
            <a:avLst/>
          </a:prstGeom>
          <a:solidFill>
            <a:srgbClr val="7C6BC4"/>
          </a:solidFill>
          <a:ln/>
        </p:spPr>
      </p:sp>
      <p:sp>
        <p:nvSpPr>
          <p:cNvPr id="6" name="Text 4"/>
          <p:cNvSpPr txBox="1"/>
          <p:nvPr/>
        </p:nvSpPr>
        <p:spPr>
          <a:xfrm>
            <a:off x="914400"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14400" y="2249424"/>
            <a:ext cx="1917954" cy="310896"/>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Approved objects</a:t>
            </a:r>
            <a:endParaRPr lang="en-US" sz="1450" dirty="0"/>
          </a:p>
        </p:txBody>
      </p:sp>
      <p:sp>
        <p:nvSpPr>
          <p:cNvPr id="8" name="Text 6"/>
          <p:cNvSpPr txBox="1"/>
          <p:nvPr/>
        </p:nvSpPr>
        <p:spPr>
          <a:xfrm>
            <a:off x="914400" y="2615184"/>
            <a:ext cx="1917954" cy="859536"/>
          </a:xfrm>
          <a:prstGeom prst="rect">
            <a:avLst/>
          </a:prstGeom>
          <a:noFill/>
          <a:ln/>
        </p:spPr>
        <p:txBody>
          <a:bodyPr wrap="square" lIns="0" tIns="0" rIns="0" bIns="0" rtlCol="0" anchor="t"/>
          <a:lstStyle/>
          <a:p>
            <a:pPr indent="0" marL="0">
              <a:lnSpc>
                <a:spcPct val="108000"/>
              </a:lnSpc>
              <a:buNone/>
            </a:pPr>
            <a:r>
              <a:rPr lang="en-US" sz="1150" dirty="0">
                <a:solidFill>
                  <a:srgbClr val="2A2447"/>
                </a:solidFill>
                <a:latin typeface="Calibri" pitchFamily="34" charset="0"/>
                <a:ea typeface="Calibri" pitchFamily="34" charset="-122"/>
                <a:cs typeface="Calibri" pitchFamily="34" charset="-120"/>
              </a:rPr>
              <a:t>Elements, questions, challenges and boundaries, each anchored to a published principle.</a:t>
            </a:r>
            <a:endParaRPr lang="en-US" sz="1150" dirty="0"/>
          </a:p>
        </p:txBody>
      </p:sp>
      <p:sp>
        <p:nvSpPr>
          <p:cNvPr id="9" name="Text 7"/>
          <p:cNvSpPr txBox="1"/>
          <p:nvPr/>
        </p:nvSpPr>
        <p:spPr>
          <a:xfrm>
            <a:off x="3124962" y="2395728"/>
            <a:ext cx="310896" cy="310896"/>
          </a:xfrm>
          <a:prstGeom prst="rect">
            <a:avLst/>
          </a:prstGeom>
          <a:noFill/>
          <a:ln/>
        </p:spPr>
        <p:txBody>
          <a:bodyPr wrap="square" lIns="0" tIns="0" rIns="0" bIns="0" rtlCol="0" anchor="ctr"/>
          <a:lstStyle/>
          <a:p>
            <a:pPr algn="ctr" indent="0" marL="0">
              <a:buNone/>
            </a:pPr>
            <a:r>
              <a:rPr lang="en-US" sz="1700" b="1" dirty="0">
                <a:solidFill>
                  <a:srgbClr val="7C6BC4"/>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3472434" y="1591056"/>
            <a:ext cx="2430018" cy="1975104"/>
          </a:xfrm>
          <a:prstGeom prst="roundRect">
            <a:avLst>
              <a:gd name="adj" fmla="val 2778"/>
            </a:avLst>
          </a:prstGeom>
          <a:solidFill>
            <a:srgbClr val="1B1733"/>
          </a:solidFill>
          <a:ln w="12700">
            <a:solidFill>
              <a:srgbClr val="1B1733"/>
            </a:solidFill>
            <a:prstDash val="solid"/>
          </a:ln>
        </p:spPr>
      </p:sp>
      <p:sp>
        <p:nvSpPr>
          <p:cNvPr id="11" name="Shape 9"/>
          <p:cNvSpPr/>
          <p:nvPr/>
        </p:nvSpPr>
        <p:spPr>
          <a:xfrm>
            <a:off x="3728466" y="1810512"/>
            <a:ext cx="329184" cy="329184"/>
          </a:xfrm>
          <a:prstGeom prst="ellipse">
            <a:avLst/>
          </a:prstGeom>
          <a:solidFill>
            <a:srgbClr val="7C6BC4"/>
          </a:solidFill>
          <a:ln/>
        </p:spPr>
      </p:sp>
      <p:sp>
        <p:nvSpPr>
          <p:cNvPr id="12" name="Text 10"/>
          <p:cNvSpPr txBox="1"/>
          <p:nvPr/>
        </p:nvSpPr>
        <p:spPr>
          <a:xfrm>
            <a:off x="3728466"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728466" y="2249424"/>
            <a:ext cx="1917954" cy="310896"/>
          </a:xfrm>
          <a:prstGeom prst="rect">
            <a:avLst/>
          </a:prstGeom>
          <a:noFill/>
          <a:ln/>
        </p:spPr>
        <p:txBody>
          <a:bodyPr wrap="square" lIns="0" tIns="0" rIns="0" bIns="0" rtlCol="0" anchor="t"/>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Orchestrator</a:t>
            </a:r>
            <a:endParaRPr lang="en-US" sz="1450" dirty="0"/>
          </a:p>
        </p:txBody>
      </p:sp>
      <p:sp>
        <p:nvSpPr>
          <p:cNvPr id="14" name="Text 12"/>
          <p:cNvSpPr txBox="1"/>
          <p:nvPr/>
        </p:nvSpPr>
        <p:spPr>
          <a:xfrm>
            <a:off x="3728466" y="2615184"/>
            <a:ext cx="1917954" cy="859536"/>
          </a:xfrm>
          <a:prstGeom prst="rect">
            <a:avLst/>
          </a:prstGeom>
          <a:noFill/>
          <a:ln/>
        </p:spPr>
        <p:txBody>
          <a:bodyPr wrap="square" lIns="0" tIns="0" rIns="0" bIns="0" rtlCol="0" anchor="t"/>
          <a:lstStyle/>
          <a:p>
            <a:pPr indent="0" marL="0">
              <a:lnSpc>
                <a:spcPct val="108000"/>
              </a:lnSpc>
              <a:buNone/>
            </a:pPr>
            <a:r>
              <a:rPr lang="en-US" sz="1150" dirty="0">
                <a:solidFill>
                  <a:srgbClr val="D8D3EA"/>
                </a:solidFill>
                <a:latin typeface="Calibri" pitchFamily="34" charset="0"/>
                <a:ea typeface="Calibri" pitchFamily="34" charset="-122"/>
                <a:cs typeface="Calibri" pitchFamily="34" charset="-120"/>
              </a:rPr>
              <a:t>Selects which approved object fires next. It sequences; it does not write.</a:t>
            </a:r>
            <a:endParaRPr lang="en-US" sz="1150" dirty="0"/>
          </a:p>
        </p:txBody>
      </p:sp>
      <p:sp>
        <p:nvSpPr>
          <p:cNvPr id="15" name="Text 13"/>
          <p:cNvSpPr txBox="1"/>
          <p:nvPr/>
        </p:nvSpPr>
        <p:spPr>
          <a:xfrm>
            <a:off x="5939028" y="2395728"/>
            <a:ext cx="310896" cy="310896"/>
          </a:xfrm>
          <a:prstGeom prst="rect">
            <a:avLst/>
          </a:prstGeom>
          <a:noFill/>
          <a:ln/>
        </p:spPr>
        <p:txBody>
          <a:bodyPr wrap="square" lIns="0" tIns="0" rIns="0" bIns="0" rtlCol="0" anchor="ctr"/>
          <a:lstStyle/>
          <a:p>
            <a:pPr algn="ctr" indent="0" marL="0">
              <a:buNone/>
            </a:pPr>
            <a:r>
              <a:rPr lang="en-US" sz="1700" b="1" dirty="0">
                <a:solidFill>
                  <a:srgbClr val="7C6BC4"/>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6286500" y="1591056"/>
            <a:ext cx="2430018" cy="1975104"/>
          </a:xfrm>
          <a:prstGeom prst="roundRect">
            <a:avLst>
              <a:gd name="adj" fmla="val 2778"/>
            </a:avLst>
          </a:prstGeom>
          <a:solidFill>
            <a:srgbClr val="F7F5FC"/>
          </a:solidFill>
          <a:ln w="12700">
            <a:solidFill>
              <a:srgbClr val="F7F5FC"/>
            </a:solidFill>
            <a:prstDash val="solid"/>
          </a:ln>
        </p:spPr>
      </p:sp>
      <p:sp>
        <p:nvSpPr>
          <p:cNvPr id="17" name="Shape 15"/>
          <p:cNvSpPr/>
          <p:nvPr/>
        </p:nvSpPr>
        <p:spPr>
          <a:xfrm>
            <a:off x="6542532" y="1810512"/>
            <a:ext cx="329184" cy="329184"/>
          </a:xfrm>
          <a:prstGeom prst="ellipse">
            <a:avLst/>
          </a:prstGeom>
          <a:solidFill>
            <a:srgbClr val="7C6BC4"/>
          </a:solidFill>
          <a:ln/>
        </p:spPr>
      </p:sp>
      <p:sp>
        <p:nvSpPr>
          <p:cNvPr id="18" name="Text 16"/>
          <p:cNvSpPr txBox="1"/>
          <p:nvPr/>
        </p:nvSpPr>
        <p:spPr>
          <a:xfrm>
            <a:off x="6542532"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542532" y="2249424"/>
            <a:ext cx="1917954" cy="310896"/>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HoloMe digital human</a:t>
            </a:r>
            <a:endParaRPr lang="en-US" sz="1450" dirty="0"/>
          </a:p>
        </p:txBody>
      </p:sp>
      <p:sp>
        <p:nvSpPr>
          <p:cNvPr id="20" name="Text 18"/>
          <p:cNvSpPr txBox="1"/>
          <p:nvPr/>
        </p:nvSpPr>
        <p:spPr>
          <a:xfrm>
            <a:off x="6542532" y="2615184"/>
            <a:ext cx="1917954" cy="859536"/>
          </a:xfrm>
          <a:prstGeom prst="rect">
            <a:avLst/>
          </a:prstGeom>
          <a:noFill/>
          <a:ln/>
        </p:spPr>
        <p:txBody>
          <a:bodyPr wrap="square" lIns="0" tIns="0" rIns="0" bIns="0" rtlCol="0" anchor="t"/>
          <a:lstStyle/>
          <a:p>
            <a:pPr indent="0" marL="0">
              <a:lnSpc>
                <a:spcPct val="108000"/>
              </a:lnSpc>
              <a:buNone/>
            </a:pPr>
            <a:r>
              <a:rPr lang="en-US" sz="1150" dirty="0">
                <a:solidFill>
                  <a:srgbClr val="2A2447"/>
                </a:solidFill>
                <a:latin typeface="Calibri" pitchFamily="34" charset="0"/>
                <a:ea typeface="Calibri" pitchFamily="34" charset="-122"/>
                <a:cs typeface="Calibri" pitchFamily="34" charset="-120"/>
              </a:rPr>
              <a:t>Speaks the approved words, in the session language, with a distinct persona voice.</a:t>
            </a:r>
            <a:endParaRPr lang="en-US" sz="1150" dirty="0"/>
          </a:p>
        </p:txBody>
      </p:sp>
      <p:sp>
        <p:nvSpPr>
          <p:cNvPr id="21" name="Text 19"/>
          <p:cNvSpPr txBox="1"/>
          <p:nvPr/>
        </p:nvSpPr>
        <p:spPr>
          <a:xfrm>
            <a:off x="8753094" y="2395728"/>
            <a:ext cx="310896" cy="310896"/>
          </a:xfrm>
          <a:prstGeom prst="rect">
            <a:avLst/>
          </a:prstGeom>
          <a:noFill/>
          <a:ln/>
        </p:spPr>
        <p:txBody>
          <a:bodyPr wrap="square" lIns="0" tIns="0" rIns="0" bIns="0" rtlCol="0" anchor="ctr"/>
          <a:lstStyle/>
          <a:p>
            <a:pPr algn="ctr" indent="0" marL="0">
              <a:buNone/>
            </a:pPr>
            <a:r>
              <a:rPr lang="en-US" sz="1700" b="1" dirty="0">
                <a:solidFill>
                  <a:srgbClr val="7C6BC4"/>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9100566" y="1591056"/>
            <a:ext cx="2430018" cy="1975104"/>
          </a:xfrm>
          <a:prstGeom prst="roundRect">
            <a:avLst>
              <a:gd name="adj" fmla="val 2778"/>
            </a:avLst>
          </a:prstGeom>
          <a:solidFill>
            <a:srgbClr val="F7F5FC"/>
          </a:solidFill>
          <a:ln w="12700">
            <a:solidFill>
              <a:srgbClr val="F7F5FC"/>
            </a:solidFill>
            <a:prstDash val="solid"/>
          </a:ln>
        </p:spPr>
      </p:sp>
      <p:sp>
        <p:nvSpPr>
          <p:cNvPr id="23" name="Shape 21"/>
          <p:cNvSpPr/>
          <p:nvPr/>
        </p:nvSpPr>
        <p:spPr>
          <a:xfrm>
            <a:off x="9356598" y="1810512"/>
            <a:ext cx="329184" cy="329184"/>
          </a:xfrm>
          <a:prstGeom prst="ellipse">
            <a:avLst/>
          </a:prstGeom>
          <a:solidFill>
            <a:srgbClr val="7C6BC4"/>
          </a:solidFill>
          <a:ln/>
        </p:spPr>
      </p:sp>
      <p:sp>
        <p:nvSpPr>
          <p:cNvPr id="24" name="Text 22"/>
          <p:cNvSpPr txBox="1"/>
          <p:nvPr/>
        </p:nvSpPr>
        <p:spPr>
          <a:xfrm>
            <a:off x="9356598"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9356598" y="2249424"/>
            <a:ext cx="1917954" cy="310896"/>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Bound record</a:t>
            </a:r>
            <a:endParaRPr lang="en-US" sz="1450" dirty="0"/>
          </a:p>
        </p:txBody>
      </p:sp>
      <p:sp>
        <p:nvSpPr>
          <p:cNvPr id="26" name="Text 24"/>
          <p:cNvSpPr txBox="1"/>
          <p:nvPr/>
        </p:nvSpPr>
        <p:spPr>
          <a:xfrm>
            <a:off x="9356598" y="2615184"/>
            <a:ext cx="1917954" cy="859536"/>
          </a:xfrm>
          <a:prstGeom prst="rect">
            <a:avLst/>
          </a:prstGeom>
          <a:noFill/>
          <a:ln/>
        </p:spPr>
        <p:txBody>
          <a:bodyPr wrap="square" lIns="0" tIns="0" rIns="0" bIns="0" rtlCol="0" anchor="t"/>
          <a:lstStyle/>
          <a:p>
            <a:pPr indent="0" marL="0">
              <a:lnSpc>
                <a:spcPct val="108000"/>
              </a:lnSpc>
              <a:buNone/>
            </a:pPr>
            <a:r>
              <a:rPr lang="en-US" sz="1150" dirty="0">
                <a:solidFill>
                  <a:srgbClr val="2A2447"/>
                </a:solidFill>
                <a:latin typeface="Calibri" pitchFamily="34" charset="0"/>
                <a:ea typeface="Calibri" pitchFamily="34" charset="-122"/>
                <a:cs typeface="Calibri" pitchFamily="34" charset="-120"/>
              </a:rPr>
              <a:t>Every determination points at the investor's own sentence and the object that elicited it.</a:t>
            </a:r>
            <a:endParaRPr lang="en-US" sz="1150" dirty="0"/>
          </a:p>
        </p:txBody>
      </p:sp>
      <p:sp>
        <p:nvSpPr>
          <p:cNvPr id="27" name="Shape 25"/>
          <p:cNvSpPr/>
          <p:nvPr/>
        </p:nvSpPr>
        <p:spPr>
          <a:xfrm>
            <a:off x="658368" y="3785616"/>
            <a:ext cx="5253228" cy="1481328"/>
          </a:xfrm>
          <a:prstGeom prst="roundRect">
            <a:avLst>
              <a:gd name="adj" fmla="val 3704"/>
            </a:avLst>
          </a:prstGeom>
          <a:solidFill>
            <a:srgbClr val="F7F5FC"/>
          </a:solidFill>
          <a:ln w="12700">
            <a:solidFill>
              <a:srgbClr val="2E7D5B"/>
            </a:solidFill>
            <a:prstDash val="solid"/>
          </a:ln>
        </p:spPr>
      </p:sp>
      <p:sp>
        <p:nvSpPr>
          <p:cNvPr id="28" name="Text 26"/>
          <p:cNvSpPr txBox="1"/>
          <p:nvPr/>
        </p:nvSpPr>
        <p:spPr>
          <a:xfrm>
            <a:off x="932688" y="3950208"/>
            <a:ext cx="4663440" cy="274320"/>
          </a:xfrm>
          <a:prstGeom prst="rect">
            <a:avLst/>
          </a:prstGeom>
          <a:noFill/>
          <a:ln/>
        </p:spPr>
        <p:txBody>
          <a:bodyPr wrap="square" lIns="0" tIns="0" rIns="0" bIns="0" rtlCol="0" anchor="t"/>
          <a:lstStyle/>
          <a:p>
            <a:pPr indent="0" marL="0">
              <a:lnSpc>
                <a:spcPct val="110000"/>
              </a:lnSpc>
              <a:buNone/>
            </a:pPr>
            <a:r>
              <a:rPr lang="en-US" sz="1300" b="1" dirty="0">
                <a:solidFill>
                  <a:srgbClr val="2E7D5B"/>
                </a:solidFill>
                <a:latin typeface="Calibri" pitchFamily="34" charset="0"/>
                <a:ea typeface="Calibri" pitchFamily="34" charset="-122"/>
                <a:cs typeface="Calibri" pitchFamily="34" charset="-120"/>
              </a:rPr>
              <a:t>The model may</a:t>
            </a:r>
            <a:endParaRPr lang="en-US" sz="1300" dirty="0"/>
          </a:p>
        </p:txBody>
      </p:sp>
      <p:sp>
        <p:nvSpPr>
          <p:cNvPr id="29" name="Text 27"/>
          <p:cNvSpPr txBox="1"/>
          <p:nvPr/>
        </p:nvSpPr>
        <p:spPr>
          <a:xfrm>
            <a:off x="932688" y="4279392"/>
            <a:ext cx="4709160" cy="896112"/>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Choose which approved question fires next</a:t>
            </a:r>
            <a:endParaRPr lang="en-US" sz="1200" dirty="0"/>
          </a:p>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Judge whether an answer satisfied an element</a:t>
            </a:r>
            <a:endParaRPr lang="en-US" sz="1200" dirty="0"/>
          </a:p>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Escalate a persona within an approved ceiling</a:t>
            </a:r>
            <a:endParaRPr lang="en-US" sz="1200" dirty="0"/>
          </a:p>
        </p:txBody>
      </p:sp>
      <p:sp>
        <p:nvSpPr>
          <p:cNvPr id="30" name="Shape 28"/>
          <p:cNvSpPr/>
          <p:nvPr/>
        </p:nvSpPr>
        <p:spPr>
          <a:xfrm>
            <a:off x="6277356" y="3785616"/>
            <a:ext cx="5253228" cy="1481328"/>
          </a:xfrm>
          <a:prstGeom prst="roundRect">
            <a:avLst>
              <a:gd name="adj" fmla="val 3704"/>
            </a:avLst>
          </a:prstGeom>
          <a:solidFill>
            <a:srgbClr val="F7F5FC"/>
          </a:solidFill>
          <a:ln w="12700">
            <a:solidFill>
              <a:srgbClr val="A33B3B"/>
            </a:solidFill>
            <a:prstDash val="solid"/>
          </a:ln>
        </p:spPr>
      </p:sp>
      <p:sp>
        <p:nvSpPr>
          <p:cNvPr id="31" name="Text 29"/>
          <p:cNvSpPr txBox="1"/>
          <p:nvPr/>
        </p:nvSpPr>
        <p:spPr>
          <a:xfrm>
            <a:off x="6551676" y="3950208"/>
            <a:ext cx="4663440" cy="274320"/>
          </a:xfrm>
          <a:prstGeom prst="rect">
            <a:avLst/>
          </a:prstGeom>
          <a:noFill/>
          <a:ln/>
        </p:spPr>
        <p:txBody>
          <a:bodyPr wrap="square" lIns="0" tIns="0" rIns="0" bIns="0" rtlCol="0" anchor="t"/>
          <a:lstStyle/>
          <a:p>
            <a:pPr indent="0" marL="0">
              <a:lnSpc>
                <a:spcPct val="110000"/>
              </a:lnSpc>
              <a:buNone/>
            </a:pPr>
            <a:r>
              <a:rPr lang="en-US" sz="1300" b="1" dirty="0">
                <a:solidFill>
                  <a:srgbClr val="A33B3B"/>
                </a:solidFill>
                <a:latin typeface="Calibri" pitchFamily="34" charset="0"/>
                <a:ea typeface="Calibri" pitchFamily="34" charset="-122"/>
                <a:cs typeface="Calibri" pitchFamily="34" charset="-120"/>
              </a:rPr>
              <a:t>The model may not</a:t>
            </a:r>
            <a:endParaRPr lang="en-US" sz="1300" dirty="0"/>
          </a:p>
        </p:txBody>
      </p:sp>
      <p:sp>
        <p:nvSpPr>
          <p:cNvPr id="32" name="Text 30"/>
          <p:cNvSpPr txBox="1"/>
          <p:nvPr/>
        </p:nvSpPr>
        <p:spPr>
          <a:xfrm>
            <a:off x="6551676" y="4279392"/>
            <a:ext cx="4709160" cy="896112"/>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Write, rephrase or improvise a question</a:t>
            </a:r>
            <a:endParaRPr lang="en-US" sz="1200" dirty="0"/>
          </a:p>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Give advice, or say anything unapproved</a:t>
            </a:r>
            <a:endParaRPr lang="en-US" sz="1200" dirty="0"/>
          </a:p>
          <a:p>
            <a:pPr marL="342900" indent="-342900">
              <a:lnSpc>
                <a:spcPct val="105000"/>
              </a:lnSpc>
              <a:spcAft>
                <a:spcPts val="300"/>
              </a:spcAft>
              <a:buSzPct val="100000"/>
              <a:buChar char="•"/>
            </a:pPr>
            <a:r>
              <a:rPr lang="en-US" sz="1200" dirty="0">
                <a:solidFill>
                  <a:srgbClr val="2A2447"/>
                </a:solidFill>
                <a:latin typeface="Calibri" pitchFamily="34" charset="0"/>
                <a:ea typeface="Calibri" pitchFamily="34" charset="-122"/>
                <a:cs typeface="Calibri" pitchFamily="34" charset="-120"/>
              </a:rPr>
              <a:t>Exceed the ceiling, or ignore a distress exit</a:t>
            </a:r>
            <a:endParaRPr lang="en-US" sz="1200" dirty="0"/>
          </a:p>
        </p:txBody>
      </p:sp>
      <p:sp>
        <p:nvSpPr>
          <p:cNvPr id="33" name="Shape 31"/>
          <p:cNvSpPr/>
          <p:nvPr/>
        </p:nvSpPr>
        <p:spPr>
          <a:xfrm>
            <a:off x="658368" y="5468112"/>
            <a:ext cx="10872216" cy="658368"/>
          </a:xfrm>
          <a:prstGeom prst="roundRect">
            <a:avLst>
              <a:gd name="adj" fmla="val 8333"/>
            </a:avLst>
          </a:prstGeom>
          <a:solidFill>
            <a:srgbClr val="1B1733"/>
          </a:solidFill>
          <a:ln w="12700">
            <a:solidFill>
              <a:srgbClr val="1B1733"/>
            </a:solidFill>
            <a:prstDash val="solid"/>
          </a:ln>
        </p:spPr>
      </p:sp>
      <p:sp>
        <p:nvSpPr>
          <p:cNvPr id="34" name="Text 32"/>
          <p:cNvSpPr txBox="1"/>
          <p:nvPr/>
        </p:nvSpPr>
        <p:spPr>
          <a:xfrm>
            <a:off x="969264" y="5577840"/>
            <a:ext cx="10250424" cy="438912"/>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libri" pitchFamily="34" charset="0"/>
                <a:ea typeface="Calibri" pitchFamily="34" charset="-122"/>
                <a:cs typeface="Calibri" pitchFamily="34" charset="-120"/>
              </a:rPr>
              <a:t>Every sentence this system speaks was approved by a human before the session started.</a:t>
            </a:r>
            <a:endParaRPr lang="en-US" sz="1550" dirty="0"/>
          </a:p>
        </p:txBody>
      </p:sp>
      <p:sp>
        <p:nvSpPr>
          <p:cNvPr id="35" name="Text 33"/>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45 seconds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733"/>
        </a:solidFill>
      </p:bgPr>
    </p:bg>
    <p:spTree>
      <p:nvGrpSpPr>
        <p:cNvPr id="1" name=""/>
        <p:cNvGrpSpPr/>
        <p:nvPr/>
      </p:nvGrpSpPr>
      <p:grpSpPr>
        <a:xfrm>
          <a:off x="0" y="0"/>
          <a:ext cx="0" cy="0"/>
          <a:chOff x="0" y="0"/>
          <a:chExt cx="0" cy="0"/>
        </a:xfrm>
      </p:grpSpPr>
      <p:sp>
        <p:nvSpPr>
          <p:cNvPr id="2" name="Shape 0"/>
          <p:cNvSpPr/>
          <p:nvPr/>
        </p:nvSpPr>
        <p:spPr>
          <a:xfrm>
            <a:off x="9509760" y="-1188720"/>
            <a:ext cx="4206240" cy="4206240"/>
          </a:xfrm>
          <a:prstGeom prst="ellipse">
            <a:avLst/>
          </a:prstGeom>
          <a:solidFill>
            <a:srgbClr val="5A4A96">
              <a:alpha val="20000"/>
            </a:srgbClr>
          </a:solidFill>
          <a:ln/>
        </p:spPr>
      </p:sp>
      <p:sp>
        <p:nvSpPr>
          <p:cNvPr id="3" name="Text 1"/>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9A93BC"/>
                </a:solidFill>
                <a:latin typeface="Calibri" pitchFamily="34" charset="0"/>
                <a:ea typeface="Calibri" pitchFamily="34" charset="-122"/>
                <a:cs typeface="Calibri" pitchFamily="34" charset="-120"/>
              </a:rPr>
              <a:t>4 · DEMONSTRATION</a:t>
            </a:r>
            <a:endParaRPr lang="en-US" sz="1100" dirty="0"/>
          </a:p>
        </p:txBody>
      </p:sp>
      <p:sp>
        <p:nvSpPr>
          <p:cNvPr id="4" name="Text 2"/>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Watch for three things.</a:t>
            </a:r>
            <a:endParaRPr lang="en-US" sz="3300" dirty="0"/>
          </a:p>
        </p:txBody>
      </p:sp>
      <p:sp>
        <p:nvSpPr>
          <p:cNvPr id="5" name="Shape 3"/>
          <p:cNvSpPr/>
          <p:nvPr/>
        </p:nvSpPr>
        <p:spPr>
          <a:xfrm>
            <a:off x="658368" y="1755648"/>
            <a:ext cx="420624" cy="420624"/>
          </a:xfrm>
          <a:prstGeom prst="ellipse">
            <a:avLst/>
          </a:prstGeom>
          <a:solidFill>
            <a:srgbClr val="7C6BC4"/>
          </a:solidFill>
          <a:ln/>
        </p:spPr>
      </p:sp>
      <p:sp>
        <p:nvSpPr>
          <p:cNvPr id="6" name="Text 4"/>
          <p:cNvSpPr txBox="1"/>
          <p:nvPr/>
        </p:nvSpPr>
        <p:spPr>
          <a:xfrm>
            <a:off x="658368" y="17556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16736" y="1700784"/>
            <a:ext cx="8778240" cy="329184"/>
          </a:xfrm>
          <a:prstGeom prst="rect">
            <a:avLst/>
          </a:prstGeom>
          <a:noFill/>
          <a:ln/>
        </p:spPr>
        <p:txBody>
          <a:bodyPr wrap="square" lIns="0" tIns="0" rIns="0" bIns="0"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She never improvises.</a:t>
            </a:r>
            <a:endParaRPr lang="en-US" sz="1800" dirty="0"/>
          </a:p>
        </p:txBody>
      </p:sp>
      <p:sp>
        <p:nvSpPr>
          <p:cNvPr id="8" name="Text 6"/>
          <p:cNvSpPr txBox="1"/>
          <p:nvPr/>
        </p:nvSpPr>
        <p:spPr>
          <a:xfrm>
            <a:off x="1316736" y="2084832"/>
            <a:ext cx="9052560" cy="603504"/>
          </a:xfrm>
          <a:prstGeom prst="rect">
            <a:avLst/>
          </a:prstGeom>
          <a:noFill/>
          <a:ln/>
        </p:spPr>
        <p:txBody>
          <a:bodyPr wrap="square" lIns="0" tIns="0" rIns="0" bIns="0" rtlCol="0" anchor="t"/>
          <a:lstStyle/>
          <a:p>
            <a:pPr indent="0" marL="0">
              <a:lnSpc>
                <a:spcPct val="110000"/>
              </a:lnSpc>
              <a:buNone/>
            </a:pPr>
            <a:r>
              <a:rPr lang="en-US" sz="1350" dirty="0">
                <a:solidFill>
                  <a:srgbClr val="B9B3D0"/>
                </a:solidFill>
                <a:latin typeface="Calibri" pitchFamily="34" charset="0"/>
                <a:ea typeface="Calibri" pitchFamily="34" charset="-122"/>
                <a:cs typeface="Calibri" pitchFamily="34" charset="-120"/>
              </a:rPr>
              <a:t>Every question you hear exists as an approved object with a version and an authority anchor behind it.</a:t>
            </a:r>
            <a:endParaRPr lang="en-US" sz="1350" dirty="0"/>
          </a:p>
        </p:txBody>
      </p:sp>
      <p:sp>
        <p:nvSpPr>
          <p:cNvPr id="9" name="Shape 7"/>
          <p:cNvSpPr/>
          <p:nvPr/>
        </p:nvSpPr>
        <p:spPr>
          <a:xfrm>
            <a:off x="658368" y="2926080"/>
            <a:ext cx="420624" cy="420624"/>
          </a:xfrm>
          <a:prstGeom prst="ellipse">
            <a:avLst/>
          </a:prstGeom>
          <a:solidFill>
            <a:srgbClr val="7C6BC4"/>
          </a:solidFill>
          <a:ln/>
        </p:spPr>
      </p:sp>
      <p:sp>
        <p:nvSpPr>
          <p:cNvPr id="10" name="Text 8"/>
          <p:cNvSpPr txBox="1"/>
          <p:nvPr/>
        </p:nvSpPr>
        <p:spPr>
          <a:xfrm>
            <a:off x="658368" y="2926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16736" y="2871216"/>
            <a:ext cx="8778240" cy="329184"/>
          </a:xfrm>
          <a:prstGeom prst="rect">
            <a:avLst/>
          </a:prstGeom>
          <a:noFill/>
          <a:ln/>
        </p:spPr>
        <p:txBody>
          <a:bodyPr wrap="square" lIns="0" tIns="0" rIns="0" bIns="0"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The pressure is real, and it is bounded.</a:t>
            </a:r>
            <a:endParaRPr lang="en-US" sz="1800" dirty="0"/>
          </a:p>
        </p:txBody>
      </p:sp>
      <p:sp>
        <p:nvSpPr>
          <p:cNvPr id="12" name="Text 10"/>
          <p:cNvSpPr txBox="1"/>
          <p:nvPr/>
        </p:nvSpPr>
        <p:spPr>
          <a:xfrm>
            <a:off x="1316736" y="3255264"/>
            <a:ext cx="9052560" cy="603504"/>
          </a:xfrm>
          <a:prstGeom prst="rect">
            <a:avLst/>
          </a:prstGeom>
          <a:noFill/>
          <a:ln/>
        </p:spPr>
        <p:txBody>
          <a:bodyPr wrap="square" lIns="0" tIns="0" rIns="0" bIns="0" rtlCol="0" anchor="t"/>
          <a:lstStyle/>
          <a:p>
            <a:pPr indent="0" marL="0">
              <a:lnSpc>
                <a:spcPct val="110000"/>
              </a:lnSpc>
              <a:buNone/>
            </a:pPr>
            <a:r>
              <a:rPr lang="en-US" sz="1350" dirty="0">
                <a:solidFill>
                  <a:srgbClr val="B9B3D0"/>
                </a:solidFill>
                <a:latin typeface="Calibri" pitchFamily="34" charset="0"/>
                <a:ea typeface="Calibri" pitchFamily="34" charset="-122"/>
                <a:cs typeface="Calibri" pitchFamily="34" charset="-120"/>
              </a:rPr>
              <a:t>The persona escalates on an approved ladder with a hard ceiling, and a distress exit that cannot be overridden.</a:t>
            </a:r>
            <a:endParaRPr lang="en-US" sz="1350" dirty="0"/>
          </a:p>
        </p:txBody>
      </p:sp>
      <p:sp>
        <p:nvSpPr>
          <p:cNvPr id="13" name="Shape 11"/>
          <p:cNvSpPr/>
          <p:nvPr/>
        </p:nvSpPr>
        <p:spPr>
          <a:xfrm>
            <a:off x="658368" y="4096512"/>
            <a:ext cx="420624" cy="420624"/>
          </a:xfrm>
          <a:prstGeom prst="ellipse">
            <a:avLst/>
          </a:prstGeom>
          <a:solidFill>
            <a:srgbClr val="7C6BC4"/>
          </a:solidFill>
          <a:ln/>
        </p:spPr>
      </p:sp>
      <p:sp>
        <p:nvSpPr>
          <p:cNvPr id="14" name="Text 12"/>
          <p:cNvSpPr txBox="1"/>
          <p:nvPr/>
        </p:nvSpPr>
        <p:spPr>
          <a:xfrm>
            <a:off x="658368" y="4096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316736" y="4041648"/>
            <a:ext cx="8778240" cy="329184"/>
          </a:xfrm>
          <a:prstGeom prst="rect">
            <a:avLst/>
          </a:prstGeom>
          <a:noFill/>
          <a:ln/>
        </p:spPr>
        <p:txBody>
          <a:bodyPr wrap="square" lIns="0" tIns="0" rIns="0" bIns="0"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The verdict is never our prose.</a:t>
            </a:r>
            <a:endParaRPr lang="en-US" sz="1800" dirty="0"/>
          </a:p>
        </p:txBody>
      </p:sp>
      <p:sp>
        <p:nvSpPr>
          <p:cNvPr id="16" name="Text 14"/>
          <p:cNvSpPr txBox="1"/>
          <p:nvPr/>
        </p:nvSpPr>
        <p:spPr>
          <a:xfrm>
            <a:off x="1316736" y="4425696"/>
            <a:ext cx="9052560" cy="603504"/>
          </a:xfrm>
          <a:prstGeom prst="rect">
            <a:avLst/>
          </a:prstGeom>
          <a:noFill/>
          <a:ln/>
        </p:spPr>
        <p:txBody>
          <a:bodyPr wrap="square" lIns="0" tIns="0" rIns="0" bIns="0" rtlCol="0" anchor="t"/>
          <a:lstStyle/>
          <a:p>
            <a:pPr indent="0" marL="0">
              <a:lnSpc>
                <a:spcPct val="110000"/>
              </a:lnSpc>
              <a:buNone/>
            </a:pPr>
            <a:r>
              <a:rPr lang="en-US" sz="1350" dirty="0">
                <a:solidFill>
                  <a:srgbClr val="B9B3D0"/>
                </a:solidFill>
                <a:latin typeface="Calibri" pitchFamily="34" charset="0"/>
                <a:ea typeface="Calibri" pitchFamily="34" charset="-122"/>
                <a:cs typeface="Calibri" pitchFamily="34" charset="-120"/>
              </a:rPr>
              <a:t>Each line on the scorecard is the investor's own sentence, beside the object that elicited it.</a:t>
            </a:r>
            <a:endParaRPr lang="en-US" sz="1350" dirty="0"/>
          </a:p>
        </p:txBody>
      </p:sp>
      <p:sp>
        <p:nvSpPr>
          <p:cNvPr id="17" name="Text 15"/>
          <p:cNvSpPr txBox="1"/>
          <p:nvPr/>
        </p:nvSpPr>
        <p:spPr>
          <a:xfrm>
            <a:off x="658368" y="5376672"/>
            <a:ext cx="10424160" cy="548640"/>
          </a:xfrm>
          <a:prstGeom prst="rect">
            <a:avLst/>
          </a:prstGeom>
          <a:noFill/>
          <a:ln/>
        </p:spPr>
        <p:txBody>
          <a:bodyPr wrap="square" lIns="0" tIns="0" rIns="0" bIns="0" rtlCol="0" anchor="t"/>
          <a:lstStyle/>
          <a:p>
            <a:pPr indent="0" marL="0">
              <a:lnSpc>
                <a:spcPct val="110000"/>
              </a:lnSpc>
              <a:buNone/>
            </a:pPr>
            <a:r>
              <a:rPr lang="en-US" sz="1250" i="1" dirty="0">
                <a:solidFill>
                  <a:srgbClr val="8B85A8"/>
                </a:solidFill>
                <a:latin typeface="Calibri" pitchFamily="34" charset="0"/>
                <a:ea typeface="Calibri" pitchFamily="34" charset="-122"/>
                <a:cs typeface="Calibri" pitchFamily="34" charset="-120"/>
              </a:rPr>
              <a:t>Voice only. There is no text input anywhere in the session — typing produces edited answers, and the interview needs unedited ones.</a:t>
            </a:r>
            <a:endParaRPr lang="en-US" sz="1250" dirty="0"/>
          </a:p>
        </p:txBody>
      </p:sp>
      <p:sp>
        <p:nvSpPr>
          <p:cNvPr id="18" name="Text 16"/>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8B85A8"/>
                </a:solidFill>
                <a:latin typeface="Calibri" pitchFamily="34" charset="0"/>
                <a:ea typeface="Calibri" pitchFamily="34" charset="-122"/>
                <a:cs typeface="Calibri" pitchFamily="34" charset="-120"/>
              </a:rPr>
              <a:t>2 minutes — rehearse to 1:50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5 · EVALUATION</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What we set out to build, and what we have.</a:t>
            </a:r>
            <a:endParaRPr lang="en-US" sz="3300" dirty="0"/>
          </a:p>
        </p:txBody>
      </p:sp>
      <p:sp>
        <p:nvSpPr>
          <p:cNvPr id="4" name="Shape 2"/>
          <p:cNvSpPr/>
          <p:nvPr/>
        </p:nvSpPr>
        <p:spPr>
          <a:xfrm>
            <a:off x="658368" y="1627632"/>
            <a:ext cx="10872216" cy="512064"/>
          </a:xfrm>
          <a:prstGeom prst="roundRect">
            <a:avLst>
              <a:gd name="adj" fmla="val 10714"/>
            </a:avLst>
          </a:prstGeom>
          <a:solidFill>
            <a:srgbClr val="F7F5FC"/>
          </a:solidFill>
          <a:ln w="12700">
            <a:solidFill>
              <a:srgbClr val="F7F5FC"/>
            </a:solidFill>
            <a:prstDash val="solid"/>
          </a:ln>
        </p:spPr>
      </p:sp>
      <p:sp>
        <p:nvSpPr>
          <p:cNvPr id="5" name="Shape 3"/>
          <p:cNvSpPr/>
          <p:nvPr/>
        </p:nvSpPr>
        <p:spPr>
          <a:xfrm>
            <a:off x="896112" y="1819656"/>
            <a:ext cx="128016" cy="128016"/>
          </a:xfrm>
          <a:prstGeom prst="ellipse">
            <a:avLst/>
          </a:prstGeom>
          <a:solidFill>
            <a:srgbClr val="2E7D5B"/>
          </a:solidFill>
          <a:ln/>
        </p:spPr>
      </p:sp>
      <p:sp>
        <p:nvSpPr>
          <p:cNvPr id="6" name="Text 4"/>
          <p:cNvSpPr txBox="1"/>
          <p:nvPr/>
        </p:nvSpPr>
        <p:spPr>
          <a:xfrm>
            <a:off x="1188720" y="1682496"/>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A voice-led interview that produces behavioural evidence, not a quiz score</a:t>
            </a:r>
            <a:endParaRPr lang="en-US" sz="1300" dirty="0"/>
          </a:p>
        </p:txBody>
      </p:sp>
      <p:sp>
        <p:nvSpPr>
          <p:cNvPr id="7" name="Text 5"/>
          <p:cNvSpPr txBox="1"/>
          <p:nvPr/>
        </p:nvSpPr>
        <p:spPr>
          <a:xfrm>
            <a:off x="6419088" y="1682496"/>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2E7D5B"/>
                </a:solidFill>
                <a:latin typeface="Calibri" pitchFamily="34" charset="0"/>
                <a:ea typeface="Calibri" pitchFamily="34" charset="-122"/>
                <a:cs typeface="Calibri" pitchFamily="34" charset="-120"/>
              </a:rPr>
              <a:t>Achieved</a:t>
            </a:r>
            <a:endParaRPr lang="en-US" sz="1300" dirty="0"/>
          </a:p>
        </p:txBody>
      </p:sp>
      <p:sp>
        <p:nvSpPr>
          <p:cNvPr id="8" name="Shape 6"/>
          <p:cNvSpPr/>
          <p:nvPr/>
        </p:nvSpPr>
        <p:spPr>
          <a:xfrm>
            <a:off x="658368" y="2203704"/>
            <a:ext cx="10872216" cy="512064"/>
          </a:xfrm>
          <a:prstGeom prst="roundRect">
            <a:avLst>
              <a:gd name="adj" fmla="val 10714"/>
            </a:avLst>
          </a:prstGeom>
          <a:solidFill>
            <a:srgbClr val="FFFFFF"/>
          </a:solidFill>
          <a:ln w="12700">
            <a:solidFill>
              <a:srgbClr val="FFFFFF"/>
            </a:solidFill>
            <a:prstDash val="solid"/>
          </a:ln>
        </p:spPr>
      </p:sp>
      <p:sp>
        <p:nvSpPr>
          <p:cNvPr id="9" name="Shape 7"/>
          <p:cNvSpPr/>
          <p:nvPr/>
        </p:nvSpPr>
        <p:spPr>
          <a:xfrm>
            <a:off x="896112" y="2395728"/>
            <a:ext cx="128016" cy="128016"/>
          </a:xfrm>
          <a:prstGeom prst="ellipse">
            <a:avLst/>
          </a:prstGeom>
          <a:solidFill>
            <a:srgbClr val="2E7D5B"/>
          </a:solidFill>
          <a:ln/>
        </p:spPr>
      </p:sp>
      <p:sp>
        <p:nvSpPr>
          <p:cNvPr id="10" name="Text 8"/>
          <p:cNvSpPr txBox="1"/>
          <p:nvPr/>
        </p:nvSpPr>
        <p:spPr>
          <a:xfrm>
            <a:off x="1188720" y="2258568"/>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A complete loop inside ten minutes</a:t>
            </a:r>
            <a:endParaRPr lang="en-US" sz="1300" dirty="0"/>
          </a:p>
        </p:txBody>
      </p:sp>
      <p:sp>
        <p:nvSpPr>
          <p:cNvPr id="11" name="Text 9"/>
          <p:cNvSpPr txBox="1"/>
          <p:nvPr/>
        </p:nvSpPr>
        <p:spPr>
          <a:xfrm>
            <a:off x="6419088" y="2258568"/>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2E7D5B"/>
                </a:solidFill>
                <a:latin typeface="Calibri" pitchFamily="34" charset="0"/>
                <a:ea typeface="Calibri" pitchFamily="34" charset="-122"/>
                <a:cs typeface="Calibri" pitchFamily="34" charset="-120"/>
              </a:rPr>
              <a:t>8 min 40 s, measured</a:t>
            </a:r>
            <a:endParaRPr lang="en-US" sz="1300" dirty="0"/>
          </a:p>
        </p:txBody>
      </p:sp>
      <p:sp>
        <p:nvSpPr>
          <p:cNvPr id="12" name="Shape 10"/>
          <p:cNvSpPr/>
          <p:nvPr/>
        </p:nvSpPr>
        <p:spPr>
          <a:xfrm>
            <a:off x="658368" y="2779776"/>
            <a:ext cx="10872216" cy="512064"/>
          </a:xfrm>
          <a:prstGeom prst="roundRect">
            <a:avLst>
              <a:gd name="adj" fmla="val 10714"/>
            </a:avLst>
          </a:prstGeom>
          <a:solidFill>
            <a:srgbClr val="F7F5FC"/>
          </a:solidFill>
          <a:ln w="12700">
            <a:solidFill>
              <a:srgbClr val="F7F5FC"/>
            </a:solidFill>
            <a:prstDash val="solid"/>
          </a:ln>
        </p:spPr>
      </p:sp>
      <p:sp>
        <p:nvSpPr>
          <p:cNvPr id="13" name="Shape 11"/>
          <p:cNvSpPr/>
          <p:nvPr/>
        </p:nvSpPr>
        <p:spPr>
          <a:xfrm>
            <a:off x="896112" y="2971800"/>
            <a:ext cx="128016" cy="128016"/>
          </a:xfrm>
          <a:prstGeom prst="ellipse">
            <a:avLst/>
          </a:prstGeom>
          <a:solidFill>
            <a:srgbClr val="2E7D5B"/>
          </a:solidFill>
          <a:ln/>
        </p:spPr>
      </p:sp>
      <p:sp>
        <p:nvSpPr>
          <p:cNvPr id="14" name="Text 12"/>
          <p:cNvSpPr txBox="1"/>
          <p:nvPr/>
        </p:nvSpPr>
        <p:spPr>
          <a:xfrm>
            <a:off x="1188720" y="2834640"/>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Every determination traceable to the investor's own words</a:t>
            </a:r>
            <a:endParaRPr lang="en-US" sz="1300" dirty="0"/>
          </a:p>
        </p:txBody>
      </p:sp>
      <p:sp>
        <p:nvSpPr>
          <p:cNvPr id="15" name="Text 13"/>
          <p:cNvSpPr txBox="1"/>
          <p:nvPr/>
        </p:nvSpPr>
        <p:spPr>
          <a:xfrm>
            <a:off x="6419088" y="2834640"/>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2E7D5B"/>
                </a:solidFill>
                <a:latin typeface="Calibri" pitchFamily="34" charset="0"/>
                <a:ea typeface="Calibri" pitchFamily="34" charset="-122"/>
                <a:cs typeface="Calibri" pitchFamily="34" charset="-120"/>
              </a:rPr>
              <a:t>Achieved — verbatim binding throughout</a:t>
            </a:r>
            <a:endParaRPr lang="en-US" sz="1300" dirty="0"/>
          </a:p>
        </p:txBody>
      </p:sp>
      <p:sp>
        <p:nvSpPr>
          <p:cNvPr id="16" name="Shape 14"/>
          <p:cNvSpPr/>
          <p:nvPr/>
        </p:nvSpPr>
        <p:spPr>
          <a:xfrm>
            <a:off x="658368" y="3355848"/>
            <a:ext cx="10872216" cy="512064"/>
          </a:xfrm>
          <a:prstGeom prst="roundRect">
            <a:avLst>
              <a:gd name="adj" fmla="val 10714"/>
            </a:avLst>
          </a:prstGeom>
          <a:solidFill>
            <a:srgbClr val="FFFFFF"/>
          </a:solidFill>
          <a:ln w="12700">
            <a:solidFill>
              <a:srgbClr val="FFFFFF"/>
            </a:solidFill>
            <a:prstDash val="solid"/>
          </a:ln>
        </p:spPr>
      </p:sp>
      <p:sp>
        <p:nvSpPr>
          <p:cNvPr id="17" name="Shape 15"/>
          <p:cNvSpPr/>
          <p:nvPr/>
        </p:nvSpPr>
        <p:spPr>
          <a:xfrm>
            <a:off x="896112" y="3547872"/>
            <a:ext cx="128016" cy="128016"/>
          </a:xfrm>
          <a:prstGeom prst="ellipse">
            <a:avLst/>
          </a:prstGeom>
          <a:solidFill>
            <a:srgbClr val="B5762A"/>
          </a:solidFill>
          <a:ln/>
        </p:spPr>
      </p:sp>
      <p:sp>
        <p:nvSpPr>
          <p:cNvPr id="18" name="Text 16"/>
          <p:cNvSpPr txBox="1"/>
          <p:nvPr/>
        </p:nvSpPr>
        <p:spPr>
          <a:xfrm>
            <a:off x="1188720" y="3410712"/>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Delivery in more than one language, voice included</a:t>
            </a:r>
            <a:endParaRPr lang="en-US" sz="1300" dirty="0"/>
          </a:p>
        </p:txBody>
      </p:sp>
      <p:sp>
        <p:nvSpPr>
          <p:cNvPr id="19" name="Text 17"/>
          <p:cNvSpPr txBox="1"/>
          <p:nvPr/>
        </p:nvSpPr>
        <p:spPr>
          <a:xfrm>
            <a:off x="6419088" y="3410712"/>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B5762A"/>
                </a:solidFill>
                <a:latin typeface="Calibri" pitchFamily="34" charset="0"/>
                <a:ea typeface="Calibri" pitchFamily="34" charset="-122"/>
                <a:cs typeface="Calibri" pitchFamily="34" charset="-120"/>
              </a:rPr>
              <a:t>Four languages. One cleared for deployment, three await native review</a:t>
            </a:r>
            <a:endParaRPr lang="en-US" sz="1300" dirty="0"/>
          </a:p>
        </p:txBody>
      </p:sp>
      <p:sp>
        <p:nvSpPr>
          <p:cNvPr id="20" name="Shape 18"/>
          <p:cNvSpPr/>
          <p:nvPr/>
        </p:nvSpPr>
        <p:spPr>
          <a:xfrm>
            <a:off x="658368" y="3931920"/>
            <a:ext cx="10872216" cy="512064"/>
          </a:xfrm>
          <a:prstGeom prst="roundRect">
            <a:avLst>
              <a:gd name="adj" fmla="val 10714"/>
            </a:avLst>
          </a:prstGeom>
          <a:solidFill>
            <a:srgbClr val="F7F5FC"/>
          </a:solidFill>
          <a:ln w="12700">
            <a:solidFill>
              <a:srgbClr val="F7F5FC"/>
            </a:solidFill>
            <a:prstDash val="solid"/>
          </a:ln>
        </p:spPr>
      </p:sp>
      <p:sp>
        <p:nvSpPr>
          <p:cNvPr id="21" name="Shape 19"/>
          <p:cNvSpPr/>
          <p:nvPr/>
        </p:nvSpPr>
        <p:spPr>
          <a:xfrm>
            <a:off x="896112" y="4123944"/>
            <a:ext cx="128016" cy="128016"/>
          </a:xfrm>
          <a:prstGeom prst="ellipse">
            <a:avLst/>
          </a:prstGeom>
          <a:solidFill>
            <a:srgbClr val="5A4A96"/>
          </a:solidFill>
          <a:ln/>
        </p:spPr>
      </p:sp>
      <p:sp>
        <p:nvSpPr>
          <p:cNvPr id="22" name="Text 20"/>
          <p:cNvSpPr txBox="1"/>
          <p:nvPr/>
        </p:nvSpPr>
        <p:spPr>
          <a:xfrm>
            <a:off x="1188720" y="3986784"/>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Governance we could put in front of a regulator</a:t>
            </a:r>
            <a:endParaRPr lang="en-US" sz="1300" dirty="0"/>
          </a:p>
        </p:txBody>
      </p:sp>
      <p:sp>
        <p:nvSpPr>
          <p:cNvPr id="23" name="Text 21"/>
          <p:cNvSpPr txBox="1"/>
          <p:nvPr/>
        </p:nvSpPr>
        <p:spPr>
          <a:xfrm>
            <a:off x="6419088" y="3986784"/>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5A4A96"/>
                </a:solidFill>
                <a:latin typeface="Calibri" pitchFamily="34" charset="0"/>
                <a:ea typeface="Calibri" pitchFamily="34" charset="-122"/>
                <a:cs typeface="Calibri" pitchFamily="34" charset="-120"/>
              </a:rPr>
              <a:t>Exceeded — we built the publish gate, and it blocked us</a:t>
            </a:r>
            <a:endParaRPr lang="en-US" sz="1300" dirty="0"/>
          </a:p>
        </p:txBody>
      </p:sp>
      <p:sp>
        <p:nvSpPr>
          <p:cNvPr id="24" name="Shape 22"/>
          <p:cNvSpPr/>
          <p:nvPr/>
        </p:nvSpPr>
        <p:spPr>
          <a:xfrm>
            <a:off x="658368" y="4507992"/>
            <a:ext cx="10872216" cy="512064"/>
          </a:xfrm>
          <a:prstGeom prst="roundRect">
            <a:avLst>
              <a:gd name="adj" fmla="val 10714"/>
            </a:avLst>
          </a:prstGeom>
          <a:solidFill>
            <a:srgbClr val="FFFFFF"/>
          </a:solidFill>
          <a:ln w="12700">
            <a:solidFill>
              <a:srgbClr val="FFFFFF"/>
            </a:solidFill>
            <a:prstDash val="solid"/>
          </a:ln>
        </p:spPr>
      </p:sp>
      <p:sp>
        <p:nvSpPr>
          <p:cNvPr id="25" name="Shape 23"/>
          <p:cNvSpPr/>
          <p:nvPr/>
        </p:nvSpPr>
        <p:spPr>
          <a:xfrm>
            <a:off x="896112" y="4700016"/>
            <a:ext cx="128016" cy="128016"/>
          </a:xfrm>
          <a:prstGeom prst="ellipse">
            <a:avLst/>
          </a:prstGeom>
          <a:solidFill>
            <a:srgbClr val="B5762A"/>
          </a:solidFill>
          <a:ln/>
        </p:spPr>
      </p:sp>
      <p:sp>
        <p:nvSpPr>
          <p:cNvPr id="26" name="Text 24"/>
          <p:cNvSpPr txBox="1"/>
          <p:nvPr/>
        </p:nvSpPr>
        <p:spPr>
          <a:xfrm>
            <a:off x="1188720" y="4562856"/>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A durable behaviour-change claim</a:t>
            </a:r>
            <a:endParaRPr lang="en-US" sz="1300" dirty="0"/>
          </a:p>
        </p:txBody>
      </p:sp>
      <p:sp>
        <p:nvSpPr>
          <p:cNvPr id="27" name="Text 25"/>
          <p:cNvSpPr txBox="1"/>
          <p:nvPr/>
        </p:nvSpPr>
        <p:spPr>
          <a:xfrm>
            <a:off x="6419088" y="4562856"/>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B5762A"/>
                </a:solidFill>
                <a:latin typeface="Calibri" pitchFamily="34" charset="0"/>
                <a:ea typeface="Calibri" pitchFamily="34" charset="-122"/>
                <a:cs typeface="Calibri" pitchFamily="34" charset="-120"/>
              </a:rPr>
              <a:t>Not made. We measure within-session transfer only, and the record says so</a:t>
            </a:r>
            <a:endParaRPr lang="en-US" sz="1300" dirty="0"/>
          </a:p>
        </p:txBody>
      </p:sp>
      <p:sp>
        <p:nvSpPr>
          <p:cNvPr id="28" name="Shape 26"/>
          <p:cNvSpPr/>
          <p:nvPr/>
        </p:nvSpPr>
        <p:spPr>
          <a:xfrm>
            <a:off x="658368" y="5084064"/>
            <a:ext cx="10872216" cy="512064"/>
          </a:xfrm>
          <a:prstGeom prst="roundRect">
            <a:avLst>
              <a:gd name="adj" fmla="val 10714"/>
            </a:avLst>
          </a:prstGeom>
          <a:solidFill>
            <a:srgbClr val="F7F5FC"/>
          </a:solidFill>
          <a:ln w="12700">
            <a:solidFill>
              <a:srgbClr val="F7F5FC"/>
            </a:solidFill>
            <a:prstDash val="solid"/>
          </a:ln>
        </p:spPr>
      </p:sp>
      <p:sp>
        <p:nvSpPr>
          <p:cNvPr id="29" name="Shape 27"/>
          <p:cNvSpPr/>
          <p:nvPr/>
        </p:nvSpPr>
        <p:spPr>
          <a:xfrm>
            <a:off x="896112" y="5276088"/>
            <a:ext cx="128016" cy="128016"/>
          </a:xfrm>
          <a:prstGeom prst="ellipse">
            <a:avLst/>
          </a:prstGeom>
          <a:solidFill>
            <a:srgbClr val="B5762A"/>
          </a:solidFill>
          <a:ln/>
        </p:spPr>
      </p:sp>
      <p:sp>
        <p:nvSpPr>
          <p:cNvPr id="30" name="Text 28"/>
          <p:cNvSpPr txBox="1"/>
          <p:nvPr/>
        </p:nvSpPr>
        <p:spPr>
          <a:xfrm>
            <a:off x="1188720" y="5138928"/>
            <a:ext cx="5029200" cy="402336"/>
          </a:xfrm>
          <a:prstGeom prst="rect">
            <a:avLst/>
          </a:prstGeom>
          <a:noFill/>
          <a:ln/>
        </p:spPr>
        <p:txBody>
          <a:bodyPr wrap="square" lIns="0" tIns="0" rIns="0" bIns="0" rtlCol="0" anchor="ctr"/>
          <a:lstStyle/>
          <a:p>
            <a:pPr indent="0" marL="0">
              <a:lnSpc>
                <a:spcPct val="110000"/>
              </a:lnSpc>
              <a:buNone/>
            </a:pPr>
            <a:r>
              <a:rPr lang="en-US" sz="1300" dirty="0">
                <a:solidFill>
                  <a:srgbClr val="2A2447"/>
                </a:solidFill>
                <a:latin typeface="Calibri" pitchFamily="34" charset="0"/>
                <a:ea typeface="Calibri" pitchFamily="34" charset="-122"/>
                <a:cs typeface="Calibri" pitchFamily="34" charset="-120"/>
              </a:rPr>
              <a:t>A field trial with retail investors</a:t>
            </a:r>
            <a:endParaRPr lang="en-US" sz="1300" dirty="0"/>
          </a:p>
        </p:txBody>
      </p:sp>
      <p:sp>
        <p:nvSpPr>
          <p:cNvPr id="31" name="Text 29"/>
          <p:cNvSpPr txBox="1"/>
          <p:nvPr/>
        </p:nvSpPr>
        <p:spPr>
          <a:xfrm>
            <a:off x="6419088" y="5138928"/>
            <a:ext cx="4846320" cy="402336"/>
          </a:xfrm>
          <a:prstGeom prst="rect">
            <a:avLst/>
          </a:prstGeom>
          <a:noFill/>
          <a:ln/>
        </p:spPr>
        <p:txBody>
          <a:bodyPr wrap="square" lIns="0" tIns="0" rIns="0" bIns="0" rtlCol="0" anchor="ctr"/>
          <a:lstStyle/>
          <a:p>
            <a:pPr indent="0" marL="0">
              <a:lnSpc>
                <a:spcPct val="110000"/>
              </a:lnSpc>
              <a:buNone/>
            </a:pPr>
            <a:r>
              <a:rPr lang="en-US" sz="1300" b="1" dirty="0">
                <a:solidFill>
                  <a:srgbClr val="B5762A"/>
                </a:solidFill>
                <a:latin typeface="Calibri" pitchFamily="34" charset="0"/>
                <a:ea typeface="Calibri" pitchFamily="34" charset="-122"/>
                <a:cs typeface="Calibri" pitchFamily="34" charset="-120"/>
              </a:rPr>
              <a:t>Not yet run. This is the next milestone, not a footnote</a:t>
            </a:r>
            <a:endParaRPr lang="en-US" sz="1300" dirty="0"/>
          </a:p>
        </p:txBody>
      </p:sp>
      <p:sp>
        <p:nvSpPr>
          <p:cNvPr id="32" name="Text 30"/>
          <p:cNvSpPr txBox="1"/>
          <p:nvPr/>
        </p:nvSpPr>
        <p:spPr>
          <a:xfrm>
            <a:off x="658368" y="5705856"/>
            <a:ext cx="10872216" cy="384048"/>
          </a:xfrm>
          <a:prstGeom prst="rect">
            <a:avLst/>
          </a:prstGeom>
          <a:noFill/>
          <a:ln/>
        </p:spPr>
        <p:txBody>
          <a:bodyPr wrap="square" lIns="0" tIns="0" rIns="0" bIns="0" rtlCol="0" anchor="t"/>
          <a:lstStyle/>
          <a:p>
            <a:pPr indent="0" marL="0">
              <a:lnSpc>
                <a:spcPct val="110000"/>
              </a:lnSpc>
              <a:buNone/>
            </a:pPr>
            <a:r>
              <a:rPr lang="en-US" sz="1250" i="1" dirty="0">
                <a:solidFill>
                  <a:srgbClr val="6B6880"/>
                </a:solidFill>
                <a:latin typeface="Calibri" pitchFamily="34" charset="0"/>
                <a:ea typeface="Calibri" pitchFamily="34" charset="-122"/>
                <a:cs typeface="Calibri" pitchFamily="34" charset="-120"/>
              </a:rPr>
              <a:t>The last two are on this slide deliberately. A team that only reports what worked has not finished evaluating.</a:t>
            </a:r>
            <a:endParaRPr lang="en-US" sz="1250" dirty="0"/>
          </a:p>
        </p:txBody>
      </p:sp>
      <p:sp>
        <p:nvSpPr>
          <p:cNvPr id="33" name="Text 31"/>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1 minute 15 seconds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6 · DEEP DIVE</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We built a gate that can block us. Then it did.</a:t>
            </a:r>
            <a:endParaRPr lang="en-US" sz="3300" dirty="0"/>
          </a:p>
        </p:txBody>
      </p:sp>
      <p:sp>
        <p:nvSpPr>
          <p:cNvPr id="4" name="Text 2"/>
          <p:cNvSpPr txBox="1"/>
          <p:nvPr/>
        </p:nvSpPr>
        <p:spPr>
          <a:xfrm>
            <a:off x="658368" y="1481328"/>
            <a:ext cx="6309360" cy="658368"/>
          </a:xfrm>
          <a:prstGeom prst="rect">
            <a:avLst/>
          </a:prstGeom>
          <a:noFill/>
          <a:ln/>
        </p:spPr>
        <p:txBody>
          <a:bodyPr wrap="square" lIns="0" tIns="0" rIns="0" bIns="0" rtlCol="0" anchor="t"/>
          <a:lstStyle/>
          <a:p>
            <a:pPr indent="0" marL="0">
              <a:lnSpc>
                <a:spcPct val="114000"/>
              </a:lnSpc>
              <a:buNone/>
            </a:pPr>
            <a:r>
              <a:rPr lang="en-US" sz="1400" dirty="0">
                <a:solidFill>
                  <a:srgbClr val="2A2447"/>
                </a:solidFill>
                <a:latin typeface="Calibri" pitchFamily="34" charset="0"/>
                <a:ea typeface="Calibri" pitchFamily="34" charset="-122"/>
                <a:cs typeface="Calibri" pitchFamily="34" charset="-120"/>
              </a:rPr>
              <a:t>Nothing reaches an investor until a mechanical publish gate passes. Ten tests, seven of them blocking, no waive path — not for a client, and not for BYOND Asia.</a:t>
            </a:r>
            <a:endParaRPr lang="en-US" sz="1400" dirty="0"/>
          </a:p>
        </p:txBody>
      </p:sp>
      <p:sp>
        <p:nvSpPr>
          <p:cNvPr id="5" name="Shape 3"/>
          <p:cNvSpPr/>
          <p:nvPr/>
        </p:nvSpPr>
        <p:spPr>
          <a:xfrm>
            <a:off x="658368" y="2267712"/>
            <a:ext cx="365760" cy="365760"/>
          </a:xfrm>
          <a:prstGeom prst="ellipse">
            <a:avLst/>
          </a:prstGeom>
          <a:solidFill>
            <a:srgbClr val="7C6BC4"/>
          </a:solidFill>
          <a:ln/>
        </p:spPr>
      </p:sp>
      <p:sp>
        <p:nvSpPr>
          <p:cNvPr id="6" name="Text 4"/>
          <p:cNvSpPr txBox="1"/>
          <p:nvPr/>
        </p:nvSpPr>
        <p:spPr>
          <a:xfrm>
            <a:off x="658368" y="22677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225296" y="2231136"/>
            <a:ext cx="5760720" cy="292608"/>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We ran the gate against our own live library.</a:t>
            </a:r>
            <a:endParaRPr lang="en-US" sz="1450" dirty="0"/>
          </a:p>
        </p:txBody>
      </p:sp>
      <p:sp>
        <p:nvSpPr>
          <p:cNvPr id="8" name="Text 6"/>
          <p:cNvSpPr txBox="1"/>
          <p:nvPr/>
        </p:nvSpPr>
        <p:spPr>
          <a:xfrm>
            <a:off x="1225296" y="2542032"/>
            <a:ext cx="5760720" cy="566928"/>
          </a:xfrm>
          <a:prstGeom prst="rect">
            <a:avLst/>
          </a:prstGeom>
          <a:noFill/>
          <a:ln/>
        </p:spPr>
        <p:txBody>
          <a:bodyPr wrap="square" lIns="0" tIns="0" rIns="0" bIns="0" rtlCol="0" anchor="t"/>
          <a:lstStyle/>
          <a:p>
            <a:pPr indent="0" marL="0">
              <a:lnSpc>
                <a:spcPct val="110000"/>
              </a:lnSpc>
              <a:buNone/>
            </a:pPr>
            <a:r>
              <a:rPr lang="en-US" sz="1250" dirty="0">
                <a:solidFill>
                  <a:srgbClr val="2A2447"/>
                </a:solidFill>
                <a:latin typeface="Calibri" pitchFamily="34" charset="0"/>
                <a:ea typeface="Calibri" pitchFamily="34" charset="-122"/>
                <a:cs typeface="Calibri" pitchFamily="34" charset="-120"/>
              </a:rPr>
              <a:t>Not a fixture. The library running in the demo you just watched.</a:t>
            </a:r>
            <a:endParaRPr lang="en-US" sz="1250" dirty="0"/>
          </a:p>
        </p:txBody>
      </p:sp>
      <p:sp>
        <p:nvSpPr>
          <p:cNvPr id="9" name="Shape 7"/>
          <p:cNvSpPr/>
          <p:nvPr/>
        </p:nvSpPr>
        <p:spPr>
          <a:xfrm>
            <a:off x="658368" y="3200400"/>
            <a:ext cx="365760" cy="365760"/>
          </a:xfrm>
          <a:prstGeom prst="ellipse">
            <a:avLst/>
          </a:prstGeom>
          <a:solidFill>
            <a:srgbClr val="7C6BC4"/>
          </a:solidFill>
          <a:ln/>
        </p:spPr>
      </p:sp>
      <p:sp>
        <p:nvSpPr>
          <p:cNvPr id="10" name="Text 8"/>
          <p:cNvSpPr txBox="1"/>
          <p:nvPr/>
        </p:nvSpPr>
        <p:spPr>
          <a:xfrm>
            <a:off x="658368" y="320040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1" name="Text 9"/>
          <p:cNvSpPr txBox="1"/>
          <p:nvPr/>
        </p:nvSpPr>
        <p:spPr>
          <a:xfrm>
            <a:off x="1225296" y="3163824"/>
            <a:ext cx="5760720" cy="292608"/>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Coverage failed.</a:t>
            </a:r>
            <a:endParaRPr lang="en-US" sz="1450" dirty="0"/>
          </a:p>
        </p:txBody>
      </p:sp>
      <p:sp>
        <p:nvSpPr>
          <p:cNvPr id="12" name="Text 10"/>
          <p:cNvSpPr txBox="1"/>
          <p:nvPr/>
        </p:nvSpPr>
        <p:spPr>
          <a:xfrm>
            <a:off x="1225296" y="3474720"/>
            <a:ext cx="5760720" cy="566928"/>
          </a:xfrm>
          <a:prstGeom prst="rect">
            <a:avLst/>
          </a:prstGeom>
          <a:noFill/>
          <a:ln/>
        </p:spPr>
        <p:txBody>
          <a:bodyPr wrap="square" lIns="0" tIns="0" rIns="0" bIns="0" rtlCol="0" anchor="t"/>
          <a:lstStyle/>
          <a:p>
            <a:pPr indent="0" marL="0">
              <a:lnSpc>
                <a:spcPct val="110000"/>
              </a:lnSpc>
              <a:buNone/>
            </a:pPr>
            <a:r>
              <a:rPr lang="en-US" sz="1250" dirty="0">
                <a:solidFill>
                  <a:srgbClr val="2A2447"/>
                </a:solidFill>
                <a:latin typeface="Calibri" pitchFamily="34" charset="0"/>
                <a:ea typeface="Calibri" pitchFamily="34" charset="-122"/>
                <a:cs typeface="Calibri" pitchFamily="34" charset="-120"/>
              </a:rPr>
              <a:t>Four mandatory competency elements had no approved question that could elicit them. They could never be resolved in a session.</a:t>
            </a:r>
            <a:endParaRPr lang="en-US" sz="1250" dirty="0"/>
          </a:p>
        </p:txBody>
      </p:sp>
      <p:sp>
        <p:nvSpPr>
          <p:cNvPr id="13" name="Shape 11"/>
          <p:cNvSpPr/>
          <p:nvPr/>
        </p:nvSpPr>
        <p:spPr>
          <a:xfrm>
            <a:off x="658368" y="4133088"/>
            <a:ext cx="365760" cy="365760"/>
          </a:xfrm>
          <a:prstGeom prst="ellipse">
            <a:avLst/>
          </a:prstGeom>
          <a:solidFill>
            <a:srgbClr val="7C6BC4"/>
          </a:solidFill>
          <a:ln/>
        </p:spPr>
      </p:sp>
      <p:sp>
        <p:nvSpPr>
          <p:cNvPr id="14" name="Text 12"/>
          <p:cNvSpPr txBox="1"/>
          <p:nvPr/>
        </p:nvSpPr>
        <p:spPr>
          <a:xfrm>
            <a:off x="658368" y="413308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1225296" y="4096512"/>
            <a:ext cx="5760720" cy="292608"/>
          </a:xfrm>
          <a:prstGeom prst="rect">
            <a:avLst/>
          </a:prstGeom>
          <a:noFill/>
          <a:ln/>
        </p:spPr>
        <p:txBody>
          <a:bodyPr wrap="square" lIns="0" tIns="0" rIns="0" bIns="0" rtlCol="0" anchor="t"/>
          <a:lstStyle/>
          <a:p>
            <a:pPr indent="0" marL="0">
              <a:lnSpc>
                <a:spcPct val="110000"/>
              </a:lnSpc>
              <a:buNone/>
            </a:pPr>
            <a:r>
              <a:rPr lang="en-US" sz="1450" b="1" dirty="0">
                <a:solidFill>
                  <a:srgbClr val="5A4A96"/>
                </a:solidFill>
                <a:latin typeface="Calibri" pitchFamily="34" charset="0"/>
                <a:ea typeface="Calibri" pitchFamily="34" charset="-122"/>
                <a:cs typeface="Calibri" pitchFamily="34" charset="-120"/>
              </a:rPr>
              <a:t>Clearing it cascaded.</a:t>
            </a:r>
            <a:endParaRPr lang="en-US" sz="1450" dirty="0"/>
          </a:p>
        </p:txBody>
      </p:sp>
      <p:sp>
        <p:nvSpPr>
          <p:cNvPr id="16" name="Text 14"/>
          <p:cNvSpPr txBox="1"/>
          <p:nvPr/>
        </p:nvSpPr>
        <p:spPr>
          <a:xfrm>
            <a:off x="1225296" y="4407408"/>
            <a:ext cx="5760720" cy="566928"/>
          </a:xfrm>
          <a:prstGeom prst="rect">
            <a:avLst/>
          </a:prstGeom>
          <a:noFill/>
          <a:ln/>
        </p:spPr>
        <p:txBody>
          <a:bodyPr wrap="square" lIns="0" tIns="0" rIns="0" bIns="0" rtlCol="0" anchor="t"/>
          <a:lstStyle/>
          <a:p>
            <a:pPr indent="0" marL="0">
              <a:lnSpc>
                <a:spcPct val="110000"/>
              </a:lnSpc>
              <a:buNone/>
            </a:pPr>
            <a:r>
              <a:rPr lang="en-US" sz="1250" dirty="0">
                <a:solidFill>
                  <a:srgbClr val="2A2447"/>
                </a:solidFill>
                <a:latin typeface="Calibri" pitchFamily="34" charset="0"/>
                <a:ea typeface="Calibri" pitchFamily="34" charset="-122"/>
                <a:cs typeface="Calibri" pitchFamily="34" charset="-120"/>
              </a:rPr>
              <a:t>Retiring those four broke version consistency — nine objects had to be withdrawn before the bundle would release.</a:t>
            </a:r>
            <a:endParaRPr lang="en-US" sz="1250" dirty="0"/>
          </a:p>
        </p:txBody>
      </p:sp>
      <p:sp>
        <p:nvSpPr>
          <p:cNvPr id="17" name="Shape 15"/>
          <p:cNvSpPr/>
          <p:nvPr/>
        </p:nvSpPr>
        <p:spPr>
          <a:xfrm>
            <a:off x="7315200" y="1481328"/>
            <a:ext cx="4215384" cy="3310128"/>
          </a:xfrm>
          <a:prstGeom prst="roundRect">
            <a:avLst>
              <a:gd name="adj" fmla="val 1657"/>
            </a:avLst>
          </a:prstGeom>
          <a:solidFill>
            <a:srgbClr val="1B1733"/>
          </a:solidFill>
          <a:ln w="12700">
            <a:solidFill>
              <a:srgbClr val="1B1733"/>
            </a:solidFill>
            <a:prstDash val="solid"/>
          </a:ln>
        </p:spPr>
      </p:sp>
      <p:sp>
        <p:nvSpPr>
          <p:cNvPr id="18" name="Text 16"/>
          <p:cNvSpPr txBox="1"/>
          <p:nvPr/>
        </p:nvSpPr>
        <p:spPr>
          <a:xfrm>
            <a:off x="7589520" y="1682496"/>
            <a:ext cx="3474720" cy="256032"/>
          </a:xfrm>
          <a:prstGeom prst="rect">
            <a:avLst/>
          </a:prstGeom>
          <a:noFill/>
          <a:ln/>
        </p:spPr>
        <p:txBody>
          <a:bodyPr wrap="square" lIns="0" tIns="0" rIns="0" bIns="0" rtlCol="0" anchor="t"/>
          <a:lstStyle/>
          <a:p>
            <a:pPr indent="0" marL="0">
              <a:lnSpc>
                <a:spcPct val="110000"/>
              </a:lnSpc>
              <a:buNone/>
            </a:pPr>
            <a:r>
              <a:rPr lang="en-US" sz="1100" b="1" dirty="0">
                <a:solidFill>
                  <a:srgbClr val="9A93BC"/>
                </a:solidFill>
                <a:latin typeface="Calibri" pitchFamily="34" charset="0"/>
                <a:ea typeface="Calibri" pitchFamily="34" charset="-122"/>
                <a:cs typeface="Calibri" pitchFamily="34" charset="-120"/>
              </a:rPr>
              <a:t>AUREN  ·  release report</a:t>
            </a:r>
            <a:endParaRPr lang="en-US" sz="1100" dirty="0"/>
          </a:p>
        </p:txBody>
      </p:sp>
      <p:sp>
        <p:nvSpPr>
          <p:cNvPr id="19" name="Text 17"/>
          <p:cNvSpPr txBox="1"/>
          <p:nvPr/>
        </p:nvSpPr>
        <p:spPr>
          <a:xfrm>
            <a:off x="7589520" y="206654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Candidate set</a:t>
            </a:r>
            <a:endParaRPr lang="en-US" sz="1100" dirty="0"/>
          </a:p>
        </p:txBody>
      </p:sp>
      <p:sp>
        <p:nvSpPr>
          <p:cNvPr id="20" name="Text 18"/>
          <p:cNvSpPr txBox="1"/>
          <p:nvPr/>
        </p:nvSpPr>
        <p:spPr>
          <a:xfrm>
            <a:off x="9985248" y="206654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21" name="Text 19"/>
          <p:cNvSpPr txBox="1"/>
          <p:nvPr/>
        </p:nvSpPr>
        <p:spPr>
          <a:xfrm>
            <a:off x="7589520" y="234086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Coverage</a:t>
            </a:r>
            <a:endParaRPr lang="en-US" sz="1100" dirty="0"/>
          </a:p>
        </p:txBody>
      </p:sp>
      <p:sp>
        <p:nvSpPr>
          <p:cNvPr id="22" name="Text 20"/>
          <p:cNvSpPr txBox="1"/>
          <p:nvPr/>
        </p:nvSpPr>
        <p:spPr>
          <a:xfrm>
            <a:off x="9985248" y="234086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E8896B"/>
                </a:solidFill>
                <a:latin typeface="Calibri" pitchFamily="34" charset="0"/>
                <a:ea typeface="Calibri" pitchFamily="34" charset="-122"/>
                <a:cs typeface="Calibri" pitchFamily="34" charset="-120"/>
              </a:rPr>
              <a:t>BLOCKED</a:t>
            </a:r>
            <a:endParaRPr lang="en-US" sz="1050" dirty="0"/>
          </a:p>
        </p:txBody>
      </p:sp>
      <p:sp>
        <p:nvSpPr>
          <p:cNvPr id="23" name="Text 21"/>
          <p:cNvSpPr txBox="1"/>
          <p:nvPr/>
        </p:nvSpPr>
        <p:spPr>
          <a:xfrm>
            <a:off x="7589520" y="261518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Anchor integrity</a:t>
            </a:r>
            <a:endParaRPr lang="en-US" sz="1100" dirty="0"/>
          </a:p>
        </p:txBody>
      </p:sp>
      <p:sp>
        <p:nvSpPr>
          <p:cNvPr id="24" name="Text 22"/>
          <p:cNvSpPr txBox="1"/>
          <p:nvPr/>
        </p:nvSpPr>
        <p:spPr>
          <a:xfrm>
            <a:off x="9985248" y="261518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25" name="Text 23"/>
          <p:cNvSpPr txBox="1"/>
          <p:nvPr/>
        </p:nvSpPr>
        <p:spPr>
          <a:xfrm>
            <a:off x="7589520" y="288950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Prohibited formulation</a:t>
            </a:r>
            <a:endParaRPr lang="en-US" sz="1100" dirty="0"/>
          </a:p>
        </p:txBody>
      </p:sp>
      <p:sp>
        <p:nvSpPr>
          <p:cNvPr id="26" name="Text 24"/>
          <p:cNvSpPr txBox="1"/>
          <p:nvPr/>
        </p:nvSpPr>
        <p:spPr>
          <a:xfrm>
            <a:off x="9985248" y="288950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27" name="Text 25"/>
          <p:cNvSpPr txBox="1"/>
          <p:nvPr/>
        </p:nvSpPr>
        <p:spPr>
          <a:xfrm>
            <a:off x="7589520" y="316382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Scope integrity</a:t>
            </a:r>
            <a:endParaRPr lang="en-US" sz="1100" dirty="0"/>
          </a:p>
        </p:txBody>
      </p:sp>
      <p:sp>
        <p:nvSpPr>
          <p:cNvPr id="28" name="Text 26"/>
          <p:cNvSpPr txBox="1"/>
          <p:nvPr/>
        </p:nvSpPr>
        <p:spPr>
          <a:xfrm>
            <a:off x="9985248" y="316382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29" name="Text 27"/>
          <p:cNvSpPr txBox="1"/>
          <p:nvPr/>
        </p:nvSpPr>
        <p:spPr>
          <a:xfrm>
            <a:off x="7589520" y="343814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Boundary refusal</a:t>
            </a:r>
            <a:endParaRPr lang="en-US" sz="1100" dirty="0"/>
          </a:p>
        </p:txBody>
      </p:sp>
      <p:sp>
        <p:nvSpPr>
          <p:cNvPr id="30" name="Text 28"/>
          <p:cNvSpPr txBox="1"/>
          <p:nvPr/>
        </p:nvSpPr>
        <p:spPr>
          <a:xfrm>
            <a:off x="9985248" y="343814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31" name="Text 29"/>
          <p:cNvSpPr txBox="1"/>
          <p:nvPr/>
        </p:nvSpPr>
        <p:spPr>
          <a:xfrm>
            <a:off x="7589520" y="371246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Version consistency</a:t>
            </a:r>
            <a:endParaRPr lang="en-US" sz="1100" dirty="0"/>
          </a:p>
        </p:txBody>
      </p:sp>
      <p:sp>
        <p:nvSpPr>
          <p:cNvPr id="32" name="Text 30"/>
          <p:cNvSpPr txBox="1"/>
          <p:nvPr/>
        </p:nvSpPr>
        <p:spPr>
          <a:xfrm>
            <a:off x="9985248" y="371246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2E7D5B"/>
                </a:solidFill>
                <a:latin typeface="Calibri" pitchFamily="34" charset="0"/>
                <a:ea typeface="Calibri" pitchFamily="34" charset="-122"/>
                <a:cs typeface="Calibri" pitchFamily="34" charset="-120"/>
              </a:rPr>
              <a:t>pass</a:t>
            </a:r>
            <a:endParaRPr lang="en-US" sz="1050" dirty="0"/>
          </a:p>
        </p:txBody>
      </p:sp>
      <p:sp>
        <p:nvSpPr>
          <p:cNvPr id="33" name="Text 31"/>
          <p:cNvSpPr txBox="1"/>
          <p:nvPr/>
        </p:nvSpPr>
        <p:spPr>
          <a:xfrm>
            <a:off x="7589520" y="398678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Adversarial probe</a:t>
            </a:r>
            <a:endParaRPr lang="en-US" sz="1100" dirty="0"/>
          </a:p>
        </p:txBody>
      </p:sp>
      <p:sp>
        <p:nvSpPr>
          <p:cNvPr id="34" name="Text 32"/>
          <p:cNvSpPr txBox="1"/>
          <p:nvPr/>
        </p:nvSpPr>
        <p:spPr>
          <a:xfrm>
            <a:off x="9985248" y="398678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C9A227"/>
                </a:solidFill>
                <a:latin typeface="Calibri" pitchFamily="34" charset="0"/>
                <a:ea typeface="Calibri" pitchFamily="34" charset="-122"/>
                <a:cs typeface="Calibri" pitchFamily="34" charset="-120"/>
              </a:rPr>
              <a:t>advisory</a:t>
            </a:r>
            <a:endParaRPr lang="en-US" sz="1050" dirty="0"/>
          </a:p>
        </p:txBody>
      </p:sp>
      <p:sp>
        <p:nvSpPr>
          <p:cNvPr id="35" name="Text 33"/>
          <p:cNvSpPr txBox="1"/>
          <p:nvPr/>
        </p:nvSpPr>
        <p:spPr>
          <a:xfrm>
            <a:off x="7589520" y="4261104"/>
            <a:ext cx="2377440" cy="237744"/>
          </a:xfrm>
          <a:prstGeom prst="rect">
            <a:avLst/>
          </a:prstGeom>
          <a:noFill/>
          <a:ln/>
        </p:spPr>
        <p:txBody>
          <a:bodyPr wrap="square" lIns="0" tIns="0" rIns="0" bIns="0" rtlCol="0" anchor="t"/>
          <a:lstStyle/>
          <a:p>
            <a:pPr indent="0" marL="0">
              <a:lnSpc>
                <a:spcPct val="110000"/>
              </a:lnSpc>
              <a:buNone/>
            </a:pPr>
            <a:r>
              <a:rPr lang="en-US" sz="1100" dirty="0">
                <a:solidFill>
                  <a:srgbClr val="D8D3EA"/>
                </a:solidFill>
                <a:latin typeface="Calibri" pitchFamily="34" charset="0"/>
                <a:ea typeface="Calibri" pitchFamily="34" charset="-122"/>
                <a:cs typeface="Calibri" pitchFamily="34" charset="-120"/>
              </a:rPr>
              <a:t>Translation fidelity</a:t>
            </a:r>
            <a:endParaRPr lang="en-US" sz="1100" dirty="0"/>
          </a:p>
        </p:txBody>
      </p:sp>
      <p:sp>
        <p:nvSpPr>
          <p:cNvPr id="36" name="Text 34"/>
          <p:cNvSpPr txBox="1"/>
          <p:nvPr/>
        </p:nvSpPr>
        <p:spPr>
          <a:xfrm>
            <a:off x="9985248" y="4261104"/>
            <a:ext cx="1280160" cy="237744"/>
          </a:xfrm>
          <a:prstGeom prst="rect">
            <a:avLst/>
          </a:prstGeom>
          <a:noFill/>
          <a:ln/>
        </p:spPr>
        <p:txBody>
          <a:bodyPr wrap="square" lIns="0" tIns="0" rIns="0" bIns="0" rtlCol="0" anchor="t"/>
          <a:lstStyle/>
          <a:p>
            <a:pPr algn="r" indent="0" marL="0">
              <a:lnSpc>
                <a:spcPct val="110000"/>
              </a:lnSpc>
              <a:buNone/>
            </a:pPr>
            <a:r>
              <a:rPr lang="en-US" sz="1050" b="1" dirty="0">
                <a:solidFill>
                  <a:srgbClr val="C9A227"/>
                </a:solidFill>
                <a:latin typeface="Calibri" pitchFamily="34" charset="0"/>
                <a:ea typeface="Calibri" pitchFamily="34" charset="-122"/>
                <a:cs typeface="Calibri" pitchFamily="34" charset="-120"/>
              </a:rPr>
              <a:t>advisory</a:t>
            </a:r>
            <a:endParaRPr lang="en-US" sz="1050" dirty="0"/>
          </a:p>
        </p:txBody>
      </p:sp>
      <p:sp>
        <p:nvSpPr>
          <p:cNvPr id="37" name="Text 35"/>
          <p:cNvSpPr txBox="1"/>
          <p:nvPr/>
        </p:nvSpPr>
        <p:spPr>
          <a:xfrm>
            <a:off x="7589520" y="4572000"/>
            <a:ext cx="3474720" cy="237744"/>
          </a:xfrm>
          <a:prstGeom prst="rect">
            <a:avLst/>
          </a:prstGeom>
          <a:noFill/>
          <a:ln/>
        </p:spPr>
        <p:txBody>
          <a:bodyPr wrap="square" lIns="0" tIns="0" rIns="0" bIns="0" rtlCol="0" anchor="t"/>
          <a:lstStyle/>
          <a:p>
            <a:pPr indent="0" marL="0">
              <a:lnSpc>
                <a:spcPct val="110000"/>
              </a:lnSpc>
              <a:buNone/>
            </a:pPr>
            <a:r>
              <a:rPr lang="en-US" sz="1100" b="1" dirty="0">
                <a:solidFill>
                  <a:srgbClr val="E8896B"/>
                </a:solidFill>
                <a:latin typeface="Calibri" pitchFamily="34" charset="0"/>
                <a:ea typeface="Calibri" pitchFamily="34" charset="-122"/>
                <a:cs typeface="Calibri" pitchFamily="34" charset="-120"/>
              </a:rPr>
              <a:t>Release disabled — 1 hard failure</a:t>
            </a:r>
            <a:endParaRPr lang="en-US" sz="1100" dirty="0"/>
          </a:p>
        </p:txBody>
      </p:sp>
      <p:sp>
        <p:nvSpPr>
          <p:cNvPr id="38" name="Shape 36"/>
          <p:cNvSpPr/>
          <p:nvPr/>
        </p:nvSpPr>
        <p:spPr>
          <a:xfrm>
            <a:off x="658368" y="5120640"/>
            <a:ext cx="10872216" cy="749808"/>
          </a:xfrm>
          <a:prstGeom prst="roundRect">
            <a:avLst>
              <a:gd name="adj" fmla="val 7317"/>
            </a:avLst>
          </a:prstGeom>
          <a:solidFill>
            <a:srgbClr val="EDEAF7"/>
          </a:solidFill>
          <a:ln w="12700">
            <a:solidFill>
              <a:srgbClr val="EDEAF7"/>
            </a:solidFill>
            <a:prstDash val="solid"/>
          </a:ln>
        </p:spPr>
      </p:sp>
      <p:sp>
        <p:nvSpPr>
          <p:cNvPr id="39" name="Text 37"/>
          <p:cNvSpPr txBox="1"/>
          <p:nvPr/>
        </p:nvSpPr>
        <p:spPr>
          <a:xfrm>
            <a:off x="969264" y="5248656"/>
            <a:ext cx="10250424" cy="493776"/>
          </a:xfrm>
          <a:prstGeom prst="rect">
            <a:avLst/>
          </a:prstGeom>
          <a:noFill/>
          <a:ln/>
        </p:spPr>
        <p:txBody>
          <a:bodyPr wrap="square" lIns="0" tIns="0" rIns="0" bIns="0" rtlCol="0" anchor="ctr"/>
          <a:lstStyle/>
          <a:p>
            <a:pPr indent="0" marL="0">
              <a:lnSpc>
                <a:spcPct val="110000"/>
              </a:lnSpc>
              <a:buNone/>
            </a:pPr>
            <a:r>
              <a:rPr lang="en-US" sz="1550" b="1" dirty="0">
                <a:solidFill>
                  <a:srgbClr val="1B1733"/>
                </a:solidFill>
                <a:latin typeface="Calibri" pitchFamily="34" charset="0"/>
                <a:ea typeface="Calibri" pitchFamily="34" charset="-122"/>
                <a:cs typeface="Calibri" pitchFamily="34" charset="-120"/>
              </a:rPr>
              <a:t>A gate that has never blocked anything is decoration. We would rather show you the one that stopped us.</a:t>
            </a:r>
            <a:endParaRPr lang="en-US" sz="1550" dirty="0"/>
          </a:p>
        </p:txBody>
      </p:sp>
      <p:sp>
        <p:nvSpPr>
          <p:cNvPr id="40" name="Text 38"/>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1 minute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7 · LOOKING TO THE FUTURE</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3300" b="1" dirty="0">
                <a:solidFill>
                  <a:srgbClr val="1B1733"/>
                </a:solidFill>
                <a:latin typeface="Cambria" pitchFamily="34" charset="0"/>
                <a:ea typeface="Cambria" pitchFamily="34" charset="-122"/>
                <a:cs typeface="Cambria" pitchFamily="34" charset="-120"/>
              </a:rPr>
              <a:t>What happens after this room.</a:t>
            </a:r>
            <a:endParaRPr lang="en-US" sz="3300" dirty="0"/>
          </a:p>
        </p:txBody>
      </p:sp>
      <p:sp>
        <p:nvSpPr>
          <p:cNvPr id="4" name="Shape 2"/>
          <p:cNvSpPr/>
          <p:nvPr/>
        </p:nvSpPr>
        <p:spPr>
          <a:xfrm>
            <a:off x="658368" y="1591056"/>
            <a:ext cx="10872216" cy="969264"/>
          </a:xfrm>
          <a:prstGeom prst="roundRect">
            <a:avLst>
              <a:gd name="adj" fmla="val 5660"/>
            </a:avLst>
          </a:prstGeom>
          <a:solidFill>
            <a:srgbClr val="F7F5FC"/>
          </a:solidFill>
          <a:ln w="12700">
            <a:solidFill>
              <a:srgbClr val="F7F5FC"/>
            </a:solidFill>
            <a:prstDash val="solid"/>
          </a:ln>
        </p:spPr>
      </p:sp>
      <p:sp>
        <p:nvSpPr>
          <p:cNvPr id="5" name="Text 3"/>
          <p:cNvSpPr txBox="1"/>
          <p:nvPr/>
        </p:nvSpPr>
        <p:spPr>
          <a:xfrm>
            <a:off x="932688" y="1737360"/>
            <a:ext cx="822960" cy="237744"/>
          </a:xfrm>
          <a:prstGeom prst="rect">
            <a:avLst/>
          </a:prstGeom>
          <a:noFill/>
          <a:ln/>
        </p:spPr>
        <p:txBody>
          <a:bodyPr wrap="square" lIns="0" tIns="0" rIns="0" bIns="0" rtlCol="0" anchor="t"/>
          <a:lstStyle/>
          <a:p>
            <a:pPr indent="0" marL="0">
              <a:lnSpc>
                <a:spcPct val="110000"/>
              </a:lnSpc>
              <a:buNone/>
            </a:pPr>
            <a:r>
              <a:rPr lang="en-US" sz="1000" b="1" dirty="0">
                <a:solidFill>
                  <a:srgbClr val="7C6BC4"/>
                </a:solidFill>
                <a:latin typeface="Calibri" pitchFamily="34" charset="0"/>
                <a:ea typeface="Calibri" pitchFamily="34" charset="-122"/>
                <a:cs typeface="Calibri" pitchFamily="34" charset="-120"/>
              </a:rPr>
              <a:t>NEXT</a:t>
            </a:r>
            <a:endParaRPr lang="en-US" sz="1000" dirty="0"/>
          </a:p>
        </p:txBody>
      </p:sp>
      <p:sp>
        <p:nvSpPr>
          <p:cNvPr id="6" name="Text 4"/>
          <p:cNvSpPr txBox="1"/>
          <p:nvPr/>
        </p:nvSpPr>
        <p:spPr>
          <a:xfrm>
            <a:off x="1883664" y="1709928"/>
            <a:ext cx="4114800" cy="310896"/>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Clear the language variants</a:t>
            </a:r>
            <a:endParaRPr lang="en-US" sz="1500" dirty="0"/>
          </a:p>
        </p:txBody>
      </p:sp>
      <p:sp>
        <p:nvSpPr>
          <p:cNvPr id="7" name="Text 5"/>
          <p:cNvSpPr txBox="1"/>
          <p:nvPr/>
        </p:nvSpPr>
        <p:spPr>
          <a:xfrm>
            <a:off x="6144768" y="1709928"/>
            <a:ext cx="5120640" cy="731520"/>
          </a:xfrm>
          <a:prstGeom prst="rect">
            <a:avLst/>
          </a:prstGeom>
          <a:noFill/>
          <a:ln/>
        </p:spPr>
        <p:txBody>
          <a:bodyPr wrap="square" lIns="0" tIns="0" rIns="0" bIns="0" rtlCol="0" anchor="t"/>
          <a:lstStyle/>
          <a:p>
            <a:pPr indent="0" marL="0">
              <a:lnSpc>
                <a:spcPct val="108000"/>
              </a:lnSpc>
              <a:buNone/>
            </a:pPr>
            <a:r>
              <a:rPr lang="en-US" sz="1250" dirty="0">
                <a:solidFill>
                  <a:srgbClr val="2A2447"/>
                </a:solidFill>
                <a:latin typeface="Calibri" pitchFamily="34" charset="0"/>
                <a:ea typeface="Calibri" pitchFamily="34" charset="-122"/>
                <a:cs typeface="Calibri" pitchFamily="34" charset="-120"/>
              </a:rPr>
              <a:t>Native review for the three variants still pending. We do not deploy an unreviewed variant — the gate will not let us.</a:t>
            </a:r>
            <a:endParaRPr lang="en-US" sz="1250" dirty="0"/>
          </a:p>
        </p:txBody>
      </p:sp>
      <p:sp>
        <p:nvSpPr>
          <p:cNvPr id="8" name="Shape 6"/>
          <p:cNvSpPr/>
          <p:nvPr/>
        </p:nvSpPr>
        <p:spPr>
          <a:xfrm>
            <a:off x="658368" y="2670048"/>
            <a:ext cx="10872216" cy="969264"/>
          </a:xfrm>
          <a:prstGeom prst="roundRect">
            <a:avLst>
              <a:gd name="adj" fmla="val 5660"/>
            </a:avLst>
          </a:prstGeom>
          <a:solidFill>
            <a:srgbClr val="FFFFFF"/>
          </a:solidFill>
          <a:ln w="12700">
            <a:solidFill>
              <a:srgbClr val="FFFFFF"/>
            </a:solidFill>
            <a:prstDash val="solid"/>
          </a:ln>
        </p:spPr>
      </p:sp>
      <p:sp>
        <p:nvSpPr>
          <p:cNvPr id="9" name="Text 7"/>
          <p:cNvSpPr txBox="1"/>
          <p:nvPr/>
        </p:nvSpPr>
        <p:spPr>
          <a:xfrm>
            <a:off x="932688" y="2816352"/>
            <a:ext cx="822960" cy="237744"/>
          </a:xfrm>
          <a:prstGeom prst="rect">
            <a:avLst/>
          </a:prstGeom>
          <a:noFill/>
          <a:ln/>
        </p:spPr>
        <p:txBody>
          <a:bodyPr wrap="square" lIns="0" tIns="0" rIns="0" bIns="0" rtlCol="0" anchor="t"/>
          <a:lstStyle/>
          <a:p>
            <a:pPr indent="0" marL="0">
              <a:lnSpc>
                <a:spcPct val="110000"/>
              </a:lnSpc>
              <a:buNone/>
            </a:pPr>
            <a:r>
              <a:rPr lang="en-US" sz="1000" b="1" dirty="0">
                <a:solidFill>
                  <a:srgbClr val="7C6BC4"/>
                </a:solidFill>
                <a:latin typeface="Calibri" pitchFamily="34" charset="0"/>
                <a:ea typeface="Calibri" pitchFamily="34" charset="-122"/>
                <a:cs typeface="Calibri" pitchFamily="34" charset="-120"/>
              </a:rPr>
              <a:t>THEN</a:t>
            </a:r>
            <a:endParaRPr lang="en-US" sz="1000" dirty="0"/>
          </a:p>
        </p:txBody>
      </p:sp>
      <p:sp>
        <p:nvSpPr>
          <p:cNvPr id="10" name="Text 8"/>
          <p:cNvSpPr txBox="1"/>
          <p:nvPr/>
        </p:nvSpPr>
        <p:spPr>
          <a:xfrm>
            <a:off x="1883664" y="2788920"/>
            <a:ext cx="4114800" cy="310896"/>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Field trial with real retail investors</a:t>
            </a:r>
            <a:endParaRPr lang="en-US" sz="1500" dirty="0"/>
          </a:p>
        </p:txBody>
      </p:sp>
      <p:sp>
        <p:nvSpPr>
          <p:cNvPr id="11" name="Text 9"/>
          <p:cNvSpPr txBox="1"/>
          <p:nvPr/>
        </p:nvSpPr>
        <p:spPr>
          <a:xfrm>
            <a:off x="6144768" y="2788920"/>
            <a:ext cx="5120640" cy="731520"/>
          </a:xfrm>
          <a:prstGeom prst="rect">
            <a:avLst/>
          </a:prstGeom>
          <a:noFill/>
          <a:ln/>
        </p:spPr>
        <p:txBody>
          <a:bodyPr wrap="square" lIns="0" tIns="0" rIns="0" bIns="0" rtlCol="0" anchor="t"/>
          <a:lstStyle/>
          <a:p>
            <a:pPr indent="0" marL="0">
              <a:lnSpc>
                <a:spcPct val="108000"/>
              </a:lnSpc>
              <a:buNone/>
            </a:pPr>
            <a:r>
              <a:rPr lang="en-US" sz="1250" dirty="0">
                <a:solidFill>
                  <a:srgbClr val="2A2447"/>
                </a:solidFill>
                <a:latin typeface="Calibri" pitchFamily="34" charset="0"/>
                <a:ea typeface="Calibri" pitchFamily="34" charset="-122"/>
                <a:cs typeface="Calibri" pitchFamily="34" charset="-120"/>
              </a:rPr>
              <a:t>Move from within-session transfer to a measured durable claim, or report honestly that it does not hold.</a:t>
            </a:r>
            <a:endParaRPr lang="en-US" sz="1250" dirty="0"/>
          </a:p>
        </p:txBody>
      </p:sp>
      <p:sp>
        <p:nvSpPr>
          <p:cNvPr id="12" name="Shape 10"/>
          <p:cNvSpPr/>
          <p:nvPr/>
        </p:nvSpPr>
        <p:spPr>
          <a:xfrm>
            <a:off x="658368" y="3749040"/>
            <a:ext cx="10872216" cy="969264"/>
          </a:xfrm>
          <a:prstGeom prst="roundRect">
            <a:avLst>
              <a:gd name="adj" fmla="val 5660"/>
            </a:avLst>
          </a:prstGeom>
          <a:solidFill>
            <a:srgbClr val="F7F5FC"/>
          </a:solidFill>
          <a:ln w="12700">
            <a:solidFill>
              <a:srgbClr val="F7F5FC"/>
            </a:solidFill>
            <a:prstDash val="solid"/>
          </a:ln>
        </p:spPr>
      </p:sp>
      <p:sp>
        <p:nvSpPr>
          <p:cNvPr id="13" name="Text 11"/>
          <p:cNvSpPr txBox="1"/>
          <p:nvPr/>
        </p:nvSpPr>
        <p:spPr>
          <a:xfrm>
            <a:off x="932688" y="3895344"/>
            <a:ext cx="822960" cy="237744"/>
          </a:xfrm>
          <a:prstGeom prst="rect">
            <a:avLst/>
          </a:prstGeom>
          <a:noFill/>
          <a:ln/>
        </p:spPr>
        <p:txBody>
          <a:bodyPr wrap="square" lIns="0" tIns="0" rIns="0" bIns="0" rtlCol="0" anchor="t"/>
          <a:lstStyle/>
          <a:p>
            <a:pPr indent="0" marL="0">
              <a:lnSpc>
                <a:spcPct val="110000"/>
              </a:lnSpc>
              <a:buNone/>
            </a:pPr>
            <a:r>
              <a:rPr lang="en-US" sz="1000" b="1" dirty="0">
                <a:solidFill>
                  <a:srgbClr val="7C6BC4"/>
                </a:solidFill>
                <a:latin typeface="Calibri" pitchFamily="34" charset="0"/>
                <a:ea typeface="Calibri" pitchFamily="34" charset="-122"/>
                <a:cs typeface="Calibri" pitchFamily="34" charset="-120"/>
              </a:rPr>
              <a:t>THEN</a:t>
            </a:r>
            <a:endParaRPr lang="en-US" sz="1000" dirty="0"/>
          </a:p>
        </p:txBody>
      </p:sp>
      <p:sp>
        <p:nvSpPr>
          <p:cNvPr id="14" name="Text 12"/>
          <p:cNvSpPr txBox="1"/>
          <p:nvPr/>
        </p:nvSpPr>
        <p:spPr>
          <a:xfrm>
            <a:off x="1883664" y="3867912"/>
            <a:ext cx="4114800" cy="310896"/>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Anchor the element set with a regulator</a:t>
            </a:r>
            <a:endParaRPr lang="en-US" sz="1500" dirty="0"/>
          </a:p>
        </p:txBody>
      </p:sp>
      <p:sp>
        <p:nvSpPr>
          <p:cNvPr id="15" name="Text 13"/>
          <p:cNvSpPr txBox="1"/>
          <p:nvPr/>
        </p:nvSpPr>
        <p:spPr>
          <a:xfrm>
            <a:off x="6144768" y="3867912"/>
            <a:ext cx="5120640" cy="731520"/>
          </a:xfrm>
          <a:prstGeom prst="rect">
            <a:avLst/>
          </a:prstGeom>
          <a:noFill/>
          <a:ln/>
        </p:spPr>
        <p:txBody>
          <a:bodyPr wrap="square" lIns="0" tIns="0" rIns="0" bIns="0" rtlCol="0" anchor="t"/>
          <a:lstStyle/>
          <a:p>
            <a:pPr indent="0" marL="0">
              <a:lnSpc>
                <a:spcPct val="108000"/>
              </a:lnSpc>
              <a:buNone/>
            </a:pPr>
            <a:r>
              <a:rPr lang="en-US" sz="1250" dirty="0">
                <a:solidFill>
                  <a:srgbClr val="2A2447"/>
                </a:solidFill>
                <a:latin typeface="Calibri" pitchFamily="34" charset="0"/>
                <a:ea typeface="Calibri" pitchFamily="34" charset="-122"/>
                <a:cs typeface="Calibri" pitchFamily="34" charset="-120"/>
              </a:rPr>
              <a:t>The competency elements are anchored to published investor-education principles today. The stronger version is anchored by the authority that publishes them.</a:t>
            </a:r>
            <a:endParaRPr lang="en-US" sz="1250" dirty="0"/>
          </a:p>
        </p:txBody>
      </p:sp>
      <p:sp>
        <p:nvSpPr>
          <p:cNvPr id="16" name="Shape 14"/>
          <p:cNvSpPr/>
          <p:nvPr/>
        </p:nvSpPr>
        <p:spPr>
          <a:xfrm>
            <a:off x="658368" y="4828032"/>
            <a:ext cx="10872216" cy="969264"/>
          </a:xfrm>
          <a:prstGeom prst="roundRect">
            <a:avLst>
              <a:gd name="adj" fmla="val 5660"/>
            </a:avLst>
          </a:prstGeom>
          <a:solidFill>
            <a:srgbClr val="FFFFFF"/>
          </a:solidFill>
          <a:ln w="12700">
            <a:solidFill>
              <a:srgbClr val="FFFFFF"/>
            </a:solidFill>
            <a:prstDash val="solid"/>
          </a:ln>
        </p:spPr>
      </p:sp>
      <p:sp>
        <p:nvSpPr>
          <p:cNvPr id="17" name="Text 15"/>
          <p:cNvSpPr txBox="1"/>
          <p:nvPr/>
        </p:nvSpPr>
        <p:spPr>
          <a:xfrm>
            <a:off x="932688" y="4974336"/>
            <a:ext cx="822960" cy="237744"/>
          </a:xfrm>
          <a:prstGeom prst="rect">
            <a:avLst/>
          </a:prstGeom>
          <a:noFill/>
          <a:ln/>
        </p:spPr>
        <p:txBody>
          <a:bodyPr wrap="square" lIns="0" tIns="0" rIns="0" bIns="0" rtlCol="0" anchor="t"/>
          <a:lstStyle/>
          <a:p>
            <a:pPr indent="0" marL="0">
              <a:lnSpc>
                <a:spcPct val="110000"/>
              </a:lnSpc>
              <a:buNone/>
            </a:pPr>
            <a:r>
              <a:rPr lang="en-US" sz="1000" b="1" dirty="0">
                <a:solidFill>
                  <a:srgbClr val="7C6BC4"/>
                </a:solidFill>
                <a:latin typeface="Calibri" pitchFamily="34" charset="0"/>
                <a:ea typeface="Calibri" pitchFamily="34" charset="-122"/>
                <a:cs typeface="Calibri" pitchFamily="34" charset="-120"/>
              </a:rPr>
              <a:t>BUILD</a:t>
            </a:r>
            <a:endParaRPr lang="en-US" sz="1000" dirty="0"/>
          </a:p>
        </p:txBody>
      </p:sp>
      <p:sp>
        <p:nvSpPr>
          <p:cNvPr id="18" name="Text 16"/>
          <p:cNvSpPr txBox="1"/>
          <p:nvPr/>
        </p:nvSpPr>
        <p:spPr>
          <a:xfrm>
            <a:off x="1883664" y="4946904"/>
            <a:ext cx="4114800" cy="310896"/>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Ship governed knowledge as a signed bundle</a:t>
            </a:r>
            <a:endParaRPr lang="en-US" sz="1500" dirty="0"/>
          </a:p>
        </p:txBody>
      </p:sp>
      <p:sp>
        <p:nvSpPr>
          <p:cNvPr id="19" name="Text 17"/>
          <p:cNvSpPr txBox="1"/>
          <p:nvPr/>
        </p:nvSpPr>
        <p:spPr>
          <a:xfrm>
            <a:off x="6144768" y="4946904"/>
            <a:ext cx="5120640" cy="731520"/>
          </a:xfrm>
          <a:prstGeom prst="rect">
            <a:avLst/>
          </a:prstGeom>
          <a:noFill/>
          <a:ln/>
        </p:spPr>
        <p:txBody>
          <a:bodyPr wrap="square" lIns="0" tIns="0" rIns="0" bIns="0" rtlCol="0" anchor="t"/>
          <a:lstStyle/>
          <a:p>
            <a:pPr indent="0" marL="0">
              <a:lnSpc>
                <a:spcPct val="108000"/>
              </a:lnSpc>
              <a:buNone/>
            </a:pPr>
            <a:r>
              <a:rPr lang="en-US" sz="1250" dirty="0">
                <a:solidFill>
                  <a:srgbClr val="2A2447"/>
                </a:solidFill>
                <a:latin typeface="Calibri" pitchFamily="34" charset="0"/>
                <a:ea typeface="Calibri" pitchFamily="34" charset="-122"/>
                <a:cs typeface="Calibri" pitchFamily="34" charset="-120"/>
              </a:rPr>
              <a:t>The approved content is versioned and exportable, and carries no personal data — so it can be reviewed, and deployed, on the regulator's own terms.</a:t>
            </a:r>
            <a:endParaRPr lang="en-US" sz="1250" dirty="0"/>
          </a:p>
        </p:txBody>
      </p:sp>
      <p:sp>
        <p:nvSpPr>
          <p:cNvPr id="20" name="Text 18"/>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45 seconds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733"/>
        </a:solidFill>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5A4A96">
              <a:alpha val="20000"/>
            </a:srgbClr>
          </a:solidFill>
          <a:ln/>
        </p:spPr>
      </p:sp>
      <p:sp>
        <p:nvSpPr>
          <p:cNvPr id="3" name="Text 1"/>
          <p:cNvSpPr txBox="1"/>
          <p:nvPr/>
        </p:nvSpPr>
        <p:spPr>
          <a:xfrm>
            <a:off x="1024128" y="2103120"/>
            <a:ext cx="10789920" cy="603504"/>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We are not asking you to trust the model.</a:t>
            </a:r>
            <a:endParaRPr lang="en-US" sz="3000" dirty="0"/>
          </a:p>
        </p:txBody>
      </p:sp>
      <p:sp>
        <p:nvSpPr>
          <p:cNvPr id="4" name="Text 2"/>
          <p:cNvSpPr txBox="1"/>
          <p:nvPr/>
        </p:nvSpPr>
        <p:spPr>
          <a:xfrm>
            <a:off x="1024128" y="2743200"/>
            <a:ext cx="10789920" cy="603504"/>
          </a:xfrm>
          <a:prstGeom prst="rect">
            <a:avLst/>
          </a:prstGeom>
          <a:noFill/>
          <a:ln/>
        </p:spPr>
        <p:txBody>
          <a:bodyPr wrap="square" lIns="0" tIns="0" rIns="0" bIns="0" rtlCol="0" anchor="t"/>
          <a:lstStyle/>
          <a:p>
            <a:pPr indent="0" marL="0">
              <a:lnSpc>
                <a:spcPct val="110000"/>
              </a:lnSpc>
              <a:buNone/>
            </a:pPr>
            <a:r>
              <a:rPr lang="en-US" sz="3000" b="1" dirty="0">
                <a:solidFill>
                  <a:srgbClr val="7C6BC4"/>
                </a:solidFill>
                <a:latin typeface="Cambria" pitchFamily="34" charset="0"/>
                <a:ea typeface="Cambria" pitchFamily="34" charset="-122"/>
                <a:cs typeface="Cambria" pitchFamily="34" charset="-120"/>
              </a:rPr>
              <a:t>We are showing you the record it is allowed to produce.</a:t>
            </a:r>
            <a:endParaRPr lang="en-US" sz="3000" dirty="0"/>
          </a:p>
        </p:txBody>
      </p:sp>
      <p:sp>
        <p:nvSpPr>
          <p:cNvPr id="5" name="Shape 3"/>
          <p:cNvSpPr/>
          <p:nvPr/>
        </p:nvSpPr>
        <p:spPr>
          <a:xfrm>
            <a:off x="1024128" y="3877056"/>
            <a:ext cx="2194560" cy="18288"/>
          </a:xfrm>
          <a:prstGeom prst="rect">
            <a:avLst/>
          </a:prstGeom>
          <a:solidFill>
            <a:srgbClr val="4A4370"/>
          </a:solidFill>
          <a:ln/>
        </p:spPr>
      </p:sp>
      <p:sp>
        <p:nvSpPr>
          <p:cNvPr id="6" name="Text 4"/>
          <p:cNvSpPr txBox="1"/>
          <p:nvPr/>
        </p:nvSpPr>
        <p:spPr>
          <a:xfrm>
            <a:off x="1024128" y="4078224"/>
            <a:ext cx="7863840" cy="292608"/>
          </a:xfrm>
          <a:prstGeom prst="rect">
            <a:avLst/>
          </a:prstGeom>
          <a:noFill/>
          <a:ln/>
        </p:spPr>
        <p:txBody>
          <a:bodyPr wrap="square" lIns="0" tIns="0" rIns="0" bIns="0" rtlCol="0" anchor="t"/>
          <a:lstStyle/>
          <a:p>
            <a:pPr indent="0" marL="0">
              <a:lnSpc>
                <a:spcPct val="110000"/>
              </a:lnSpc>
              <a:buNone/>
            </a:pPr>
            <a:r>
              <a:rPr lang="en-US" sz="1300" b="1" dirty="0">
                <a:solidFill>
                  <a:srgbClr val="FFFFFF"/>
                </a:solidFill>
                <a:latin typeface="Calibri" pitchFamily="34" charset="0"/>
                <a:ea typeface="Calibri" pitchFamily="34" charset="-122"/>
                <a:cs typeface="Calibri" pitchFamily="34" charset="-120"/>
              </a:rPr>
              <a:t>BYOND Asia  ·  AUREN powered by HoloMe  ·  IOSCO TechSprint 2026</a:t>
            </a:r>
            <a:endParaRPr lang="en-US" sz="1300" dirty="0"/>
          </a:p>
        </p:txBody>
      </p:sp>
      <p:sp>
        <p:nvSpPr>
          <p:cNvPr id="7" name="Text 5"/>
          <p:cNvSpPr txBox="1"/>
          <p:nvPr/>
        </p:nvSpPr>
        <p:spPr>
          <a:xfrm>
            <a:off x="1024128" y="4425696"/>
            <a:ext cx="5486400" cy="292608"/>
          </a:xfrm>
          <a:prstGeom prst="rect">
            <a:avLst/>
          </a:prstGeom>
          <a:noFill/>
          <a:ln/>
        </p:spPr>
        <p:txBody>
          <a:bodyPr wrap="square" lIns="0" tIns="0" rIns="0" bIns="0" rtlCol="0" anchor="t"/>
          <a:lstStyle/>
          <a:p>
            <a:pPr indent="0" marL="0">
              <a:lnSpc>
                <a:spcPct val="110000"/>
              </a:lnSpc>
              <a:buNone/>
            </a:pPr>
            <a:r>
              <a:rPr lang="en-US" sz="1300" dirty="0">
                <a:solidFill>
                  <a:srgbClr val="8B85A8"/>
                </a:solidFill>
                <a:latin typeface="Calibri" pitchFamily="34" charset="0"/>
                <a:ea typeface="Calibri" pitchFamily="34" charset="-122"/>
                <a:cs typeface="Calibri" pitchFamily="34" charset="-120"/>
              </a:rPr>
              <a:t>Questions</a:t>
            </a:r>
            <a:endParaRPr lang="en-US" sz="1300" dirty="0"/>
          </a:p>
        </p:txBody>
      </p:sp>
      <p:sp>
        <p:nvSpPr>
          <p:cNvPr id="8" name="Text 6"/>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8B85A8"/>
                </a:solidFill>
                <a:latin typeface="Calibri" pitchFamily="34" charset="0"/>
                <a:ea typeface="Calibri" pitchFamily="34" charset="-122"/>
                <a:cs typeface="Calibri" pitchFamily="34" charset="-120"/>
              </a:rPr>
              <a:t>Hand over to Q&amp;A — 3 minutes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APPENDIX 1 · FOR Q&amp;A</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2900" b="1" dirty="0">
                <a:solidFill>
                  <a:srgbClr val="1B1733"/>
                </a:solidFill>
                <a:latin typeface="Cambria" pitchFamily="34" charset="0"/>
                <a:ea typeface="Cambria" pitchFamily="34" charset="-122"/>
                <a:cs typeface="Cambria" pitchFamily="34" charset="-120"/>
              </a:rPr>
              <a:t>The competency elements, and what anchors them.</a:t>
            </a:r>
            <a:endParaRPr lang="en-US" sz="2900" dirty="0"/>
          </a:p>
        </p:txBody>
      </p:sp>
      <p:sp>
        <p:nvSpPr>
          <p:cNvPr id="4" name="Text 2"/>
          <p:cNvSpPr txBox="1"/>
          <p:nvPr/>
        </p:nvSpPr>
        <p:spPr>
          <a:xfrm>
            <a:off x="658368" y="1463040"/>
            <a:ext cx="10607040" cy="566928"/>
          </a:xfrm>
          <a:prstGeom prst="rect">
            <a:avLst/>
          </a:prstGeom>
          <a:noFill/>
          <a:ln/>
        </p:spPr>
        <p:txBody>
          <a:bodyPr wrap="square" lIns="0" tIns="0" rIns="0" bIns="0" rtlCol="0" anchor="t"/>
          <a:lstStyle/>
          <a:p>
            <a:pPr indent="0" marL="0">
              <a:lnSpc>
                <a:spcPct val="112000"/>
              </a:lnSpc>
              <a:buNone/>
            </a:pPr>
            <a:r>
              <a:rPr lang="en-US" sz="1350" dirty="0">
                <a:solidFill>
                  <a:srgbClr val="2A2447"/>
                </a:solidFill>
                <a:latin typeface="Calibri" pitchFamily="34" charset="0"/>
                <a:ea typeface="Calibri" pitchFamily="34" charset="-122"/>
                <a:cs typeface="Calibri" pitchFamily="34" charset="-120"/>
              </a:rPr>
              <a:t>Eight elements. Each one is what a determination turns on, and each carries a published anchor — no anchor, no deployment. A session resolves four; the rest route to the investor's retraining queue.</a:t>
            </a:r>
            <a:endParaRPr lang="en-US" sz="1350" dirty="0"/>
          </a:p>
        </p:txBody>
      </p:sp>
      <p:sp>
        <p:nvSpPr>
          <p:cNvPr id="5" name="Shape 3"/>
          <p:cNvSpPr/>
          <p:nvPr/>
        </p:nvSpPr>
        <p:spPr>
          <a:xfrm>
            <a:off x="658368" y="2212848"/>
            <a:ext cx="5253228" cy="658368"/>
          </a:xfrm>
          <a:prstGeom prst="roundRect">
            <a:avLst>
              <a:gd name="adj" fmla="val 8333"/>
            </a:avLst>
          </a:prstGeom>
          <a:solidFill>
            <a:srgbClr val="F7F5FC"/>
          </a:solidFill>
          <a:ln w="12700">
            <a:solidFill>
              <a:srgbClr val="F7F5FC"/>
            </a:solidFill>
            <a:prstDash val="solid"/>
          </a:ln>
        </p:spPr>
      </p:sp>
      <p:sp>
        <p:nvSpPr>
          <p:cNvPr id="6" name="Text 4"/>
          <p:cNvSpPr txBox="1"/>
          <p:nvPr/>
        </p:nvSpPr>
        <p:spPr>
          <a:xfrm>
            <a:off x="914400" y="2304288"/>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Resists manufactured urgency</a:t>
            </a:r>
            <a:endParaRPr lang="en-US" sz="1350" dirty="0"/>
          </a:p>
        </p:txBody>
      </p:sp>
      <p:sp>
        <p:nvSpPr>
          <p:cNvPr id="7" name="Text 5"/>
          <p:cNvSpPr txBox="1"/>
          <p:nvPr/>
        </p:nvSpPr>
        <p:spPr>
          <a:xfrm>
            <a:off x="4539996" y="2304288"/>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Pressure</a:t>
            </a:r>
            <a:endParaRPr lang="en-US" sz="1050" dirty="0"/>
          </a:p>
        </p:txBody>
      </p:sp>
      <p:sp>
        <p:nvSpPr>
          <p:cNvPr id="8" name="Shape 6"/>
          <p:cNvSpPr/>
          <p:nvPr/>
        </p:nvSpPr>
        <p:spPr>
          <a:xfrm>
            <a:off x="6277356" y="2212848"/>
            <a:ext cx="5253228" cy="658368"/>
          </a:xfrm>
          <a:prstGeom prst="roundRect">
            <a:avLst>
              <a:gd name="adj" fmla="val 8333"/>
            </a:avLst>
          </a:prstGeom>
          <a:solidFill>
            <a:srgbClr val="F7F5FC"/>
          </a:solidFill>
          <a:ln w="12700">
            <a:solidFill>
              <a:srgbClr val="F7F5FC"/>
            </a:solidFill>
            <a:prstDash val="solid"/>
          </a:ln>
        </p:spPr>
      </p:sp>
      <p:sp>
        <p:nvSpPr>
          <p:cNvPr id="9" name="Text 7"/>
          <p:cNvSpPr txBox="1"/>
          <p:nvPr/>
        </p:nvSpPr>
        <p:spPr>
          <a:xfrm>
            <a:off x="6533388" y="2304288"/>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Questions authority claims</a:t>
            </a:r>
            <a:endParaRPr lang="en-US" sz="1350" dirty="0"/>
          </a:p>
        </p:txBody>
      </p:sp>
      <p:sp>
        <p:nvSpPr>
          <p:cNvPr id="10" name="Text 8"/>
          <p:cNvSpPr txBox="1"/>
          <p:nvPr/>
        </p:nvSpPr>
        <p:spPr>
          <a:xfrm>
            <a:off x="10158984" y="2304288"/>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Pressure</a:t>
            </a:r>
            <a:endParaRPr lang="en-US" sz="1050" dirty="0"/>
          </a:p>
        </p:txBody>
      </p:sp>
      <p:sp>
        <p:nvSpPr>
          <p:cNvPr id="11" name="Shape 9"/>
          <p:cNvSpPr/>
          <p:nvPr/>
        </p:nvSpPr>
        <p:spPr>
          <a:xfrm>
            <a:off x="658368" y="2999232"/>
            <a:ext cx="5253228" cy="658368"/>
          </a:xfrm>
          <a:prstGeom prst="roundRect">
            <a:avLst>
              <a:gd name="adj" fmla="val 8333"/>
            </a:avLst>
          </a:prstGeom>
          <a:solidFill>
            <a:srgbClr val="F7F5FC"/>
          </a:solidFill>
          <a:ln w="12700">
            <a:solidFill>
              <a:srgbClr val="F7F5FC"/>
            </a:solidFill>
            <a:prstDash val="solid"/>
          </a:ln>
        </p:spPr>
      </p:sp>
      <p:sp>
        <p:nvSpPr>
          <p:cNvPr id="12" name="Text 10"/>
          <p:cNvSpPr txBox="1"/>
          <p:nvPr/>
        </p:nvSpPr>
        <p:spPr>
          <a:xfrm>
            <a:off x="914400" y="3090672"/>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Discounts social proof</a:t>
            </a:r>
            <a:endParaRPr lang="en-US" sz="1350" dirty="0"/>
          </a:p>
        </p:txBody>
      </p:sp>
      <p:sp>
        <p:nvSpPr>
          <p:cNvPr id="13" name="Text 11"/>
          <p:cNvSpPr txBox="1"/>
          <p:nvPr/>
        </p:nvSpPr>
        <p:spPr>
          <a:xfrm>
            <a:off x="4539996" y="3090672"/>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Pressure</a:t>
            </a:r>
            <a:endParaRPr lang="en-US" sz="1050" dirty="0"/>
          </a:p>
        </p:txBody>
      </p:sp>
      <p:sp>
        <p:nvSpPr>
          <p:cNvPr id="14" name="Shape 12"/>
          <p:cNvSpPr/>
          <p:nvPr/>
        </p:nvSpPr>
        <p:spPr>
          <a:xfrm>
            <a:off x="6277356" y="2999232"/>
            <a:ext cx="5253228" cy="658368"/>
          </a:xfrm>
          <a:prstGeom prst="roundRect">
            <a:avLst>
              <a:gd name="adj" fmla="val 8333"/>
            </a:avLst>
          </a:prstGeom>
          <a:solidFill>
            <a:srgbClr val="F7F5FC"/>
          </a:solidFill>
          <a:ln w="12700">
            <a:solidFill>
              <a:srgbClr val="F7F5FC"/>
            </a:solidFill>
            <a:prstDash val="solid"/>
          </a:ln>
        </p:spPr>
      </p:sp>
      <p:sp>
        <p:nvSpPr>
          <p:cNvPr id="15" name="Text 13"/>
          <p:cNvSpPr txBox="1"/>
          <p:nvPr/>
        </p:nvSpPr>
        <p:spPr>
          <a:xfrm>
            <a:off x="6533388" y="3090672"/>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Scrutinises payment destination</a:t>
            </a:r>
            <a:endParaRPr lang="en-US" sz="1350" dirty="0"/>
          </a:p>
        </p:txBody>
      </p:sp>
      <p:sp>
        <p:nvSpPr>
          <p:cNvPr id="16" name="Text 14"/>
          <p:cNvSpPr txBox="1"/>
          <p:nvPr/>
        </p:nvSpPr>
        <p:spPr>
          <a:xfrm>
            <a:off x="10158984" y="3090672"/>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Mechanics</a:t>
            </a:r>
            <a:endParaRPr lang="en-US" sz="1050" dirty="0"/>
          </a:p>
        </p:txBody>
      </p:sp>
      <p:sp>
        <p:nvSpPr>
          <p:cNvPr id="17" name="Shape 15"/>
          <p:cNvSpPr/>
          <p:nvPr/>
        </p:nvSpPr>
        <p:spPr>
          <a:xfrm>
            <a:off x="658368" y="3785616"/>
            <a:ext cx="5253228" cy="658368"/>
          </a:xfrm>
          <a:prstGeom prst="roundRect">
            <a:avLst>
              <a:gd name="adj" fmla="val 8333"/>
            </a:avLst>
          </a:prstGeom>
          <a:solidFill>
            <a:srgbClr val="F7F5FC"/>
          </a:solidFill>
          <a:ln w="12700">
            <a:solidFill>
              <a:srgbClr val="F7F5FC"/>
            </a:solidFill>
            <a:prstDash val="solid"/>
          </a:ln>
        </p:spPr>
      </p:sp>
      <p:sp>
        <p:nvSpPr>
          <p:cNvPr id="18" name="Text 16"/>
          <p:cNvSpPr txBox="1"/>
          <p:nvPr/>
        </p:nvSpPr>
        <p:spPr>
          <a:xfrm>
            <a:off x="914400" y="3877056"/>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Checks the register before committing</a:t>
            </a:r>
            <a:endParaRPr lang="en-US" sz="1350" dirty="0"/>
          </a:p>
        </p:txBody>
      </p:sp>
      <p:sp>
        <p:nvSpPr>
          <p:cNvPr id="19" name="Text 17"/>
          <p:cNvSpPr txBox="1"/>
          <p:nvPr/>
        </p:nvSpPr>
        <p:spPr>
          <a:xfrm>
            <a:off x="4539996" y="3877056"/>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Verification</a:t>
            </a:r>
            <a:endParaRPr lang="en-US" sz="1050" dirty="0"/>
          </a:p>
        </p:txBody>
      </p:sp>
      <p:sp>
        <p:nvSpPr>
          <p:cNvPr id="20" name="Shape 18"/>
          <p:cNvSpPr/>
          <p:nvPr/>
        </p:nvSpPr>
        <p:spPr>
          <a:xfrm>
            <a:off x="6277356" y="3785616"/>
            <a:ext cx="5253228" cy="658368"/>
          </a:xfrm>
          <a:prstGeom prst="roundRect">
            <a:avLst>
              <a:gd name="adj" fmla="val 8333"/>
            </a:avLst>
          </a:prstGeom>
          <a:solidFill>
            <a:srgbClr val="F7F5FC"/>
          </a:solidFill>
          <a:ln w="12700">
            <a:solidFill>
              <a:srgbClr val="F7F5FC"/>
            </a:solidFill>
            <a:prstDash val="solid"/>
          </a:ln>
        </p:spPr>
      </p:sp>
      <p:sp>
        <p:nvSpPr>
          <p:cNvPr id="21" name="Text 19"/>
          <p:cNvSpPr txBox="1"/>
          <p:nvPr/>
        </p:nvSpPr>
        <p:spPr>
          <a:xfrm>
            <a:off x="6533388" y="3877056"/>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Separates return from risk</a:t>
            </a:r>
            <a:endParaRPr lang="en-US" sz="1350" dirty="0"/>
          </a:p>
        </p:txBody>
      </p:sp>
      <p:sp>
        <p:nvSpPr>
          <p:cNvPr id="22" name="Text 20"/>
          <p:cNvSpPr txBox="1"/>
          <p:nvPr/>
        </p:nvSpPr>
        <p:spPr>
          <a:xfrm>
            <a:off x="10158984" y="3877056"/>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Reasoning</a:t>
            </a:r>
            <a:endParaRPr lang="en-US" sz="1050" dirty="0"/>
          </a:p>
        </p:txBody>
      </p:sp>
      <p:sp>
        <p:nvSpPr>
          <p:cNvPr id="23" name="Shape 21"/>
          <p:cNvSpPr/>
          <p:nvPr/>
        </p:nvSpPr>
        <p:spPr>
          <a:xfrm>
            <a:off x="658368" y="4572000"/>
            <a:ext cx="5253228" cy="658368"/>
          </a:xfrm>
          <a:prstGeom prst="roundRect">
            <a:avLst>
              <a:gd name="adj" fmla="val 8333"/>
            </a:avLst>
          </a:prstGeom>
          <a:solidFill>
            <a:srgbClr val="F7F5FC"/>
          </a:solidFill>
          <a:ln w="12700">
            <a:solidFill>
              <a:srgbClr val="F7F5FC"/>
            </a:solidFill>
            <a:prstDash val="solid"/>
          </a:ln>
        </p:spPr>
      </p:sp>
      <p:sp>
        <p:nvSpPr>
          <p:cNvPr id="24" name="Text 22"/>
          <p:cNvSpPr txBox="1"/>
          <p:nvPr/>
        </p:nvSpPr>
        <p:spPr>
          <a:xfrm>
            <a:off x="914400" y="4663440"/>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Tests the exit before the entry</a:t>
            </a:r>
            <a:endParaRPr lang="en-US" sz="1350" dirty="0"/>
          </a:p>
        </p:txBody>
      </p:sp>
      <p:sp>
        <p:nvSpPr>
          <p:cNvPr id="25" name="Text 23"/>
          <p:cNvSpPr txBox="1"/>
          <p:nvPr/>
        </p:nvSpPr>
        <p:spPr>
          <a:xfrm>
            <a:off x="4539996" y="4663440"/>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Reasoning</a:t>
            </a:r>
            <a:endParaRPr lang="en-US" sz="1050" dirty="0"/>
          </a:p>
        </p:txBody>
      </p:sp>
      <p:sp>
        <p:nvSpPr>
          <p:cNvPr id="26" name="Shape 24"/>
          <p:cNvSpPr/>
          <p:nvPr/>
        </p:nvSpPr>
        <p:spPr>
          <a:xfrm>
            <a:off x="6277356" y="4572000"/>
            <a:ext cx="5253228" cy="658368"/>
          </a:xfrm>
          <a:prstGeom prst="roundRect">
            <a:avLst>
              <a:gd name="adj" fmla="val 8333"/>
            </a:avLst>
          </a:prstGeom>
          <a:solidFill>
            <a:srgbClr val="F7F5FC"/>
          </a:solidFill>
          <a:ln w="12700">
            <a:solidFill>
              <a:srgbClr val="F7F5FC"/>
            </a:solidFill>
            <a:prstDash val="solid"/>
          </a:ln>
        </p:spPr>
      </p:sp>
      <p:sp>
        <p:nvSpPr>
          <p:cNvPr id="27" name="Text 25"/>
          <p:cNvSpPr txBox="1"/>
          <p:nvPr/>
        </p:nvSpPr>
        <p:spPr>
          <a:xfrm>
            <a:off x="6533388" y="4663440"/>
            <a:ext cx="3470148" cy="274320"/>
          </a:xfrm>
          <a:prstGeom prst="rect">
            <a:avLst/>
          </a:prstGeom>
          <a:noFill/>
          <a:ln/>
        </p:spPr>
        <p:txBody>
          <a:bodyPr wrap="square" lIns="0" tIns="0" rIns="0" bIns="0" rtlCol="0" anchor="ctr"/>
          <a:lstStyle/>
          <a:p>
            <a:pPr indent="0" marL="0">
              <a:lnSpc>
                <a:spcPct val="110000"/>
              </a:lnSpc>
              <a:buNone/>
            </a:pPr>
            <a:r>
              <a:rPr lang="en-US" sz="1350" b="1" dirty="0">
                <a:solidFill>
                  <a:srgbClr val="1B1733"/>
                </a:solidFill>
                <a:latin typeface="Calibri" pitchFamily="34" charset="0"/>
                <a:ea typeface="Calibri" pitchFamily="34" charset="-122"/>
                <a:cs typeface="Calibri" pitchFamily="34" charset="-120"/>
              </a:rPr>
              <a:t>Names who bears the loss</a:t>
            </a:r>
            <a:endParaRPr lang="en-US" sz="1350" dirty="0"/>
          </a:p>
        </p:txBody>
      </p:sp>
      <p:sp>
        <p:nvSpPr>
          <p:cNvPr id="28" name="Text 26"/>
          <p:cNvSpPr txBox="1"/>
          <p:nvPr/>
        </p:nvSpPr>
        <p:spPr>
          <a:xfrm>
            <a:off x="10158984" y="4663440"/>
            <a:ext cx="1133856" cy="274320"/>
          </a:xfrm>
          <a:prstGeom prst="rect">
            <a:avLst/>
          </a:prstGeom>
          <a:noFill/>
          <a:ln/>
        </p:spPr>
        <p:txBody>
          <a:bodyPr wrap="square" lIns="0" tIns="0" rIns="0" bIns="0" rtlCol="0" anchor="ctr"/>
          <a:lstStyle/>
          <a:p>
            <a:pPr algn="r" indent="0" marL="0">
              <a:lnSpc>
                <a:spcPct val="110000"/>
              </a:lnSpc>
              <a:buNone/>
            </a:pPr>
            <a:r>
              <a:rPr lang="en-US" sz="1050" dirty="0">
                <a:solidFill>
                  <a:srgbClr val="5A4A96"/>
                </a:solidFill>
                <a:latin typeface="Calibri" pitchFamily="34" charset="0"/>
                <a:ea typeface="Calibri" pitchFamily="34" charset="-122"/>
                <a:cs typeface="Calibri" pitchFamily="34" charset="-120"/>
              </a:rPr>
              <a:t>Reasoning</a:t>
            </a:r>
            <a:endParaRPr lang="en-US" sz="1050" dirty="0"/>
          </a:p>
        </p:txBody>
      </p:sp>
      <p:sp>
        <p:nvSpPr>
          <p:cNvPr id="29" name="Text 27"/>
          <p:cNvSpPr txBox="1"/>
          <p:nvPr/>
        </p:nvSpPr>
        <p:spPr>
          <a:xfrm>
            <a:off x="658368" y="5541264"/>
            <a:ext cx="10607040" cy="365760"/>
          </a:xfrm>
          <a:prstGeom prst="rect">
            <a:avLst/>
          </a:prstGeom>
          <a:noFill/>
          <a:ln/>
        </p:spPr>
        <p:txBody>
          <a:bodyPr wrap="square" lIns="0" tIns="0" rIns="0" bIns="0" rtlCol="0" anchor="t"/>
          <a:lstStyle/>
          <a:p>
            <a:pPr indent="0" marL="0">
              <a:lnSpc>
                <a:spcPct val="110000"/>
              </a:lnSpc>
              <a:buNone/>
            </a:pPr>
            <a:r>
              <a:rPr lang="en-US" sz="1200" i="1" dirty="0">
                <a:solidFill>
                  <a:srgbClr val="6B6880"/>
                </a:solidFill>
                <a:latin typeface="Calibri" pitchFamily="34" charset="0"/>
                <a:ea typeface="Calibri" pitchFamily="34" charset="-122"/>
                <a:cs typeface="Calibri" pitchFamily="34" charset="-120"/>
              </a:rPr>
              <a:t>Anchored to published investor-education principles and an international competence framework. The anchor is a field on the object, not a claim in a slide.</a:t>
            </a:r>
            <a:endParaRPr lang="en-US" sz="1200" dirty="0"/>
          </a:p>
        </p:txBody>
      </p:sp>
      <p:sp>
        <p:nvSpPr>
          <p:cNvPr id="30" name="Text 28"/>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Not presented — hold for questions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APPENDIX 2 · FOR Q&amp;A</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2900" b="1" dirty="0">
                <a:solidFill>
                  <a:srgbClr val="1B1733"/>
                </a:solidFill>
                <a:latin typeface="Cambria" pitchFamily="34" charset="0"/>
                <a:ea typeface="Cambria" pitchFamily="34" charset="-122"/>
                <a:cs typeface="Cambria" pitchFamily="34" charset="-120"/>
              </a:rPr>
              <a:t>How a finding is bound to what was actually said.</a:t>
            </a:r>
            <a:endParaRPr lang="en-US" sz="2900" dirty="0"/>
          </a:p>
        </p:txBody>
      </p:sp>
      <p:sp>
        <p:nvSpPr>
          <p:cNvPr id="4" name="Text 2"/>
          <p:cNvSpPr txBox="1"/>
          <p:nvPr/>
        </p:nvSpPr>
        <p:spPr>
          <a:xfrm>
            <a:off x="658368" y="1463040"/>
            <a:ext cx="10607040" cy="365760"/>
          </a:xfrm>
          <a:prstGeom prst="rect">
            <a:avLst/>
          </a:prstGeom>
          <a:noFill/>
          <a:ln/>
        </p:spPr>
        <p:txBody>
          <a:bodyPr wrap="square" lIns="0" tIns="0" rIns="0" bIns="0" rtlCol="0" anchor="t"/>
          <a:lstStyle/>
          <a:p>
            <a:pPr indent="0" marL="0">
              <a:lnSpc>
                <a:spcPct val="110000"/>
              </a:lnSpc>
              <a:buNone/>
            </a:pPr>
            <a:r>
              <a:rPr lang="en-US" sz="1350" dirty="0">
                <a:solidFill>
                  <a:srgbClr val="2A2447"/>
                </a:solidFill>
                <a:latin typeface="Calibri" pitchFamily="34" charset="0"/>
                <a:ea typeface="Calibri" pitchFamily="34" charset="-122"/>
                <a:cs typeface="Calibri" pitchFamily="34" charset="-120"/>
              </a:rPr>
              <a:t>Nothing on the record is generated prose. Every row resolves to four things, and the investor can see all four.</a:t>
            </a:r>
            <a:endParaRPr lang="en-US" sz="1350" dirty="0"/>
          </a:p>
        </p:txBody>
      </p:sp>
      <p:sp>
        <p:nvSpPr>
          <p:cNvPr id="5" name="Shape 3"/>
          <p:cNvSpPr/>
          <p:nvPr/>
        </p:nvSpPr>
        <p:spPr>
          <a:xfrm>
            <a:off x="658368" y="2048256"/>
            <a:ext cx="2512314" cy="1920240"/>
          </a:xfrm>
          <a:prstGeom prst="roundRect">
            <a:avLst>
              <a:gd name="adj" fmla="val 2857"/>
            </a:avLst>
          </a:prstGeom>
          <a:solidFill>
            <a:srgbClr val="F7F5FC"/>
          </a:solidFill>
          <a:ln w="12700">
            <a:solidFill>
              <a:srgbClr val="F7F5FC"/>
            </a:solidFill>
            <a:prstDash val="solid"/>
          </a:ln>
        </p:spPr>
      </p:sp>
      <p:sp>
        <p:nvSpPr>
          <p:cNvPr id="6" name="Shape 4"/>
          <p:cNvSpPr/>
          <p:nvPr/>
        </p:nvSpPr>
        <p:spPr>
          <a:xfrm>
            <a:off x="896112" y="2267712"/>
            <a:ext cx="329184" cy="329184"/>
          </a:xfrm>
          <a:prstGeom prst="ellipse">
            <a:avLst/>
          </a:prstGeom>
          <a:solidFill>
            <a:srgbClr val="7C6BC4"/>
          </a:solidFill>
          <a:ln/>
        </p:spPr>
      </p:sp>
      <p:sp>
        <p:nvSpPr>
          <p:cNvPr id="7" name="Text 5"/>
          <p:cNvSpPr txBox="1"/>
          <p:nvPr/>
        </p:nvSpPr>
        <p:spPr>
          <a:xfrm>
            <a:off x="896112" y="2267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896112" y="2706624"/>
            <a:ext cx="2036826" cy="292608"/>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Element</a:t>
            </a:r>
            <a:endParaRPr lang="en-US" sz="1500" dirty="0"/>
          </a:p>
        </p:txBody>
      </p:sp>
      <p:sp>
        <p:nvSpPr>
          <p:cNvPr id="9" name="Text 7"/>
          <p:cNvSpPr txBox="1"/>
          <p:nvPr/>
        </p:nvSpPr>
        <p:spPr>
          <a:xfrm>
            <a:off x="896112" y="3054096"/>
            <a:ext cx="2036826" cy="786384"/>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What the determination turns on, with its anchor.</a:t>
            </a:r>
            <a:endParaRPr lang="en-US" sz="1200" dirty="0"/>
          </a:p>
        </p:txBody>
      </p:sp>
      <p:sp>
        <p:nvSpPr>
          <p:cNvPr id="10" name="Shape 8"/>
          <p:cNvSpPr/>
          <p:nvPr/>
        </p:nvSpPr>
        <p:spPr>
          <a:xfrm>
            <a:off x="3445002" y="2048256"/>
            <a:ext cx="2512314" cy="1920240"/>
          </a:xfrm>
          <a:prstGeom prst="roundRect">
            <a:avLst>
              <a:gd name="adj" fmla="val 2857"/>
            </a:avLst>
          </a:prstGeom>
          <a:solidFill>
            <a:srgbClr val="F7F5FC"/>
          </a:solidFill>
          <a:ln w="12700">
            <a:solidFill>
              <a:srgbClr val="F7F5FC"/>
            </a:solidFill>
            <a:prstDash val="solid"/>
          </a:ln>
        </p:spPr>
      </p:sp>
      <p:sp>
        <p:nvSpPr>
          <p:cNvPr id="11" name="Shape 9"/>
          <p:cNvSpPr/>
          <p:nvPr/>
        </p:nvSpPr>
        <p:spPr>
          <a:xfrm>
            <a:off x="3682746" y="2267712"/>
            <a:ext cx="329184" cy="329184"/>
          </a:xfrm>
          <a:prstGeom prst="ellipse">
            <a:avLst/>
          </a:prstGeom>
          <a:solidFill>
            <a:srgbClr val="7C6BC4"/>
          </a:solidFill>
          <a:ln/>
        </p:spPr>
      </p:sp>
      <p:sp>
        <p:nvSpPr>
          <p:cNvPr id="12" name="Text 10"/>
          <p:cNvSpPr txBox="1"/>
          <p:nvPr/>
        </p:nvSpPr>
        <p:spPr>
          <a:xfrm>
            <a:off x="3682746" y="2267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682746" y="2706624"/>
            <a:ext cx="2036826" cy="292608"/>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Object</a:t>
            </a:r>
            <a:endParaRPr lang="en-US" sz="1500" dirty="0"/>
          </a:p>
        </p:txBody>
      </p:sp>
      <p:sp>
        <p:nvSpPr>
          <p:cNvPr id="14" name="Text 12"/>
          <p:cNvSpPr txBox="1"/>
          <p:nvPr/>
        </p:nvSpPr>
        <p:spPr>
          <a:xfrm>
            <a:off x="3682746" y="3054096"/>
            <a:ext cx="2036826" cy="786384"/>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The approved question or challenge that elicited it, with its version.</a:t>
            </a:r>
            <a:endParaRPr lang="en-US" sz="1200" dirty="0"/>
          </a:p>
        </p:txBody>
      </p:sp>
      <p:sp>
        <p:nvSpPr>
          <p:cNvPr id="15" name="Shape 13"/>
          <p:cNvSpPr/>
          <p:nvPr/>
        </p:nvSpPr>
        <p:spPr>
          <a:xfrm>
            <a:off x="6231636" y="2048256"/>
            <a:ext cx="2512314" cy="1920240"/>
          </a:xfrm>
          <a:prstGeom prst="roundRect">
            <a:avLst>
              <a:gd name="adj" fmla="val 2857"/>
            </a:avLst>
          </a:prstGeom>
          <a:solidFill>
            <a:srgbClr val="1B1733"/>
          </a:solidFill>
          <a:ln w="12700">
            <a:solidFill>
              <a:srgbClr val="1B1733"/>
            </a:solidFill>
            <a:prstDash val="solid"/>
          </a:ln>
        </p:spPr>
      </p:sp>
      <p:sp>
        <p:nvSpPr>
          <p:cNvPr id="16" name="Shape 14"/>
          <p:cNvSpPr/>
          <p:nvPr/>
        </p:nvSpPr>
        <p:spPr>
          <a:xfrm>
            <a:off x="6469380" y="2267712"/>
            <a:ext cx="329184" cy="329184"/>
          </a:xfrm>
          <a:prstGeom prst="ellipse">
            <a:avLst/>
          </a:prstGeom>
          <a:solidFill>
            <a:srgbClr val="7C6BC4"/>
          </a:solidFill>
          <a:ln/>
        </p:spPr>
      </p:sp>
      <p:sp>
        <p:nvSpPr>
          <p:cNvPr id="17" name="Text 15"/>
          <p:cNvSpPr txBox="1"/>
          <p:nvPr/>
        </p:nvSpPr>
        <p:spPr>
          <a:xfrm>
            <a:off x="6469380" y="2267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469380" y="2706624"/>
            <a:ext cx="2036826" cy="292608"/>
          </a:xfrm>
          <a:prstGeom prst="rect">
            <a:avLst/>
          </a:prstGeom>
          <a:noFill/>
          <a:ln/>
        </p:spPr>
        <p:txBody>
          <a:bodyPr wrap="square" lIns="0" tIns="0" rIns="0" bIns="0" rtlCol="0" anchor="t"/>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Verbatim</a:t>
            </a:r>
            <a:endParaRPr lang="en-US" sz="1500" dirty="0"/>
          </a:p>
        </p:txBody>
      </p:sp>
      <p:sp>
        <p:nvSpPr>
          <p:cNvPr id="19" name="Text 17"/>
          <p:cNvSpPr txBox="1"/>
          <p:nvPr/>
        </p:nvSpPr>
        <p:spPr>
          <a:xfrm>
            <a:off x="6469380" y="3054096"/>
            <a:ext cx="2036826" cy="786384"/>
          </a:xfrm>
          <a:prstGeom prst="rect">
            <a:avLst/>
          </a:prstGeom>
          <a:noFill/>
          <a:ln/>
        </p:spPr>
        <p:txBody>
          <a:bodyPr wrap="square" lIns="0" tIns="0" rIns="0" bIns="0" rtlCol="0" anchor="t"/>
          <a:lstStyle/>
          <a:p>
            <a:pPr indent="0" marL="0">
              <a:lnSpc>
                <a:spcPct val="108000"/>
              </a:lnSpc>
              <a:buNone/>
            </a:pPr>
            <a:r>
              <a:rPr lang="en-US" sz="1200" dirty="0">
                <a:solidFill>
                  <a:srgbClr val="D8D3EA"/>
                </a:solidFill>
                <a:latin typeface="Calibri" pitchFamily="34" charset="0"/>
                <a:ea typeface="Calibri" pitchFamily="34" charset="-122"/>
                <a:cs typeface="Calibri" pitchFamily="34" charset="-120"/>
              </a:rPr>
              <a:t>The investor's own sentence. Not a summary of it.</a:t>
            </a:r>
            <a:endParaRPr lang="en-US" sz="1200" dirty="0"/>
          </a:p>
        </p:txBody>
      </p:sp>
      <p:sp>
        <p:nvSpPr>
          <p:cNvPr id="20" name="Shape 18"/>
          <p:cNvSpPr/>
          <p:nvPr/>
        </p:nvSpPr>
        <p:spPr>
          <a:xfrm>
            <a:off x="9018270" y="2048256"/>
            <a:ext cx="2512314" cy="1920240"/>
          </a:xfrm>
          <a:prstGeom prst="roundRect">
            <a:avLst>
              <a:gd name="adj" fmla="val 2857"/>
            </a:avLst>
          </a:prstGeom>
          <a:solidFill>
            <a:srgbClr val="F7F5FC"/>
          </a:solidFill>
          <a:ln w="12700">
            <a:solidFill>
              <a:srgbClr val="F7F5FC"/>
            </a:solidFill>
            <a:prstDash val="solid"/>
          </a:ln>
        </p:spPr>
      </p:sp>
      <p:sp>
        <p:nvSpPr>
          <p:cNvPr id="21" name="Shape 19"/>
          <p:cNvSpPr/>
          <p:nvPr/>
        </p:nvSpPr>
        <p:spPr>
          <a:xfrm>
            <a:off x="9256014" y="2267712"/>
            <a:ext cx="329184" cy="329184"/>
          </a:xfrm>
          <a:prstGeom prst="ellipse">
            <a:avLst/>
          </a:prstGeom>
          <a:solidFill>
            <a:srgbClr val="7C6BC4"/>
          </a:solidFill>
          <a:ln/>
        </p:spPr>
      </p:sp>
      <p:sp>
        <p:nvSpPr>
          <p:cNvPr id="22" name="Text 20"/>
          <p:cNvSpPr txBox="1"/>
          <p:nvPr/>
        </p:nvSpPr>
        <p:spPr>
          <a:xfrm>
            <a:off x="9256014" y="22677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9256014" y="2706624"/>
            <a:ext cx="2036826" cy="292608"/>
          </a:xfrm>
          <a:prstGeom prst="rect">
            <a:avLst/>
          </a:prstGeom>
          <a:noFill/>
          <a:ln/>
        </p:spPr>
        <p:txBody>
          <a:bodyPr wrap="square" lIns="0" tIns="0" rIns="0" bIns="0" rtlCol="0" anchor="t"/>
          <a:lstStyle/>
          <a:p>
            <a:pPr indent="0" marL="0">
              <a:lnSpc>
                <a:spcPct val="110000"/>
              </a:lnSpc>
              <a:buNone/>
            </a:pPr>
            <a:r>
              <a:rPr lang="en-US" sz="1500" b="1" dirty="0">
                <a:solidFill>
                  <a:srgbClr val="5A4A96"/>
                </a:solidFill>
                <a:latin typeface="Calibri" pitchFamily="34" charset="0"/>
                <a:ea typeface="Calibri" pitchFamily="34" charset="-122"/>
                <a:cs typeface="Calibri" pitchFamily="34" charset="-120"/>
              </a:rPr>
              <a:t>Outcome</a:t>
            </a:r>
            <a:endParaRPr lang="en-US" sz="1500" dirty="0"/>
          </a:p>
        </p:txBody>
      </p:sp>
      <p:sp>
        <p:nvSpPr>
          <p:cNvPr id="24" name="Text 22"/>
          <p:cNvSpPr txBox="1"/>
          <p:nvPr/>
        </p:nvSpPr>
        <p:spPr>
          <a:xfrm>
            <a:off x="9256014" y="3054096"/>
            <a:ext cx="2036826" cy="786384"/>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Demonstrated, failed, or not testable this session — never inflated.</a:t>
            </a:r>
            <a:endParaRPr lang="en-US" sz="1200" dirty="0"/>
          </a:p>
        </p:txBody>
      </p:sp>
      <p:sp>
        <p:nvSpPr>
          <p:cNvPr id="25" name="Shape 23"/>
          <p:cNvSpPr/>
          <p:nvPr/>
        </p:nvSpPr>
        <p:spPr>
          <a:xfrm>
            <a:off x="658368" y="4242816"/>
            <a:ext cx="10872216" cy="1371600"/>
          </a:xfrm>
          <a:prstGeom prst="roundRect">
            <a:avLst>
              <a:gd name="adj" fmla="val 4000"/>
            </a:avLst>
          </a:prstGeom>
          <a:solidFill>
            <a:srgbClr val="EDEAF7"/>
          </a:solidFill>
          <a:ln w="12700">
            <a:solidFill>
              <a:srgbClr val="EDEAF7"/>
            </a:solidFill>
            <a:prstDash val="solid"/>
          </a:ln>
        </p:spPr>
      </p:sp>
      <p:sp>
        <p:nvSpPr>
          <p:cNvPr id="26" name="Text 24"/>
          <p:cNvSpPr txBox="1"/>
          <p:nvPr/>
        </p:nvSpPr>
        <p:spPr>
          <a:xfrm>
            <a:off x="969264" y="4389120"/>
            <a:ext cx="5486400" cy="274320"/>
          </a:xfrm>
          <a:prstGeom prst="rect">
            <a:avLst/>
          </a:prstGeom>
          <a:noFill/>
          <a:ln/>
        </p:spPr>
        <p:txBody>
          <a:bodyPr wrap="square" lIns="0" tIns="0" rIns="0" bIns="0" rtlCol="0" anchor="t"/>
          <a:lstStyle/>
          <a:p>
            <a:pPr indent="0" marL="0">
              <a:lnSpc>
                <a:spcPct val="110000"/>
              </a:lnSpc>
              <a:buNone/>
            </a:pPr>
            <a:r>
              <a:rPr lang="en-US" sz="1300" b="1" dirty="0">
                <a:solidFill>
                  <a:srgbClr val="5A4A96"/>
                </a:solidFill>
                <a:latin typeface="Calibri" pitchFamily="34" charset="0"/>
                <a:ea typeface="Calibri" pitchFamily="34" charset="-122"/>
                <a:cs typeface="Calibri" pitchFamily="34" charset="-120"/>
              </a:rPr>
              <a:t>Two restraints we hold on purpose</a:t>
            </a:r>
            <a:endParaRPr lang="en-US" sz="1300" dirty="0"/>
          </a:p>
        </p:txBody>
      </p:sp>
      <p:sp>
        <p:nvSpPr>
          <p:cNvPr id="27" name="Text 25"/>
          <p:cNvSpPr txBox="1"/>
          <p:nvPr/>
        </p:nvSpPr>
        <p:spPr>
          <a:xfrm>
            <a:off x="969264" y="4718304"/>
            <a:ext cx="10250424" cy="786384"/>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dirty="0">
                <a:solidFill>
                  <a:srgbClr val="2A2447"/>
                </a:solidFill>
                <a:latin typeface="Calibri" pitchFamily="34" charset="0"/>
                <a:ea typeface="Calibri" pitchFamily="34" charset="-122"/>
                <a:cs typeface="Calibri" pitchFamily="34" charset="-120"/>
              </a:rPr>
              <a:t>The record claims within-session transfer only. It prints the rule version and states that durable behaviour change is not claimed.</a:t>
            </a:r>
            <a:endParaRPr lang="en-US" sz="1250" dirty="0"/>
          </a:p>
          <a:p>
            <a:pPr marL="342900" indent="-342900">
              <a:lnSpc>
                <a:spcPct val="105000"/>
              </a:lnSpc>
              <a:spcAft>
                <a:spcPts val="400"/>
              </a:spcAft>
              <a:buSzPct val="100000"/>
              <a:buChar char="•"/>
            </a:pPr>
            <a:r>
              <a:rPr lang="en-US" sz="1250" dirty="0">
                <a:solidFill>
                  <a:srgbClr val="2A2447"/>
                </a:solidFill>
                <a:latin typeface="Calibri" pitchFamily="34" charset="0"/>
                <a:ea typeface="Calibri" pitchFamily="34" charset="-122"/>
                <a:cs typeface="Calibri" pitchFamily="34" charset="-120"/>
              </a:rPr>
              <a:t>An element the coach never explained is never credited as coached — crediting it would overstate the record.</a:t>
            </a:r>
            <a:endParaRPr lang="en-US" sz="1250" dirty="0"/>
          </a:p>
        </p:txBody>
      </p:sp>
      <p:sp>
        <p:nvSpPr>
          <p:cNvPr id="28" name="Text 26"/>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Not presented — hold for questions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APPENDIX 3 · FOR Q&amp;A</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2900" b="1" dirty="0">
                <a:solidFill>
                  <a:srgbClr val="1B1733"/>
                </a:solidFill>
                <a:latin typeface="Cambria" pitchFamily="34" charset="0"/>
                <a:ea typeface="Cambria" pitchFamily="34" charset="-122"/>
                <a:cs typeface="Cambria" pitchFamily="34" charset="-120"/>
              </a:rPr>
              <a:t>Safety, and the limits that cannot be overridden.</a:t>
            </a:r>
            <a:endParaRPr lang="en-US" sz="2900" dirty="0"/>
          </a:p>
        </p:txBody>
      </p:sp>
      <p:sp>
        <p:nvSpPr>
          <p:cNvPr id="4" name="Text 2"/>
          <p:cNvSpPr txBox="1"/>
          <p:nvPr/>
        </p:nvSpPr>
        <p:spPr>
          <a:xfrm>
            <a:off x="658368" y="1463040"/>
            <a:ext cx="10607040" cy="566928"/>
          </a:xfrm>
          <a:prstGeom prst="rect">
            <a:avLst/>
          </a:prstGeom>
          <a:noFill/>
          <a:ln/>
        </p:spPr>
        <p:txBody>
          <a:bodyPr wrap="square" lIns="0" tIns="0" rIns="0" bIns="0" rtlCol="0" anchor="t"/>
          <a:lstStyle/>
          <a:p>
            <a:pPr indent="0" marL="0">
              <a:lnSpc>
                <a:spcPct val="112000"/>
              </a:lnSpc>
              <a:buNone/>
            </a:pPr>
            <a:r>
              <a:rPr lang="en-US" sz="1350" dirty="0">
                <a:solidFill>
                  <a:srgbClr val="2A2447"/>
                </a:solidFill>
                <a:latin typeface="Calibri" pitchFamily="34" charset="0"/>
                <a:ea typeface="Calibri" pitchFamily="34" charset="-122"/>
                <a:cs typeface="Calibri" pitchFamily="34" charset="-120"/>
              </a:rPr>
              <a:t>Pressure is the product. Uncontrolled pressure is a liability. These are enforced in code, at a named place, so a change cannot quietly undo them.</a:t>
            </a:r>
            <a:endParaRPr lang="en-US" sz="1350" dirty="0"/>
          </a:p>
        </p:txBody>
      </p:sp>
      <p:sp>
        <p:nvSpPr>
          <p:cNvPr id="5" name="Shape 3"/>
          <p:cNvSpPr/>
          <p:nvPr/>
        </p:nvSpPr>
        <p:spPr>
          <a:xfrm>
            <a:off x="658368" y="2048256"/>
            <a:ext cx="5253228" cy="1060704"/>
          </a:xfrm>
          <a:prstGeom prst="roundRect">
            <a:avLst>
              <a:gd name="adj" fmla="val 5172"/>
            </a:avLst>
          </a:prstGeom>
          <a:solidFill>
            <a:srgbClr val="F7F5FC"/>
          </a:solidFill>
          <a:ln w="12700">
            <a:solidFill>
              <a:srgbClr val="F7F5FC"/>
            </a:solidFill>
            <a:prstDash val="solid"/>
          </a:ln>
        </p:spPr>
      </p:sp>
      <p:sp>
        <p:nvSpPr>
          <p:cNvPr id="6" name="Text 4"/>
          <p:cNvSpPr txBox="1"/>
          <p:nvPr/>
        </p:nvSpPr>
        <p:spPr>
          <a:xfrm>
            <a:off x="932688" y="2176272"/>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Approved ladder, hard ceiling</a:t>
            </a:r>
            <a:endParaRPr lang="en-US" sz="1400" dirty="0"/>
          </a:p>
        </p:txBody>
      </p:sp>
      <p:sp>
        <p:nvSpPr>
          <p:cNvPr id="7" name="Text 5"/>
          <p:cNvSpPr txBox="1"/>
          <p:nvPr/>
        </p:nvSpPr>
        <p:spPr>
          <a:xfrm>
            <a:off x="932688" y="2505456"/>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The persona escalates only through approved steps, and never past the declared ceiling.</a:t>
            </a:r>
            <a:endParaRPr lang="en-US" sz="1200" dirty="0"/>
          </a:p>
        </p:txBody>
      </p:sp>
      <p:sp>
        <p:nvSpPr>
          <p:cNvPr id="8" name="Shape 6"/>
          <p:cNvSpPr/>
          <p:nvPr/>
        </p:nvSpPr>
        <p:spPr>
          <a:xfrm>
            <a:off x="6277356" y="2048256"/>
            <a:ext cx="5253228" cy="1060704"/>
          </a:xfrm>
          <a:prstGeom prst="roundRect">
            <a:avLst>
              <a:gd name="adj" fmla="val 5172"/>
            </a:avLst>
          </a:prstGeom>
          <a:solidFill>
            <a:srgbClr val="F7F5FC"/>
          </a:solidFill>
          <a:ln w="12700">
            <a:solidFill>
              <a:srgbClr val="F7F5FC"/>
            </a:solidFill>
            <a:prstDash val="solid"/>
          </a:ln>
        </p:spPr>
      </p:sp>
      <p:sp>
        <p:nvSpPr>
          <p:cNvPr id="9" name="Text 7"/>
          <p:cNvSpPr txBox="1"/>
          <p:nvPr/>
        </p:nvSpPr>
        <p:spPr>
          <a:xfrm>
            <a:off x="6551676" y="2176272"/>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Distress exit</a:t>
            </a:r>
            <a:endParaRPr lang="en-US" sz="1400" dirty="0"/>
          </a:p>
        </p:txBody>
      </p:sp>
      <p:sp>
        <p:nvSpPr>
          <p:cNvPr id="10" name="Text 8"/>
          <p:cNvSpPr txBox="1"/>
          <p:nvPr/>
        </p:nvSpPr>
        <p:spPr>
          <a:xfrm>
            <a:off x="6551676" y="2505456"/>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Non-negotiable wherever pressure is applied. The persona breaks character immediately.</a:t>
            </a:r>
            <a:endParaRPr lang="en-US" sz="1200" dirty="0"/>
          </a:p>
        </p:txBody>
      </p:sp>
      <p:sp>
        <p:nvSpPr>
          <p:cNvPr id="11" name="Shape 9"/>
          <p:cNvSpPr/>
          <p:nvPr/>
        </p:nvSpPr>
        <p:spPr>
          <a:xfrm>
            <a:off x="658368" y="3255264"/>
            <a:ext cx="5253228" cy="1060704"/>
          </a:xfrm>
          <a:prstGeom prst="roundRect">
            <a:avLst>
              <a:gd name="adj" fmla="val 5172"/>
            </a:avLst>
          </a:prstGeom>
          <a:solidFill>
            <a:srgbClr val="F7F5FC"/>
          </a:solidFill>
          <a:ln w="12700">
            <a:solidFill>
              <a:srgbClr val="F7F5FC"/>
            </a:solidFill>
            <a:prstDash val="solid"/>
          </a:ln>
        </p:spPr>
      </p:sp>
      <p:sp>
        <p:nvSpPr>
          <p:cNvPr id="12" name="Text 10"/>
          <p:cNvSpPr txBox="1"/>
          <p:nvPr/>
        </p:nvSpPr>
        <p:spPr>
          <a:xfrm>
            <a:off x="932688" y="3383280"/>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No mid-scenario correction</a:t>
            </a:r>
            <a:endParaRPr lang="en-US" sz="1400" dirty="0"/>
          </a:p>
        </p:txBody>
      </p:sp>
      <p:sp>
        <p:nvSpPr>
          <p:cNvPr id="13" name="Text 11"/>
          <p:cNvSpPr txBox="1"/>
          <p:nvPr/>
        </p:nvSpPr>
        <p:spPr>
          <a:xfrm>
            <a:off x="932688" y="3712464"/>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The investor is allowed to make the mistake. That is where the behavioural evidence comes from.</a:t>
            </a:r>
            <a:endParaRPr lang="en-US" sz="1200" dirty="0"/>
          </a:p>
        </p:txBody>
      </p:sp>
      <p:sp>
        <p:nvSpPr>
          <p:cNvPr id="14" name="Shape 12"/>
          <p:cNvSpPr/>
          <p:nvPr/>
        </p:nvSpPr>
        <p:spPr>
          <a:xfrm>
            <a:off x="6277356" y="3255264"/>
            <a:ext cx="5253228" cy="1060704"/>
          </a:xfrm>
          <a:prstGeom prst="roundRect">
            <a:avLst>
              <a:gd name="adj" fmla="val 5172"/>
            </a:avLst>
          </a:prstGeom>
          <a:solidFill>
            <a:srgbClr val="F7F5FC"/>
          </a:solidFill>
          <a:ln w="12700">
            <a:solidFill>
              <a:srgbClr val="F7F5FC"/>
            </a:solidFill>
            <a:prstDash val="solid"/>
          </a:ln>
        </p:spPr>
      </p:sp>
      <p:sp>
        <p:nvSpPr>
          <p:cNvPr id="15" name="Text 13"/>
          <p:cNvSpPr txBox="1"/>
          <p:nvPr/>
        </p:nvSpPr>
        <p:spPr>
          <a:xfrm>
            <a:off x="6551676" y="3383280"/>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The freeze rule</a:t>
            </a:r>
            <a:endParaRPr lang="en-US" sz="1400" dirty="0"/>
          </a:p>
        </p:txBody>
      </p:sp>
      <p:sp>
        <p:nvSpPr>
          <p:cNvPr id="16" name="Text 14"/>
          <p:cNvSpPr txBox="1"/>
          <p:nvPr/>
        </p:nvSpPr>
        <p:spPr>
          <a:xfrm>
            <a:off x="6551676" y="3712464"/>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The reasoning display stops updating during pressure. A failing element never flips live in front of them.</a:t>
            </a:r>
            <a:endParaRPr lang="en-US" sz="1200" dirty="0"/>
          </a:p>
        </p:txBody>
      </p:sp>
      <p:sp>
        <p:nvSpPr>
          <p:cNvPr id="17" name="Shape 15"/>
          <p:cNvSpPr/>
          <p:nvPr/>
        </p:nvSpPr>
        <p:spPr>
          <a:xfrm>
            <a:off x="658368" y="4462272"/>
            <a:ext cx="5253228" cy="1060704"/>
          </a:xfrm>
          <a:prstGeom prst="roundRect">
            <a:avLst>
              <a:gd name="adj" fmla="val 5172"/>
            </a:avLst>
          </a:prstGeom>
          <a:solidFill>
            <a:srgbClr val="F7F5FC"/>
          </a:solidFill>
          <a:ln w="12700">
            <a:solidFill>
              <a:srgbClr val="F7F5FC"/>
            </a:solidFill>
            <a:prstDash val="solid"/>
          </a:ln>
        </p:spPr>
      </p:sp>
      <p:sp>
        <p:nvSpPr>
          <p:cNvPr id="18" name="Text 16"/>
          <p:cNvSpPr txBox="1"/>
          <p:nvPr/>
        </p:nvSpPr>
        <p:spPr>
          <a:xfrm>
            <a:off x="932688" y="4590288"/>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Consent before pressure</a:t>
            </a:r>
            <a:endParaRPr lang="en-US" sz="1400" dirty="0"/>
          </a:p>
        </p:txBody>
      </p:sp>
      <p:sp>
        <p:nvSpPr>
          <p:cNvPr id="19" name="Text 17"/>
          <p:cNvSpPr txBox="1"/>
          <p:nvPr/>
        </p:nvSpPr>
        <p:spPr>
          <a:xfrm>
            <a:off x="932688" y="4919472"/>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Entry carries an explicit act of consent to be pressured — not a menu selection.</a:t>
            </a:r>
            <a:endParaRPr lang="en-US" sz="1200" dirty="0"/>
          </a:p>
        </p:txBody>
      </p:sp>
      <p:sp>
        <p:nvSpPr>
          <p:cNvPr id="20" name="Shape 18"/>
          <p:cNvSpPr/>
          <p:nvPr/>
        </p:nvSpPr>
        <p:spPr>
          <a:xfrm>
            <a:off x="6277356" y="4462272"/>
            <a:ext cx="5253228" cy="1060704"/>
          </a:xfrm>
          <a:prstGeom prst="roundRect">
            <a:avLst>
              <a:gd name="adj" fmla="val 5172"/>
            </a:avLst>
          </a:prstGeom>
          <a:solidFill>
            <a:srgbClr val="F7F5FC"/>
          </a:solidFill>
          <a:ln w="12700">
            <a:solidFill>
              <a:srgbClr val="F7F5FC"/>
            </a:solidFill>
            <a:prstDash val="solid"/>
          </a:ln>
        </p:spPr>
      </p:sp>
      <p:sp>
        <p:nvSpPr>
          <p:cNvPr id="21" name="Text 19"/>
          <p:cNvSpPr txBox="1"/>
          <p:nvPr/>
        </p:nvSpPr>
        <p:spPr>
          <a:xfrm>
            <a:off x="6551676" y="4590288"/>
            <a:ext cx="4704588" cy="274320"/>
          </a:xfrm>
          <a:prstGeom prst="rect">
            <a:avLst/>
          </a:prstGeom>
          <a:noFill/>
          <a:ln/>
        </p:spPr>
        <p:txBody>
          <a:bodyPr wrap="square" lIns="0" tIns="0" rIns="0" bIns="0" rtlCol="0" anchor="t"/>
          <a:lstStyle/>
          <a:p>
            <a:pPr indent="0" marL="0">
              <a:lnSpc>
                <a:spcPct val="110000"/>
              </a:lnSpc>
              <a:buNone/>
            </a:pPr>
            <a:r>
              <a:rPr lang="en-US" sz="1400" b="1" dirty="0">
                <a:solidFill>
                  <a:srgbClr val="5A4A96"/>
                </a:solidFill>
                <a:latin typeface="Calibri" pitchFamily="34" charset="0"/>
                <a:ea typeface="Calibri" pitchFamily="34" charset="-122"/>
                <a:cs typeface="Calibri" pitchFamily="34" charset="-120"/>
              </a:rPr>
              <a:t>No adversarial content outside rehearsal</a:t>
            </a:r>
            <a:endParaRPr lang="en-US" sz="1400" dirty="0"/>
          </a:p>
        </p:txBody>
      </p:sp>
      <p:sp>
        <p:nvSpPr>
          <p:cNvPr id="22" name="Text 20"/>
          <p:cNvSpPr txBox="1"/>
          <p:nvPr/>
        </p:nvSpPr>
        <p:spPr>
          <a:xfrm>
            <a:off x="6551676" y="4919472"/>
            <a:ext cx="4704588" cy="530352"/>
          </a:xfrm>
          <a:prstGeom prst="rect">
            <a:avLst/>
          </a:prstGeom>
          <a:noFill/>
          <a:ln/>
        </p:spPr>
        <p:txBody>
          <a:bodyPr wrap="square" lIns="0" tIns="0" rIns="0" bIns="0" rtlCol="0" anchor="t"/>
          <a:lstStyle/>
          <a:p>
            <a:pPr indent="0" marL="0">
              <a:lnSpc>
                <a:spcPct val="108000"/>
              </a:lnSpc>
              <a:buNone/>
            </a:pPr>
            <a:r>
              <a:rPr lang="en-US" sz="1200" dirty="0">
                <a:solidFill>
                  <a:srgbClr val="2A2447"/>
                </a:solidFill>
                <a:latin typeface="Calibri" pitchFamily="34" charset="0"/>
                <a:ea typeface="Calibri" pitchFamily="34" charset="-122"/>
                <a:cs typeface="Calibri" pitchFamily="34" charset="-120"/>
              </a:rPr>
              <a:t>Challenge objects are gated at the object level and cannot fire in any other mode.</a:t>
            </a:r>
            <a:endParaRPr lang="en-US" sz="1200" dirty="0"/>
          </a:p>
        </p:txBody>
      </p:sp>
      <p:sp>
        <p:nvSpPr>
          <p:cNvPr id="23" name="Text 21"/>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Not presented — hold for questions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APPENDIX 4 · FOR Q&amp;A</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2900" b="1" dirty="0">
                <a:solidFill>
                  <a:srgbClr val="1B1733"/>
                </a:solidFill>
                <a:latin typeface="Cambria" pitchFamily="34" charset="0"/>
                <a:ea typeface="Cambria" pitchFamily="34" charset="-122"/>
                <a:cs typeface="Cambria" pitchFamily="34" charset="-120"/>
              </a:rPr>
              <a:t>Four languages — and why three are not deployed.</a:t>
            </a:r>
            <a:endParaRPr lang="en-US" sz="2900" dirty="0"/>
          </a:p>
        </p:txBody>
      </p:sp>
      <p:sp>
        <p:nvSpPr>
          <p:cNvPr id="4" name="Text 2"/>
          <p:cNvSpPr txBox="1"/>
          <p:nvPr/>
        </p:nvSpPr>
        <p:spPr>
          <a:xfrm>
            <a:off x="658368" y="1463040"/>
            <a:ext cx="10607040" cy="566928"/>
          </a:xfrm>
          <a:prstGeom prst="rect">
            <a:avLst/>
          </a:prstGeom>
          <a:noFill/>
          <a:ln/>
        </p:spPr>
        <p:txBody>
          <a:bodyPr wrap="square" lIns="0" tIns="0" rIns="0" bIns="0" rtlCol="0" anchor="t"/>
          <a:lstStyle/>
          <a:p>
            <a:pPr indent="0" marL="0">
              <a:lnSpc>
                <a:spcPct val="112000"/>
              </a:lnSpc>
              <a:buNone/>
            </a:pPr>
            <a:r>
              <a:rPr lang="en-US" sz="1350" dirty="0">
                <a:solidFill>
                  <a:srgbClr val="2A2447"/>
                </a:solidFill>
                <a:latin typeface="Calibri" pitchFamily="34" charset="0"/>
                <a:ea typeface="Calibri" pitchFamily="34" charset="-122"/>
                <a:cs typeface="Calibri" pitchFamily="34" charset="-120"/>
              </a:rPr>
              <a:t>Language is a property of every scored determination, not a display setting. The localisation reaches into the engine: the evidence that an answer satisfied an element is itself language-specific.</a:t>
            </a:r>
            <a:endParaRPr lang="en-US" sz="1350" dirty="0"/>
          </a:p>
        </p:txBody>
      </p:sp>
      <p:sp>
        <p:nvSpPr>
          <p:cNvPr id="5" name="Shape 3"/>
          <p:cNvSpPr/>
          <p:nvPr/>
        </p:nvSpPr>
        <p:spPr>
          <a:xfrm>
            <a:off x="658368" y="2249424"/>
            <a:ext cx="5120640" cy="566928"/>
          </a:xfrm>
          <a:prstGeom prst="roundRect">
            <a:avLst>
              <a:gd name="adj" fmla="val 9677"/>
            </a:avLst>
          </a:prstGeom>
          <a:solidFill>
            <a:srgbClr val="F7F5FC"/>
          </a:solidFill>
          <a:ln w="12700">
            <a:solidFill>
              <a:srgbClr val="F7F5FC"/>
            </a:solidFill>
            <a:prstDash val="solid"/>
          </a:ln>
        </p:spPr>
      </p:sp>
      <p:sp>
        <p:nvSpPr>
          <p:cNvPr id="6" name="Text 4"/>
          <p:cNvSpPr txBox="1"/>
          <p:nvPr/>
        </p:nvSpPr>
        <p:spPr>
          <a:xfrm>
            <a:off x="932688" y="2322576"/>
            <a:ext cx="1828800" cy="384048"/>
          </a:xfrm>
          <a:prstGeom prst="rect">
            <a:avLst/>
          </a:prstGeom>
          <a:noFill/>
          <a:ln/>
        </p:spPr>
        <p:txBody>
          <a:bodyPr wrap="square" lIns="0" tIns="0" rIns="0" bIns="0" rtlCol="0" anchor="ctr"/>
          <a:lstStyle/>
          <a:p>
            <a:pPr indent="0" marL="0">
              <a:lnSpc>
                <a:spcPct val="110000"/>
              </a:lnSpc>
              <a:buNone/>
            </a:pPr>
            <a:r>
              <a:rPr lang="en-US" sz="1400" b="1" dirty="0">
                <a:solidFill>
                  <a:srgbClr val="1B1733"/>
                </a:solidFill>
                <a:latin typeface="Calibri" pitchFamily="34" charset="0"/>
                <a:ea typeface="Calibri" pitchFamily="34" charset="-122"/>
                <a:cs typeface="Calibri" pitchFamily="34" charset="-120"/>
              </a:rPr>
              <a:t>English</a:t>
            </a:r>
            <a:endParaRPr lang="en-US" sz="1400" dirty="0"/>
          </a:p>
        </p:txBody>
      </p:sp>
      <p:sp>
        <p:nvSpPr>
          <p:cNvPr id="7" name="Text 5"/>
          <p:cNvSpPr txBox="1"/>
          <p:nvPr/>
        </p:nvSpPr>
        <p:spPr>
          <a:xfrm>
            <a:off x="2761488" y="2322576"/>
            <a:ext cx="2834640" cy="384048"/>
          </a:xfrm>
          <a:prstGeom prst="rect">
            <a:avLst/>
          </a:prstGeom>
          <a:noFill/>
          <a:ln/>
        </p:spPr>
        <p:txBody>
          <a:bodyPr wrap="square" lIns="0" tIns="0" rIns="0" bIns="0" rtlCol="0" anchor="ctr"/>
          <a:lstStyle/>
          <a:p>
            <a:pPr algn="r" indent="0" marL="0">
              <a:lnSpc>
                <a:spcPct val="110000"/>
              </a:lnSpc>
              <a:buNone/>
            </a:pPr>
            <a:r>
              <a:rPr lang="en-US" sz="1200" b="1" dirty="0">
                <a:solidFill>
                  <a:srgbClr val="2E7D5B"/>
                </a:solidFill>
                <a:latin typeface="Calibri" pitchFamily="34" charset="0"/>
                <a:ea typeface="Calibri" pitchFamily="34" charset="-122"/>
                <a:cs typeface="Calibri" pitchFamily="34" charset="-120"/>
              </a:rPr>
              <a:t>Cleared for deployment</a:t>
            </a:r>
            <a:endParaRPr lang="en-US" sz="1200" dirty="0"/>
          </a:p>
        </p:txBody>
      </p:sp>
      <p:sp>
        <p:nvSpPr>
          <p:cNvPr id="8" name="Shape 6"/>
          <p:cNvSpPr/>
          <p:nvPr/>
        </p:nvSpPr>
        <p:spPr>
          <a:xfrm>
            <a:off x="658368" y="2907792"/>
            <a:ext cx="5120640" cy="566928"/>
          </a:xfrm>
          <a:prstGeom prst="roundRect">
            <a:avLst>
              <a:gd name="adj" fmla="val 9677"/>
            </a:avLst>
          </a:prstGeom>
          <a:solidFill>
            <a:srgbClr val="FFFFFF"/>
          </a:solidFill>
          <a:ln w="12700">
            <a:solidFill>
              <a:srgbClr val="FFFFFF"/>
            </a:solidFill>
            <a:prstDash val="solid"/>
          </a:ln>
        </p:spPr>
      </p:sp>
      <p:sp>
        <p:nvSpPr>
          <p:cNvPr id="9" name="Text 7"/>
          <p:cNvSpPr txBox="1"/>
          <p:nvPr/>
        </p:nvSpPr>
        <p:spPr>
          <a:xfrm>
            <a:off x="932688" y="2980944"/>
            <a:ext cx="1828800" cy="384048"/>
          </a:xfrm>
          <a:prstGeom prst="rect">
            <a:avLst/>
          </a:prstGeom>
          <a:noFill/>
          <a:ln/>
        </p:spPr>
        <p:txBody>
          <a:bodyPr wrap="square" lIns="0" tIns="0" rIns="0" bIns="0" rtlCol="0" anchor="ctr"/>
          <a:lstStyle/>
          <a:p>
            <a:pPr indent="0" marL="0">
              <a:lnSpc>
                <a:spcPct val="110000"/>
              </a:lnSpc>
              <a:buNone/>
            </a:pPr>
            <a:r>
              <a:rPr lang="en-US" sz="1400" b="1" dirty="0">
                <a:solidFill>
                  <a:srgbClr val="1B1733"/>
                </a:solidFill>
                <a:latin typeface="Calibri" pitchFamily="34" charset="0"/>
                <a:ea typeface="Calibri" pitchFamily="34" charset="-122"/>
                <a:cs typeface="Calibri" pitchFamily="34" charset="-120"/>
              </a:rPr>
              <a:t>Spanish</a:t>
            </a:r>
            <a:endParaRPr lang="en-US" sz="1400" dirty="0"/>
          </a:p>
        </p:txBody>
      </p:sp>
      <p:sp>
        <p:nvSpPr>
          <p:cNvPr id="10" name="Text 8"/>
          <p:cNvSpPr txBox="1"/>
          <p:nvPr/>
        </p:nvSpPr>
        <p:spPr>
          <a:xfrm>
            <a:off x="2761488" y="2980944"/>
            <a:ext cx="2834640" cy="384048"/>
          </a:xfrm>
          <a:prstGeom prst="rect">
            <a:avLst/>
          </a:prstGeom>
          <a:noFill/>
          <a:ln/>
        </p:spPr>
        <p:txBody>
          <a:bodyPr wrap="square" lIns="0" tIns="0" rIns="0" bIns="0" rtlCol="0" anchor="ctr"/>
          <a:lstStyle/>
          <a:p>
            <a:pPr algn="r" indent="0" marL="0">
              <a:lnSpc>
                <a:spcPct val="110000"/>
              </a:lnSpc>
              <a:buNone/>
            </a:pPr>
            <a:r>
              <a:rPr lang="en-US" sz="1200" b="1" dirty="0">
                <a:solidFill>
                  <a:srgbClr val="B5762A"/>
                </a:solidFill>
                <a:latin typeface="Calibri" pitchFamily="34" charset="0"/>
                <a:ea typeface="Calibri" pitchFamily="34" charset="-122"/>
                <a:cs typeface="Calibri" pitchFamily="34" charset="-120"/>
              </a:rPr>
              <a:t>Complete · awaiting native review</a:t>
            </a:r>
            <a:endParaRPr lang="en-US" sz="1200" dirty="0"/>
          </a:p>
        </p:txBody>
      </p:sp>
      <p:sp>
        <p:nvSpPr>
          <p:cNvPr id="11" name="Shape 9"/>
          <p:cNvSpPr/>
          <p:nvPr/>
        </p:nvSpPr>
        <p:spPr>
          <a:xfrm>
            <a:off x="658368" y="3566160"/>
            <a:ext cx="5120640" cy="566928"/>
          </a:xfrm>
          <a:prstGeom prst="roundRect">
            <a:avLst>
              <a:gd name="adj" fmla="val 9677"/>
            </a:avLst>
          </a:prstGeom>
          <a:solidFill>
            <a:srgbClr val="F7F5FC"/>
          </a:solidFill>
          <a:ln w="12700">
            <a:solidFill>
              <a:srgbClr val="F7F5FC"/>
            </a:solidFill>
            <a:prstDash val="solid"/>
          </a:ln>
        </p:spPr>
      </p:sp>
      <p:sp>
        <p:nvSpPr>
          <p:cNvPr id="12" name="Text 10"/>
          <p:cNvSpPr txBox="1"/>
          <p:nvPr/>
        </p:nvSpPr>
        <p:spPr>
          <a:xfrm>
            <a:off x="932688" y="3639312"/>
            <a:ext cx="1828800" cy="384048"/>
          </a:xfrm>
          <a:prstGeom prst="rect">
            <a:avLst/>
          </a:prstGeom>
          <a:noFill/>
          <a:ln/>
        </p:spPr>
        <p:txBody>
          <a:bodyPr wrap="square" lIns="0" tIns="0" rIns="0" bIns="0" rtlCol="0" anchor="ctr"/>
          <a:lstStyle/>
          <a:p>
            <a:pPr indent="0" marL="0">
              <a:lnSpc>
                <a:spcPct val="110000"/>
              </a:lnSpc>
              <a:buNone/>
            </a:pPr>
            <a:r>
              <a:rPr lang="en-US" sz="1400" b="1" dirty="0">
                <a:solidFill>
                  <a:srgbClr val="1B1733"/>
                </a:solidFill>
                <a:latin typeface="Calibri" pitchFamily="34" charset="0"/>
                <a:ea typeface="Calibri" pitchFamily="34" charset="-122"/>
                <a:cs typeface="Calibri" pitchFamily="34" charset="-120"/>
              </a:rPr>
              <a:t>Chinese</a:t>
            </a:r>
            <a:endParaRPr lang="en-US" sz="1400" dirty="0"/>
          </a:p>
        </p:txBody>
      </p:sp>
      <p:sp>
        <p:nvSpPr>
          <p:cNvPr id="13" name="Text 11"/>
          <p:cNvSpPr txBox="1"/>
          <p:nvPr/>
        </p:nvSpPr>
        <p:spPr>
          <a:xfrm>
            <a:off x="2761488" y="3639312"/>
            <a:ext cx="2834640" cy="384048"/>
          </a:xfrm>
          <a:prstGeom prst="rect">
            <a:avLst/>
          </a:prstGeom>
          <a:noFill/>
          <a:ln/>
        </p:spPr>
        <p:txBody>
          <a:bodyPr wrap="square" lIns="0" tIns="0" rIns="0" bIns="0" rtlCol="0" anchor="ctr"/>
          <a:lstStyle/>
          <a:p>
            <a:pPr algn="r" indent="0" marL="0">
              <a:lnSpc>
                <a:spcPct val="110000"/>
              </a:lnSpc>
              <a:buNone/>
            </a:pPr>
            <a:r>
              <a:rPr lang="en-US" sz="1200" b="1" dirty="0">
                <a:solidFill>
                  <a:srgbClr val="B5762A"/>
                </a:solidFill>
                <a:latin typeface="Calibri" pitchFamily="34" charset="0"/>
                <a:ea typeface="Calibri" pitchFamily="34" charset="-122"/>
                <a:cs typeface="Calibri" pitchFamily="34" charset="-120"/>
              </a:rPr>
              <a:t>Complete · awaiting native review</a:t>
            </a:r>
            <a:endParaRPr lang="en-US" sz="1200" dirty="0"/>
          </a:p>
        </p:txBody>
      </p:sp>
      <p:sp>
        <p:nvSpPr>
          <p:cNvPr id="14" name="Shape 12"/>
          <p:cNvSpPr/>
          <p:nvPr/>
        </p:nvSpPr>
        <p:spPr>
          <a:xfrm>
            <a:off x="658368" y="4224528"/>
            <a:ext cx="5120640" cy="566928"/>
          </a:xfrm>
          <a:prstGeom prst="roundRect">
            <a:avLst>
              <a:gd name="adj" fmla="val 9677"/>
            </a:avLst>
          </a:prstGeom>
          <a:solidFill>
            <a:srgbClr val="FFFFFF"/>
          </a:solidFill>
          <a:ln w="12700">
            <a:solidFill>
              <a:srgbClr val="FFFFFF"/>
            </a:solidFill>
            <a:prstDash val="solid"/>
          </a:ln>
        </p:spPr>
      </p:sp>
      <p:sp>
        <p:nvSpPr>
          <p:cNvPr id="15" name="Text 13"/>
          <p:cNvSpPr txBox="1"/>
          <p:nvPr/>
        </p:nvSpPr>
        <p:spPr>
          <a:xfrm>
            <a:off x="932688" y="4297680"/>
            <a:ext cx="1828800" cy="384048"/>
          </a:xfrm>
          <a:prstGeom prst="rect">
            <a:avLst/>
          </a:prstGeom>
          <a:noFill/>
          <a:ln/>
        </p:spPr>
        <p:txBody>
          <a:bodyPr wrap="square" lIns="0" tIns="0" rIns="0" bIns="0" rtlCol="0" anchor="ctr"/>
          <a:lstStyle/>
          <a:p>
            <a:pPr indent="0" marL="0">
              <a:lnSpc>
                <a:spcPct val="110000"/>
              </a:lnSpc>
              <a:buNone/>
            </a:pPr>
            <a:r>
              <a:rPr lang="en-US" sz="1400" b="1" dirty="0">
                <a:solidFill>
                  <a:srgbClr val="1B1733"/>
                </a:solidFill>
                <a:latin typeface="Calibri" pitchFamily="34" charset="0"/>
                <a:ea typeface="Calibri" pitchFamily="34" charset="-122"/>
                <a:cs typeface="Calibri" pitchFamily="34" charset="-120"/>
              </a:rPr>
              <a:t>Arabic</a:t>
            </a:r>
            <a:endParaRPr lang="en-US" sz="1400" dirty="0"/>
          </a:p>
        </p:txBody>
      </p:sp>
      <p:sp>
        <p:nvSpPr>
          <p:cNvPr id="16" name="Text 14"/>
          <p:cNvSpPr txBox="1"/>
          <p:nvPr/>
        </p:nvSpPr>
        <p:spPr>
          <a:xfrm>
            <a:off x="2761488" y="4297680"/>
            <a:ext cx="2834640" cy="384048"/>
          </a:xfrm>
          <a:prstGeom prst="rect">
            <a:avLst/>
          </a:prstGeom>
          <a:noFill/>
          <a:ln/>
        </p:spPr>
        <p:txBody>
          <a:bodyPr wrap="square" lIns="0" tIns="0" rIns="0" bIns="0" rtlCol="0" anchor="ctr"/>
          <a:lstStyle/>
          <a:p>
            <a:pPr algn="r" indent="0" marL="0">
              <a:lnSpc>
                <a:spcPct val="110000"/>
              </a:lnSpc>
              <a:buNone/>
            </a:pPr>
            <a:r>
              <a:rPr lang="en-US" sz="1200" b="1" dirty="0">
                <a:solidFill>
                  <a:srgbClr val="B5762A"/>
                </a:solidFill>
                <a:latin typeface="Calibri" pitchFamily="34" charset="0"/>
                <a:ea typeface="Calibri" pitchFamily="34" charset="-122"/>
                <a:cs typeface="Calibri" pitchFamily="34" charset="-120"/>
              </a:rPr>
              <a:t>Complete · awaiting native review</a:t>
            </a:r>
            <a:endParaRPr lang="en-US" sz="1200" dirty="0"/>
          </a:p>
        </p:txBody>
      </p:sp>
      <p:sp>
        <p:nvSpPr>
          <p:cNvPr id="17" name="Shape 15"/>
          <p:cNvSpPr/>
          <p:nvPr/>
        </p:nvSpPr>
        <p:spPr>
          <a:xfrm>
            <a:off x="6144768" y="2249424"/>
            <a:ext cx="5385816" cy="2377440"/>
          </a:xfrm>
          <a:prstGeom prst="roundRect">
            <a:avLst>
              <a:gd name="adj" fmla="val 2308"/>
            </a:avLst>
          </a:prstGeom>
          <a:solidFill>
            <a:srgbClr val="1B1733"/>
          </a:solidFill>
          <a:ln w="12700">
            <a:solidFill>
              <a:srgbClr val="1B1733"/>
            </a:solidFill>
            <a:prstDash val="solid"/>
          </a:ln>
        </p:spPr>
      </p:sp>
      <p:sp>
        <p:nvSpPr>
          <p:cNvPr id="18" name="Text 16"/>
          <p:cNvSpPr txBox="1"/>
          <p:nvPr/>
        </p:nvSpPr>
        <p:spPr>
          <a:xfrm>
            <a:off x="6455664" y="2432304"/>
            <a:ext cx="4572000" cy="274320"/>
          </a:xfrm>
          <a:prstGeom prst="rect">
            <a:avLst/>
          </a:prstGeom>
          <a:noFill/>
          <a:ln/>
        </p:spPr>
        <p:txBody>
          <a:bodyPr wrap="square" lIns="0" tIns="0" rIns="0" bIns="0" rtlCol="0" anchor="t"/>
          <a:lstStyle/>
          <a:p>
            <a:pPr indent="0" marL="0">
              <a:lnSpc>
                <a:spcPct val="110000"/>
              </a:lnSpc>
              <a:buNone/>
            </a:pPr>
            <a:r>
              <a:rPr lang="en-US" sz="1300" b="1" dirty="0">
                <a:solidFill>
                  <a:srgbClr val="7C6BC4"/>
                </a:solidFill>
                <a:latin typeface="Calibri" pitchFamily="34" charset="0"/>
                <a:ea typeface="Calibri" pitchFamily="34" charset="-122"/>
                <a:cs typeface="Calibri" pitchFamily="34" charset="-120"/>
              </a:rPr>
              <a:t>The failure this prevents</a:t>
            </a:r>
            <a:endParaRPr lang="en-US" sz="1300" dirty="0"/>
          </a:p>
        </p:txBody>
      </p:sp>
      <p:sp>
        <p:nvSpPr>
          <p:cNvPr id="19" name="Text 17"/>
          <p:cNvSpPr txBox="1"/>
          <p:nvPr/>
        </p:nvSpPr>
        <p:spPr>
          <a:xfrm>
            <a:off x="6455664" y="2779776"/>
            <a:ext cx="4764024" cy="1188720"/>
          </a:xfrm>
          <a:prstGeom prst="rect">
            <a:avLst/>
          </a:prstGeom>
          <a:noFill/>
          <a:ln/>
        </p:spPr>
        <p:txBody>
          <a:bodyPr wrap="square" lIns="0" tIns="0" rIns="0" bIns="0" rtlCol="0" anchor="t"/>
          <a:lstStyle/>
          <a:p>
            <a:pPr indent="0" marL="0">
              <a:lnSpc>
                <a:spcPct val="114000"/>
              </a:lnSpc>
              <a:buNone/>
            </a:pPr>
            <a:r>
              <a:rPr lang="en-US" sz="1250" dirty="0">
                <a:solidFill>
                  <a:srgbClr val="D8D3EA"/>
                </a:solidFill>
                <a:latin typeface="Calibri" pitchFamily="34" charset="0"/>
                <a:ea typeface="Calibri" pitchFamily="34" charset="-122"/>
                <a:cs typeface="Calibri" pitchFamily="34" charset="-120"/>
              </a:rPr>
              <a:t>Translate the interface but not the evidence rules, and every element silently fails for every investor in that language — while the screen looks perfectly localised. It is invisible in testing and it scores a competent person as incompetent.</a:t>
            </a:r>
            <a:endParaRPr lang="en-US" sz="1250" dirty="0"/>
          </a:p>
        </p:txBody>
      </p:sp>
      <p:sp>
        <p:nvSpPr>
          <p:cNvPr id="20" name="Text 18"/>
          <p:cNvSpPr txBox="1"/>
          <p:nvPr/>
        </p:nvSpPr>
        <p:spPr>
          <a:xfrm>
            <a:off x="6455664" y="4041648"/>
            <a:ext cx="4764024" cy="457200"/>
          </a:xfrm>
          <a:prstGeom prst="rect">
            <a:avLst/>
          </a:prstGeom>
          <a:noFill/>
          <a:ln/>
        </p:spPr>
        <p:txBody>
          <a:bodyPr wrap="square" lIns="0" tIns="0" rIns="0" bIns="0" rtlCol="0" anchor="t"/>
          <a:lstStyle/>
          <a:p>
            <a:pPr indent="0" marL="0">
              <a:lnSpc>
                <a:spcPct val="110000"/>
              </a:lnSpc>
              <a:buNone/>
            </a:pPr>
            <a:r>
              <a:rPr lang="en-US" sz="1250" i="1" dirty="0">
                <a:solidFill>
                  <a:srgbClr val="9A93BC"/>
                </a:solidFill>
                <a:latin typeface="Calibri" pitchFamily="34" charset="0"/>
                <a:ea typeface="Calibri" pitchFamily="34" charset="-122"/>
                <a:cs typeface="Calibri" pitchFamily="34" charset="-120"/>
              </a:rPr>
              <a:t>A variant that has not passed native review is not deployable, and the gate reports it.</a:t>
            </a:r>
            <a:endParaRPr lang="en-US" sz="1250" dirty="0"/>
          </a:p>
        </p:txBody>
      </p:sp>
      <p:sp>
        <p:nvSpPr>
          <p:cNvPr id="21" name="Text 19"/>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Not presented — hold for questions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58368" y="219456"/>
            <a:ext cx="10872216" cy="237744"/>
          </a:xfrm>
          <a:prstGeom prst="rect">
            <a:avLst/>
          </a:prstGeom>
          <a:noFill/>
          <a:ln/>
        </p:spPr>
        <p:txBody>
          <a:bodyPr wrap="square" lIns="0" tIns="0" rIns="0" bIns="0" rtlCol="0" anchor="ctr"/>
          <a:lstStyle/>
          <a:p>
            <a:pPr indent="0" marL="0">
              <a:buNone/>
            </a:pPr>
            <a:r>
              <a:rPr lang="en-US" sz="1100" b="1" spc="200" kern="0" dirty="0">
                <a:solidFill>
                  <a:srgbClr val="5A4A96"/>
                </a:solidFill>
                <a:latin typeface="Calibri" pitchFamily="34" charset="0"/>
                <a:ea typeface="Calibri" pitchFamily="34" charset="-122"/>
                <a:cs typeface="Calibri" pitchFamily="34" charset="-120"/>
              </a:rPr>
              <a:t>APPENDIX 5 · FOR Q&amp;A</a:t>
            </a:r>
            <a:endParaRPr lang="en-US" sz="1100" dirty="0"/>
          </a:p>
        </p:txBody>
      </p:sp>
      <p:sp>
        <p:nvSpPr>
          <p:cNvPr id="3" name="Text 1"/>
          <p:cNvSpPr txBox="1"/>
          <p:nvPr/>
        </p:nvSpPr>
        <p:spPr>
          <a:xfrm>
            <a:off x="658368" y="420624"/>
            <a:ext cx="10872216" cy="786384"/>
          </a:xfrm>
          <a:prstGeom prst="rect">
            <a:avLst/>
          </a:prstGeom>
          <a:noFill/>
          <a:ln/>
        </p:spPr>
        <p:txBody>
          <a:bodyPr wrap="square" lIns="0" tIns="0" rIns="0" bIns="0" rtlCol="0" anchor="ctr"/>
          <a:lstStyle/>
          <a:p>
            <a:pPr indent="0" marL="0">
              <a:buNone/>
            </a:pPr>
            <a:r>
              <a:rPr lang="en-US" sz="2900" b="1" dirty="0">
                <a:solidFill>
                  <a:srgbClr val="1B1733"/>
                </a:solidFill>
                <a:latin typeface="Cambria" pitchFamily="34" charset="0"/>
                <a:ea typeface="Cambria" pitchFamily="34" charset="-122"/>
                <a:cs typeface="Cambria" pitchFamily="34" charset="-120"/>
              </a:rPr>
              <a:t>The publish gate in full — ten tests, seven blocking.</a:t>
            </a:r>
            <a:endParaRPr lang="en-US" sz="2900" dirty="0"/>
          </a:p>
        </p:txBody>
      </p:sp>
      <p:sp>
        <p:nvSpPr>
          <p:cNvPr id="4" name="Text 2"/>
          <p:cNvSpPr txBox="1"/>
          <p:nvPr/>
        </p:nvSpPr>
        <p:spPr>
          <a:xfrm>
            <a:off x="658368" y="1444752"/>
            <a:ext cx="10607040" cy="365760"/>
          </a:xfrm>
          <a:prstGeom prst="rect">
            <a:avLst/>
          </a:prstGeom>
          <a:noFill/>
          <a:ln/>
        </p:spPr>
        <p:txBody>
          <a:bodyPr wrap="square" lIns="0" tIns="0" rIns="0" bIns="0" rtlCol="0" anchor="t"/>
          <a:lstStyle/>
          <a:p>
            <a:pPr indent="0" marL="0">
              <a:lnSpc>
                <a:spcPct val="110000"/>
              </a:lnSpc>
              <a:buNone/>
            </a:pPr>
            <a:r>
              <a:rPr lang="en-US" sz="1350" dirty="0">
                <a:solidFill>
                  <a:srgbClr val="2A2447"/>
                </a:solidFill>
                <a:latin typeface="Calibri" pitchFamily="34" charset="0"/>
                <a:ea typeface="Calibri" pitchFamily="34" charset="-122"/>
                <a:cs typeface="Calibri" pitchFamily="34" charset="-120"/>
              </a:rPr>
              <a:t>The gate is not a report generated after release. It is the condition of release, and there is no waive path.</a:t>
            </a:r>
            <a:endParaRPr lang="en-US" sz="1350" dirty="0"/>
          </a:p>
        </p:txBody>
      </p:sp>
      <p:sp>
        <p:nvSpPr>
          <p:cNvPr id="5" name="Shape 3"/>
          <p:cNvSpPr/>
          <p:nvPr/>
        </p:nvSpPr>
        <p:spPr>
          <a:xfrm>
            <a:off x="658368" y="1883664"/>
            <a:ext cx="10872216" cy="384048"/>
          </a:xfrm>
          <a:prstGeom prst="roundRect">
            <a:avLst>
              <a:gd name="adj" fmla="val 14286"/>
            </a:avLst>
          </a:prstGeom>
          <a:solidFill>
            <a:srgbClr val="F7F5FC"/>
          </a:solidFill>
          <a:ln w="12700">
            <a:solidFill>
              <a:srgbClr val="F7F5FC"/>
            </a:solidFill>
            <a:prstDash val="solid"/>
          </a:ln>
        </p:spPr>
      </p:sp>
      <p:sp>
        <p:nvSpPr>
          <p:cNvPr id="6" name="Text 4"/>
          <p:cNvSpPr txBox="1"/>
          <p:nvPr/>
        </p:nvSpPr>
        <p:spPr>
          <a:xfrm>
            <a:off x="914400" y="1911096"/>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Candidate set</a:t>
            </a:r>
            <a:endParaRPr lang="en-US" sz="1250" dirty="0"/>
          </a:p>
        </p:txBody>
      </p:sp>
      <p:sp>
        <p:nvSpPr>
          <p:cNvPr id="7" name="Text 5"/>
          <p:cNvSpPr txBox="1"/>
          <p:nvPr/>
        </p:nvSpPr>
        <p:spPr>
          <a:xfrm>
            <a:off x="3346704" y="1911096"/>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8" name="Text 6"/>
          <p:cNvSpPr txBox="1"/>
          <p:nvPr/>
        </p:nvSpPr>
        <p:spPr>
          <a:xfrm>
            <a:off x="4498848" y="1911096"/>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At least one object has actually reached approved-and-effective.</a:t>
            </a:r>
            <a:endParaRPr lang="en-US" sz="1200" dirty="0"/>
          </a:p>
        </p:txBody>
      </p:sp>
      <p:sp>
        <p:nvSpPr>
          <p:cNvPr id="9" name="Shape 7"/>
          <p:cNvSpPr/>
          <p:nvPr/>
        </p:nvSpPr>
        <p:spPr>
          <a:xfrm>
            <a:off x="658368" y="2299716"/>
            <a:ext cx="10872216" cy="384048"/>
          </a:xfrm>
          <a:prstGeom prst="roundRect">
            <a:avLst>
              <a:gd name="adj" fmla="val 14286"/>
            </a:avLst>
          </a:prstGeom>
          <a:solidFill>
            <a:srgbClr val="FFFFFF"/>
          </a:solidFill>
          <a:ln w="12700">
            <a:solidFill>
              <a:srgbClr val="FFFFFF"/>
            </a:solidFill>
            <a:prstDash val="solid"/>
          </a:ln>
        </p:spPr>
      </p:sp>
      <p:sp>
        <p:nvSpPr>
          <p:cNvPr id="10" name="Text 8"/>
          <p:cNvSpPr txBox="1"/>
          <p:nvPr/>
        </p:nvSpPr>
        <p:spPr>
          <a:xfrm>
            <a:off x="914400" y="2327148"/>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Coverage</a:t>
            </a:r>
            <a:endParaRPr lang="en-US" sz="1250" dirty="0"/>
          </a:p>
        </p:txBody>
      </p:sp>
      <p:sp>
        <p:nvSpPr>
          <p:cNvPr id="11" name="Text 9"/>
          <p:cNvSpPr txBox="1"/>
          <p:nvPr/>
        </p:nvSpPr>
        <p:spPr>
          <a:xfrm>
            <a:off x="3346704" y="2327148"/>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12" name="Text 10"/>
          <p:cNvSpPr txBox="1"/>
          <p:nvPr/>
        </p:nvSpPr>
        <p:spPr>
          <a:xfrm>
            <a:off x="4498848" y="2327148"/>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Every mandatory element has a question that can elicit it.</a:t>
            </a:r>
            <a:endParaRPr lang="en-US" sz="1200" dirty="0"/>
          </a:p>
        </p:txBody>
      </p:sp>
      <p:sp>
        <p:nvSpPr>
          <p:cNvPr id="13" name="Shape 11"/>
          <p:cNvSpPr/>
          <p:nvPr/>
        </p:nvSpPr>
        <p:spPr>
          <a:xfrm>
            <a:off x="658368" y="2715768"/>
            <a:ext cx="10872216" cy="384048"/>
          </a:xfrm>
          <a:prstGeom prst="roundRect">
            <a:avLst>
              <a:gd name="adj" fmla="val 14286"/>
            </a:avLst>
          </a:prstGeom>
          <a:solidFill>
            <a:srgbClr val="F7F5FC"/>
          </a:solidFill>
          <a:ln w="12700">
            <a:solidFill>
              <a:srgbClr val="F7F5FC"/>
            </a:solidFill>
            <a:prstDash val="solid"/>
          </a:ln>
        </p:spPr>
      </p:sp>
      <p:sp>
        <p:nvSpPr>
          <p:cNvPr id="14" name="Text 12"/>
          <p:cNvSpPr txBox="1"/>
          <p:nvPr/>
        </p:nvSpPr>
        <p:spPr>
          <a:xfrm>
            <a:off x="914400" y="2743200"/>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Anchor integrity</a:t>
            </a:r>
            <a:endParaRPr lang="en-US" sz="1250" dirty="0"/>
          </a:p>
        </p:txBody>
      </p:sp>
      <p:sp>
        <p:nvSpPr>
          <p:cNvPr id="15" name="Text 13"/>
          <p:cNvSpPr txBox="1"/>
          <p:nvPr/>
        </p:nvSpPr>
        <p:spPr>
          <a:xfrm>
            <a:off x="3346704" y="2743200"/>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16" name="Text 14"/>
          <p:cNvSpPr txBox="1"/>
          <p:nvPr/>
        </p:nvSpPr>
        <p:spPr>
          <a:xfrm>
            <a:off x="4498848" y="2743200"/>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Every element binds to a clause in the anchor authority.</a:t>
            </a:r>
            <a:endParaRPr lang="en-US" sz="1200" dirty="0"/>
          </a:p>
        </p:txBody>
      </p:sp>
      <p:sp>
        <p:nvSpPr>
          <p:cNvPr id="17" name="Shape 15"/>
          <p:cNvSpPr/>
          <p:nvPr/>
        </p:nvSpPr>
        <p:spPr>
          <a:xfrm>
            <a:off x="658368" y="3131820"/>
            <a:ext cx="10872216" cy="384048"/>
          </a:xfrm>
          <a:prstGeom prst="roundRect">
            <a:avLst>
              <a:gd name="adj" fmla="val 14286"/>
            </a:avLst>
          </a:prstGeom>
          <a:solidFill>
            <a:srgbClr val="FFFFFF"/>
          </a:solidFill>
          <a:ln w="12700">
            <a:solidFill>
              <a:srgbClr val="FFFFFF"/>
            </a:solidFill>
            <a:prstDash val="solid"/>
          </a:ln>
        </p:spPr>
      </p:sp>
      <p:sp>
        <p:nvSpPr>
          <p:cNvPr id="18" name="Text 16"/>
          <p:cNvSpPr txBox="1"/>
          <p:nvPr/>
        </p:nvSpPr>
        <p:spPr>
          <a:xfrm>
            <a:off x="914400" y="3159252"/>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Prohibited formulation</a:t>
            </a:r>
            <a:endParaRPr lang="en-US" sz="1250" dirty="0"/>
          </a:p>
        </p:txBody>
      </p:sp>
      <p:sp>
        <p:nvSpPr>
          <p:cNvPr id="19" name="Text 17"/>
          <p:cNvSpPr txBox="1"/>
          <p:nvPr/>
        </p:nvSpPr>
        <p:spPr>
          <a:xfrm>
            <a:off x="3346704" y="3159252"/>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20" name="Text 18"/>
          <p:cNvSpPr txBox="1"/>
          <p:nvPr/>
        </p:nvSpPr>
        <p:spPr>
          <a:xfrm>
            <a:off x="4498848" y="3159252"/>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No unrationalised leading question, no ladder above ceiling.</a:t>
            </a:r>
            <a:endParaRPr lang="en-US" sz="1200" dirty="0"/>
          </a:p>
        </p:txBody>
      </p:sp>
      <p:sp>
        <p:nvSpPr>
          <p:cNvPr id="21" name="Shape 19"/>
          <p:cNvSpPr/>
          <p:nvPr/>
        </p:nvSpPr>
        <p:spPr>
          <a:xfrm>
            <a:off x="658368" y="3547872"/>
            <a:ext cx="10872216" cy="384048"/>
          </a:xfrm>
          <a:prstGeom prst="roundRect">
            <a:avLst>
              <a:gd name="adj" fmla="val 14286"/>
            </a:avLst>
          </a:prstGeom>
          <a:solidFill>
            <a:srgbClr val="F7F5FC"/>
          </a:solidFill>
          <a:ln w="12700">
            <a:solidFill>
              <a:srgbClr val="F7F5FC"/>
            </a:solidFill>
            <a:prstDash val="solid"/>
          </a:ln>
        </p:spPr>
      </p:sp>
      <p:sp>
        <p:nvSpPr>
          <p:cNvPr id="22" name="Text 20"/>
          <p:cNvSpPr txBox="1"/>
          <p:nvPr/>
        </p:nvSpPr>
        <p:spPr>
          <a:xfrm>
            <a:off x="914400" y="3575304"/>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Scope integrity</a:t>
            </a:r>
            <a:endParaRPr lang="en-US" sz="1250" dirty="0"/>
          </a:p>
        </p:txBody>
      </p:sp>
      <p:sp>
        <p:nvSpPr>
          <p:cNvPr id="23" name="Text 21"/>
          <p:cNvSpPr txBox="1"/>
          <p:nvPr/>
        </p:nvSpPr>
        <p:spPr>
          <a:xfrm>
            <a:off x="3346704" y="3575304"/>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24" name="Text 22"/>
          <p:cNvSpPr txBox="1"/>
          <p:nvPr/>
        </p:nvSpPr>
        <p:spPr>
          <a:xfrm>
            <a:off x="4498848" y="3575304"/>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No object reachable outside its declared mode or market.</a:t>
            </a:r>
            <a:endParaRPr lang="en-US" sz="1200" dirty="0"/>
          </a:p>
        </p:txBody>
      </p:sp>
      <p:sp>
        <p:nvSpPr>
          <p:cNvPr id="25" name="Shape 23"/>
          <p:cNvSpPr/>
          <p:nvPr/>
        </p:nvSpPr>
        <p:spPr>
          <a:xfrm>
            <a:off x="658368" y="3963924"/>
            <a:ext cx="10872216" cy="384048"/>
          </a:xfrm>
          <a:prstGeom prst="roundRect">
            <a:avLst>
              <a:gd name="adj" fmla="val 14286"/>
            </a:avLst>
          </a:prstGeom>
          <a:solidFill>
            <a:srgbClr val="FFFFFF"/>
          </a:solidFill>
          <a:ln w="12700">
            <a:solidFill>
              <a:srgbClr val="FFFFFF"/>
            </a:solidFill>
            <a:prstDash val="solid"/>
          </a:ln>
        </p:spPr>
      </p:sp>
      <p:sp>
        <p:nvSpPr>
          <p:cNvPr id="26" name="Text 24"/>
          <p:cNvSpPr txBox="1"/>
          <p:nvPr/>
        </p:nvSpPr>
        <p:spPr>
          <a:xfrm>
            <a:off x="914400" y="3991356"/>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Boundary refusal</a:t>
            </a:r>
            <a:endParaRPr lang="en-US" sz="1250" dirty="0"/>
          </a:p>
        </p:txBody>
      </p:sp>
      <p:sp>
        <p:nvSpPr>
          <p:cNvPr id="27" name="Text 25"/>
          <p:cNvSpPr txBox="1"/>
          <p:nvPr/>
        </p:nvSpPr>
        <p:spPr>
          <a:xfrm>
            <a:off x="3346704" y="3991356"/>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28" name="Text 26"/>
          <p:cNvSpPr txBox="1"/>
          <p:nvPr/>
        </p:nvSpPr>
        <p:spPr>
          <a:xfrm>
            <a:off x="4498848" y="3991356"/>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The hard refusal is proven in every deployed language.</a:t>
            </a:r>
            <a:endParaRPr lang="en-US" sz="1200" dirty="0"/>
          </a:p>
        </p:txBody>
      </p:sp>
      <p:sp>
        <p:nvSpPr>
          <p:cNvPr id="29" name="Shape 27"/>
          <p:cNvSpPr/>
          <p:nvPr/>
        </p:nvSpPr>
        <p:spPr>
          <a:xfrm>
            <a:off x="658368" y="4379976"/>
            <a:ext cx="10872216" cy="384048"/>
          </a:xfrm>
          <a:prstGeom prst="roundRect">
            <a:avLst>
              <a:gd name="adj" fmla="val 14286"/>
            </a:avLst>
          </a:prstGeom>
          <a:solidFill>
            <a:srgbClr val="F7F5FC"/>
          </a:solidFill>
          <a:ln w="12700">
            <a:solidFill>
              <a:srgbClr val="F7F5FC"/>
            </a:solidFill>
            <a:prstDash val="solid"/>
          </a:ln>
        </p:spPr>
      </p:sp>
      <p:sp>
        <p:nvSpPr>
          <p:cNvPr id="30" name="Text 28"/>
          <p:cNvSpPr txBox="1"/>
          <p:nvPr/>
        </p:nvSpPr>
        <p:spPr>
          <a:xfrm>
            <a:off x="914400" y="4407408"/>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Version consistency</a:t>
            </a:r>
            <a:endParaRPr lang="en-US" sz="1250" dirty="0"/>
          </a:p>
        </p:txBody>
      </p:sp>
      <p:sp>
        <p:nvSpPr>
          <p:cNvPr id="31" name="Text 29"/>
          <p:cNvSpPr txBox="1"/>
          <p:nvPr/>
        </p:nvSpPr>
        <p:spPr>
          <a:xfrm>
            <a:off x="3346704" y="4407408"/>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A33B3B"/>
                </a:solidFill>
                <a:latin typeface="Calibri" pitchFamily="34" charset="0"/>
                <a:ea typeface="Calibri" pitchFamily="34" charset="-122"/>
                <a:cs typeface="Calibri" pitchFamily="34" charset="-120"/>
              </a:rPr>
              <a:t>blocking</a:t>
            </a:r>
            <a:endParaRPr lang="en-US" sz="1050" dirty="0"/>
          </a:p>
        </p:txBody>
      </p:sp>
      <p:sp>
        <p:nvSpPr>
          <p:cNvPr id="32" name="Text 30"/>
          <p:cNvSpPr txBox="1"/>
          <p:nvPr/>
        </p:nvSpPr>
        <p:spPr>
          <a:xfrm>
            <a:off x="4498848" y="4407408"/>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Every reference resolves inside the same released bundle.</a:t>
            </a:r>
            <a:endParaRPr lang="en-US" sz="1200" dirty="0"/>
          </a:p>
        </p:txBody>
      </p:sp>
      <p:sp>
        <p:nvSpPr>
          <p:cNvPr id="33" name="Shape 31"/>
          <p:cNvSpPr/>
          <p:nvPr/>
        </p:nvSpPr>
        <p:spPr>
          <a:xfrm>
            <a:off x="658368" y="4796028"/>
            <a:ext cx="10872216" cy="384048"/>
          </a:xfrm>
          <a:prstGeom prst="roundRect">
            <a:avLst>
              <a:gd name="adj" fmla="val 14286"/>
            </a:avLst>
          </a:prstGeom>
          <a:solidFill>
            <a:srgbClr val="FFFFFF"/>
          </a:solidFill>
          <a:ln w="12700">
            <a:solidFill>
              <a:srgbClr val="FFFFFF"/>
            </a:solidFill>
            <a:prstDash val="solid"/>
          </a:ln>
        </p:spPr>
      </p:sp>
      <p:sp>
        <p:nvSpPr>
          <p:cNvPr id="34" name="Text 32"/>
          <p:cNvSpPr txBox="1"/>
          <p:nvPr/>
        </p:nvSpPr>
        <p:spPr>
          <a:xfrm>
            <a:off x="914400" y="4823460"/>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Adversarial probe</a:t>
            </a:r>
            <a:endParaRPr lang="en-US" sz="1250" dirty="0"/>
          </a:p>
        </p:txBody>
      </p:sp>
      <p:sp>
        <p:nvSpPr>
          <p:cNvPr id="35" name="Text 33"/>
          <p:cNvSpPr txBox="1"/>
          <p:nvPr/>
        </p:nvSpPr>
        <p:spPr>
          <a:xfrm>
            <a:off x="3346704" y="4823460"/>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B5762A"/>
                </a:solidFill>
                <a:latin typeface="Calibri" pitchFamily="34" charset="0"/>
                <a:ea typeface="Calibri" pitchFamily="34" charset="-122"/>
                <a:cs typeface="Calibri" pitchFamily="34" charset="-120"/>
              </a:rPr>
              <a:t>advisory</a:t>
            </a:r>
            <a:endParaRPr lang="en-US" sz="1050" dirty="0"/>
          </a:p>
        </p:txBody>
      </p:sp>
      <p:sp>
        <p:nvSpPr>
          <p:cNvPr id="36" name="Text 34"/>
          <p:cNvSpPr txBox="1"/>
          <p:nvPr/>
        </p:nvSpPr>
        <p:spPr>
          <a:xfrm>
            <a:off x="4498848" y="4823460"/>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The released set holds under hostile and leading questioning.</a:t>
            </a:r>
            <a:endParaRPr lang="en-US" sz="1200" dirty="0"/>
          </a:p>
        </p:txBody>
      </p:sp>
      <p:sp>
        <p:nvSpPr>
          <p:cNvPr id="37" name="Shape 35"/>
          <p:cNvSpPr/>
          <p:nvPr/>
        </p:nvSpPr>
        <p:spPr>
          <a:xfrm>
            <a:off x="658368" y="5212080"/>
            <a:ext cx="10872216" cy="384048"/>
          </a:xfrm>
          <a:prstGeom prst="roundRect">
            <a:avLst>
              <a:gd name="adj" fmla="val 14286"/>
            </a:avLst>
          </a:prstGeom>
          <a:solidFill>
            <a:srgbClr val="F7F5FC"/>
          </a:solidFill>
          <a:ln w="12700">
            <a:solidFill>
              <a:srgbClr val="F7F5FC"/>
            </a:solidFill>
            <a:prstDash val="solid"/>
          </a:ln>
        </p:spPr>
      </p:sp>
      <p:sp>
        <p:nvSpPr>
          <p:cNvPr id="38" name="Text 36"/>
          <p:cNvSpPr txBox="1"/>
          <p:nvPr/>
        </p:nvSpPr>
        <p:spPr>
          <a:xfrm>
            <a:off x="914400" y="5239512"/>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Translation fidelity</a:t>
            </a:r>
            <a:endParaRPr lang="en-US" sz="1250" dirty="0"/>
          </a:p>
        </p:txBody>
      </p:sp>
      <p:sp>
        <p:nvSpPr>
          <p:cNvPr id="39" name="Text 37"/>
          <p:cNvSpPr txBox="1"/>
          <p:nvPr/>
        </p:nvSpPr>
        <p:spPr>
          <a:xfrm>
            <a:off x="3346704" y="5239512"/>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B5762A"/>
                </a:solidFill>
                <a:latin typeface="Calibri" pitchFamily="34" charset="0"/>
                <a:ea typeface="Calibri" pitchFamily="34" charset="-122"/>
                <a:cs typeface="Calibri" pitchFamily="34" charset="-120"/>
              </a:rPr>
              <a:t>advisory</a:t>
            </a:r>
            <a:endParaRPr lang="en-US" sz="1050" dirty="0"/>
          </a:p>
        </p:txBody>
      </p:sp>
      <p:sp>
        <p:nvSpPr>
          <p:cNvPr id="40" name="Text 38"/>
          <p:cNvSpPr txBox="1"/>
          <p:nvPr/>
        </p:nvSpPr>
        <p:spPr>
          <a:xfrm>
            <a:off x="4498848" y="5239512"/>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Every deployable variant has passed native review.</a:t>
            </a:r>
            <a:endParaRPr lang="en-US" sz="1200" dirty="0"/>
          </a:p>
        </p:txBody>
      </p:sp>
      <p:sp>
        <p:nvSpPr>
          <p:cNvPr id="41" name="Shape 39"/>
          <p:cNvSpPr/>
          <p:nvPr/>
        </p:nvSpPr>
        <p:spPr>
          <a:xfrm>
            <a:off x="658368" y="5628132"/>
            <a:ext cx="10872216" cy="384048"/>
          </a:xfrm>
          <a:prstGeom prst="roundRect">
            <a:avLst>
              <a:gd name="adj" fmla="val 14286"/>
            </a:avLst>
          </a:prstGeom>
          <a:solidFill>
            <a:srgbClr val="FFFFFF"/>
          </a:solidFill>
          <a:ln w="12700">
            <a:solidFill>
              <a:srgbClr val="FFFFFF"/>
            </a:solidFill>
            <a:prstDash val="solid"/>
          </a:ln>
        </p:spPr>
      </p:sp>
      <p:sp>
        <p:nvSpPr>
          <p:cNvPr id="42" name="Text 40"/>
          <p:cNvSpPr txBox="1"/>
          <p:nvPr/>
        </p:nvSpPr>
        <p:spPr>
          <a:xfrm>
            <a:off x="914400" y="5655564"/>
            <a:ext cx="2377440" cy="329184"/>
          </a:xfrm>
          <a:prstGeom prst="rect">
            <a:avLst/>
          </a:prstGeom>
          <a:noFill/>
          <a:ln/>
        </p:spPr>
        <p:txBody>
          <a:bodyPr wrap="square" lIns="0" tIns="0" rIns="0" bIns="0" rtlCol="0" anchor="ctr"/>
          <a:lstStyle/>
          <a:p>
            <a:pPr indent="0" marL="0">
              <a:lnSpc>
                <a:spcPct val="110000"/>
              </a:lnSpc>
              <a:buNone/>
            </a:pPr>
            <a:r>
              <a:rPr lang="en-US" sz="1250" b="1" dirty="0">
                <a:solidFill>
                  <a:srgbClr val="1B1733"/>
                </a:solidFill>
                <a:latin typeface="Calibri" pitchFamily="34" charset="0"/>
                <a:ea typeface="Calibri" pitchFamily="34" charset="-122"/>
                <a:cs typeface="Calibri" pitchFamily="34" charset="-120"/>
              </a:rPr>
              <a:t>Traceability</a:t>
            </a:r>
            <a:endParaRPr lang="en-US" sz="1250" dirty="0"/>
          </a:p>
        </p:txBody>
      </p:sp>
      <p:sp>
        <p:nvSpPr>
          <p:cNvPr id="43" name="Text 41"/>
          <p:cNvSpPr txBox="1"/>
          <p:nvPr/>
        </p:nvSpPr>
        <p:spPr>
          <a:xfrm>
            <a:off x="3346704" y="5655564"/>
            <a:ext cx="1005840" cy="329184"/>
          </a:xfrm>
          <a:prstGeom prst="rect">
            <a:avLst/>
          </a:prstGeom>
          <a:noFill/>
          <a:ln/>
        </p:spPr>
        <p:txBody>
          <a:bodyPr wrap="square" lIns="0" tIns="0" rIns="0" bIns="0" rtlCol="0" anchor="ctr"/>
          <a:lstStyle/>
          <a:p>
            <a:pPr indent="0" marL="0">
              <a:lnSpc>
                <a:spcPct val="110000"/>
              </a:lnSpc>
              <a:buNone/>
            </a:pPr>
            <a:r>
              <a:rPr lang="en-US" sz="1050" b="1" dirty="0">
                <a:solidFill>
                  <a:srgbClr val="B5762A"/>
                </a:solidFill>
                <a:latin typeface="Calibri" pitchFamily="34" charset="0"/>
                <a:ea typeface="Calibri" pitchFamily="34" charset="-122"/>
                <a:cs typeface="Calibri" pitchFamily="34" charset="-120"/>
              </a:rPr>
              <a:t>advisory</a:t>
            </a:r>
            <a:endParaRPr lang="en-US" sz="1050" dirty="0"/>
          </a:p>
        </p:txBody>
      </p:sp>
      <p:sp>
        <p:nvSpPr>
          <p:cNvPr id="44" name="Text 42"/>
          <p:cNvSpPr txBox="1"/>
          <p:nvPr/>
        </p:nvSpPr>
        <p:spPr>
          <a:xfrm>
            <a:off x="4498848" y="5655564"/>
            <a:ext cx="6766560" cy="329184"/>
          </a:xfrm>
          <a:prstGeom prst="rect">
            <a:avLst/>
          </a:prstGeom>
          <a:noFill/>
          <a:ln/>
        </p:spPr>
        <p:txBody>
          <a:bodyPr wrap="square" lIns="0" tIns="0" rIns="0" bIns="0" rtlCol="0" anchor="ctr"/>
          <a:lstStyle/>
          <a:p>
            <a:pPr indent="0" marL="0">
              <a:lnSpc>
                <a:spcPct val="110000"/>
              </a:lnSpc>
              <a:buNone/>
            </a:pPr>
            <a:r>
              <a:rPr lang="en-US" sz="1200" dirty="0">
                <a:solidFill>
                  <a:srgbClr val="2A2447"/>
                </a:solidFill>
                <a:latin typeface="Calibri" pitchFamily="34" charset="0"/>
                <a:ea typeface="Calibri" pitchFamily="34" charset="-122"/>
                <a:cs typeface="Calibri" pitchFamily="34" charset="-120"/>
              </a:rPr>
              <a:t>Every determination resolves to object, version and verbatim span.</a:t>
            </a:r>
            <a:endParaRPr lang="en-US" sz="1200" dirty="0"/>
          </a:p>
        </p:txBody>
      </p:sp>
      <p:sp>
        <p:nvSpPr>
          <p:cNvPr id="45" name="Text 43"/>
          <p:cNvSpPr txBox="1"/>
          <p:nvPr/>
        </p:nvSpPr>
        <p:spPr>
          <a:xfrm>
            <a:off x="658368" y="6053328"/>
            <a:ext cx="7863840" cy="457200"/>
          </a:xfrm>
          <a:prstGeom prst="rect">
            <a:avLst/>
          </a:prstGeom>
          <a:noFill/>
          <a:ln/>
        </p:spPr>
        <p:txBody>
          <a:bodyPr wrap="square" lIns="0" tIns="0" rIns="0" bIns="0" rtlCol="0" anchor="t"/>
          <a:lstStyle/>
          <a:p>
            <a:pPr indent="0" marL="0">
              <a:lnSpc>
                <a:spcPct val="110000"/>
              </a:lnSpc>
              <a:buNone/>
            </a:pPr>
            <a:r>
              <a:rPr lang="en-US" sz="1150" i="1" dirty="0">
                <a:solidFill>
                  <a:srgbClr val="6B6880"/>
                </a:solidFill>
                <a:latin typeface="Calibri" pitchFamily="34" charset="0"/>
                <a:ea typeface="Calibri" pitchFamily="34" charset="-122"/>
                <a:cs typeface="Calibri" pitchFamily="34" charset="-120"/>
              </a:rPr>
              <a:t>An unassessed test renders as not-applicable, never as a pass. A green tick on an empty set is the exact form of false assurance the gate exists to prevent.</a:t>
            </a:r>
            <a:endParaRPr lang="en-US" sz="1150" dirty="0"/>
          </a:p>
        </p:txBody>
      </p:sp>
      <p:sp>
        <p:nvSpPr>
          <p:cNvPr id="46" name="Text 44"/>
          <p:cNvSpPr txBox="1"/>
          <p:nvPr/>
        </p:nvSpPr>
        <p:spPr>
          <a:xfrm>
            <a:off x="8787384" y="6291072"/>
            <a:ext cx="2743200" cy="274320"/>
          </a:xfrm>
          <a:prstGeom prst="rect">
            <a:avLst/>
          </a:prstGeom>
          <a:noFill/>
          <a:ln/>
        </p:spPr>
        <p:txBody>
          <a:bodyPr wrap="square" lIns="0" tIns="0" rIns="0" bIns="0" rtlCol="0" anchor="ctr"/>
          <a:lstStyle/>
          <a:p>
            <a:pPr algn="r" indent="0" marL="0">
              <a:buNone/>
            </a:pPr>
            <a:r>
              <a:rPr lang="en-US" sz="1000" dirty="0">
                <a:solidFill>
                  <a:srgbClr val="6B6880"/>
                </a:solidFill>
                <a:latin typeface="Calibri" pitchFamily="34" charset="0"/>
                <a:ea typeface="Calibri" pitchFamily="34" charset="-122"/>
                <a:cs typeface="Calibri" pitchFamily="34" charset="-120"/>
              </a:rPr>
              <a:t>Not presented — hold for 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AUREN — IOSCO TechSprint Demo Day</dc:title>
  <dc:subject>PptxGenJS Presentation</dc:subject>
  <dc:creator>AUREN</dc:creator>
  <cp:lastModifiedBy>AUREN</cp:lastModifiedBy>
  <cp:revision>1</cp:revision>
  <dcterms:created xsi:type="dcterms:W3CDTF">2026-09-18T02:51:53Z</dcterms:created>
  <dcterms:modified xsi:type="dcterms:W3CDTF">2026-09-18T02:51:53Z</dcterms:modified>
</cp:coreProperties>
</file>